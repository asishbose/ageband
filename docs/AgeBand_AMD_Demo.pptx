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5819" autoAdjust="0"/>
  </p:normalViewPr>
  <p:slideViewPr>
    <p:cSldViewPr snapToGrid="0" snapToObjects="1">
      <p:cViewPr varScale="1">
        <p:scale>
          <a:sx n="53" d="100"/>
          <a:sy n="53" d="100"/>
        </p:scale>
        <p:origin x="18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451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AI chat product is flying blind on user age — and the signal they're ignoring is already in the conversation.
• AgeBand is not face detection and not biometrics. It reads how people write and what they talk about — a passive, always-on signal.
• Set the AMD frame in one sentence: running on AMD is not a compute preference; inferring whether someone is a minor from private messages cannot leave the operator's own hardware.
 “Let me show you the gap we are closing.”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• Products are under real, growing regulatory pressure to protect minors — and the only tool they ship is a birthdate field any child clicks through. After that, a 12-year-old and a 40-year-old get identical treatment.
• the signal is already there. Vocabulary, topics, style — and outright disclosures like “in 8th grade.”
• a human T&amp;S expert can read a transcript and know in seconds. That judgement just isn't automated or always-on.
 “The obvious build here is age detection. That's the wrong build — here's why.”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• The naive build — detect the age, block the user — fails on accuracy, bias, and privacy simultaneously. Each card is a deliberate answer to one of those failures.
• text cannot separate 16 from 18; a precise age claim is false precision.
• silent restriction of a misclassified adult is a real harm with no recovery path.
• storing an inferred “this account is a child” flag IS the sensitive profile you promised not to build.
 “We're not trying to know how old someone is. We're trying to know how protective to be. That's a different, more tractable, and more honest problem.”
 </a:t>
            </a:r>
          </a:p>
          <a:p>
            <a:r>
              <a:rPr lang="en-US" dirty="0"/>
              <a:t>“Here's the architecture that makes that trustworthy.”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• Planner: an LLM reads the session's evidence state and picks ONLY the information-gathering route — settled, incremental, full, or urgent. It never decides a safety outcome.
• Act: the route runs the extractor (Gemma 3 4B) and, on full routes, the estimator (Gemma 3 27B). Confidence is computed in Python from countable, corroborated cues — LLM self-reported confidence is uncalibrated and never drives safety.
• Guards: the most important box. policy_gate is a table lookup, not a model call. It always runs, fails closed on ambiguity, and is auditable — a regulator can read the exact rule that fired.
• Output: a safety_posture the host honors. AgeBand never touches the reply path.
 “The LLM proposes. Deterministic code decides.”
settled sessions cost zero inference; the tripwire catches the phone-handoff case. That's what makes always-on affordable.
</a:t>
            </a:r>
          </a:p>
          <a:p>
            <a:r>
              <a:rPr lang="en-US" dirty="0"/>
              <a:t>And all of this runs where it legally has to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• private messages are regulated data; “likely a minor” is a sensitive inferred attribute; there is no legal basis to ship that inference to a hosted API. On-prem is not an optimization — it is the condition for this product existing.
• “And that boundary requirement is exactly why the model is Gemma. A closed API physically cannot sit inside the operator's data boundary — an open-weight model is the only class of model this product is allowed to use. Gemma 3 gives us that, plus a size family: the 4B extractor and the 27B estimator co-locate on one MI300X.”
• measured numbers, not projections — real MI300X, AMD Dev Cloud, July 9, Gemma 3 27B on the full LLM path.
• 598.6 tokens/second sustained at ten concurrent sessions; 13.9 cents per thousand moderated turns; p95 of 3.07 seconds gate-to-posture; 100 percent band accuracy on the synthetic eval with Gemma 3 27B — clean confusion matrix.
• p95 never hit the 5-second ceiling through concurrency 10 — sessions-per-GPU is a lower bound. Dual-Gemma 4B+27B is wired and fits in 192 GB; it's upside, not a dependency.
 “Numbers say it scales. Here's the proof it's SAFE.”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• on the adversarial transcript — a child insisting “I'm 25” — a 31-billion-parameter model, alone, concluded adult at 0.86 confidence and would have opened everything up. Its prompt explicitly warned it not to trust self-claims. It got fooled anyway.
• same transcript through AgeBand with Gemma 3 27B as the estimator. Confidence never settles — 0.12, then 0.32 — and on turn three the homework-and-curfew tell flips the band to teen with the evasion flag. The guard stops guessing and asks. Reproduced on the real MI300X run.
• Gemma isn't just surviving the shell — it supplies the nuance. In backend comparisons the larger model was the only one that correctly ABSTAINED on the ambiguous adult (the fairest outcome). Gemma brings judgement; the deterministic shell brings robustness; the hybrid beats either alone.
• The masking detector now covers four patterns — each with its own regression test.
 “Bigger models add nuance. The deterministic shell adds safety. The hybrid beats either alone — and that's not a claim, it's a measurement.”
 “Which brings us to what you're about to watch.”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•  adults stay fully open — nothing changes for them.
•  the graduated response — watch confidence climb as “teacher”, “homework”, “Mom” stack up, then step-up asks to confirm.
•  the fairness case — an adult who writes simply is ASKED, never locked out.
•  the one that wins the room — the child claiming 28. Over-insistence and avoidance are themselves signals. It stops guessing and asks.
• : a whole channel export replayed, one session per author, risk-ranked, with the live AMD telemetry badge.
 “Given the ten-minute slot, the demo is one Jupyter notebook: Run All starts vLLM, the agent, and the UI. The production path is already built — Docker images and a Helm chart, one-command deploy.” </a:t>
            </a:r>
          </a:p>
          <a:p>
            <a:r>
              <a:rPr lang="en-US" dirty="0"/>
              <a:t>U will see the full </a:t>
            </a:r>
            <a:r>
              <a:rPr lang="en-US" dirty="0" err="1"/>
              <a:t>fleddged</a:t>
            </a:r>
            <a:r>
              <a:rPr lang="en-US" dirty="0"/>
              <a:t> live demo in a bit ..!!! 
if the endpoint misbehaves, flip AGEBAND_INFERENCE_MODE=deterministic — every safety behavior still demos, no GPU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system that knows its own limits is the one you can actually trust in production.” Judges penalize naive overconfidence; every limit here has a shipped mitigation — point to the mitigation each time, never dwell on the limit alone.
• Limits :: passive inference needs a cooperative user — step-up is the backstop. New sessions reset inference — deliberately, because only confirmed ages persist. Cross-language is real — mitigation shipped: detection plus abstention in five languages, no false cues. False positives are asymmetric — so it asks first, and step-up outcomes feed fairness tuning.
• Ship-ready: 463 tests, 86.5% coverage, mypy strict clean; runs with no GPU in deterministic mode; Docker and Helm are built.
</a:t>
            </a:r>
          </a:p>
          <a:p>
            <a:r>
              <a:rPr lang="en-US" dirty="0"/>
              <a:t>we do not claim to beat biometric verification on accuracy. AgeBand is the continuous, cheap detector that decides WHEN to invoke the certified check — smoke detector, then sprinkler.
 “Three things to remember.”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1. “The signal was always there — it's in the conversation every product already has.”
2. “The careful design IS the product: bands, graduated, ask-first, ephemeral, confirmed-only. Without that shell it's a privacy violation; with it, it's a feature any platform can ship.”
3. “And it's measured, not projected — Gemma 3 27B on a real MI300X: real throughput, real cost, 100 percent on the eval. Open weights inside the boundary — the only class of model this product is allowed to use.”
 </a:t>
            </a:r>
            <a:r>
              <a:rPr lang="en-US"/>
              <a:t>“Let’s  see the Live Demo”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AgeBand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841248" y="27432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passive age-band signal from the conversation.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gets more protective the more it suspects a child — and asks before it assumes.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on AMD — because it has to be.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" y="47091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D6362B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47091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likely-child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47091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C77B2B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88920" y="47091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likely-teen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36592" y="47091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2857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6592" y="47091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likely-adult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84264" y="47091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4A4F57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84264" y="47091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Developer Hackathon ACT II   ·   Track 3 — Unicorn Track   ·   Gemma 3 on AMD Instinct MI300X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12-year-old and a 40-year-old look identical to your AI.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2E1D1B"/>
          </a:solidFill>
          <a:ln w="9525">
            <a:solidFill>
              <a:srgbClr val="5A2E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products have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2423160"/>
            <a:ext cx="457200" cy="457200"/>
          </a:xfrm>
          <a:prstGeom prst="ellipse">
            <a:avLst/>
          </a:prstGeom>
          <a:solidFill>
            <a:srgbClr val="D636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5328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377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birthdate field at signup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81328" y="2697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age tool most products ship.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575304"/>
            <a:ext cx="457200" cy="457200"/>
          </a:xfrm>
          <a:prstGeom prst="ellipse">
            <a:avLst/>
          </a:prstGeom>
          <a:solidFill>
            <a:srgbClr val="D636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68503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81328" y="35295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kid who clicks through it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81328" y="384962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Self-declared, unverified, universally ignored.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68680" y="4727448"/>
            <a:ext cx="457200" cy="457200"/>
          </a:xfrm>
          <a:prstGeom prst="ellipse">
            <a:avLst/>
          </a:prstGeom>
          <a:solidFill>
            <a:srgbClr val="D636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83717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81328" y="4681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differentiation after that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81328" y="50017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model, same features, same tone — for a 12-year-old and a 40-year-old.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63640" y="155448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1A2E2D"/>
          </a:solidFill>
          <a:ln w="9525">
            <a:solidFill>
              <a:srgbClr val="2C4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629400" y="17830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B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actually in the conversation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629400" y="2423160"/>
            <a:ext cx="457200" cy="457200"/>
          </a:xfrm>
          <a:prstGeom prst="ellipse">
            <a:avLst/>
          </a:prstGeom>
          <a:solidFill>
            <a:srgbClr val="1285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253288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42048" y="2377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and reading level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42048" y="2697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write, turn after turn.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629400" y="3575304"/>
            <a:ext cx="457200" cy="457200"/>
          </a:xfrm>
          <a:prstGeom prst="ellipse">
            <a:avLst/>
          </a:prstGeom>
          <a:solidFill>
            <a:srgbClr val="1285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3685032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42048" y="35295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Topics: school, guardians, homework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7242048" y="384962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context leaks constantly.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6629400" y="4727448"/>
            <a:ext cx="457200" cy="457200"/>
          </a:xfrm>
          <a:prstGeom prst="ellipse">
            <a:avLst/>
          </a:prstGeom>
          <a:solidFill>
            <a:srgbClr val="1285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4837176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242048" y="4681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Style, confidence — and explicit disclosures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7242048" y="50017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 8th grade”, “Mom says I have to log off at 9”.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502920" y="610819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trust-and-safety expert reads a transcript and knows in seconds. That judgement isn't automated, always-on, or scaled — yet.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AgeBand  ·  AMD Developer Hackathon ACT II  ·  Unicorn Track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detection. A signal.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not asking how old someone is — we're asking how protective to be.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664208"/>
            <a:ext cx="5486400" cy="2066544"/>
          </a:xfrm>
          <a:prstGeom prst="roundRect">
            <a:avLst>
              <a:gd name="adj" fmla="val 4425"/>
            </a:avLst>
          </a:prstGeom>
          <a:solidFill>
            <a:srgbClr val="22252C"/>
          </a:solidFill>
          <a:ln w="9525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38528"/>
            <a:ext cx="512064" cy="512064"/>
          </a:xfrm>
          <a:prstGeom prst="ellipse">
            <a:avLst/>
          </a:prstGeom>
          <a:solidFill>
            <a:srgbClr val="1285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35" y="2061423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Bands, not ages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63040" y="2322576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child / teen / adult / unknown + confidence. Text can't tell 16 from 18 — so we don't pretend.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63040" y="3346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the accuracy trap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45352" y="1664208"/>
            <a:ext cx="5486400" cy="2066544"/>
          </a:xfrm>
          <a:prstGeom prst="roundRect">
            <a:avLst>
              <a:gd name="adj" fmla="val 4425"/>
            </a:avLst>
          </a:prstGeom>
          <a:solidFill>
            <a:srgbClr val="22252C"/>
          </a:solidFill>
          <a:ln w="9525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19672" y="1938528"/>
            <a:ext cx="512064" cy="512064"/>
          </a:xfrm>
          <a:prstGeom prst="ellipse">
            <a:avLst/>
          </a:prstGeom>
          <a:solidFill>
            <a:srgbClr val="1285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567" y="2061423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5472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Passive, in-conversation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205472" y="2322576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what's already there. No cameras, no ID upload, no extra prompts, no interruption.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205472" y="3346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the friction trap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3986784"/>
            <a:ext cx="5486400" cy="2066544"/>
          </a:xfrm>
          <a:prstGeom prst="roundRect">
            <a:avLst>
              <a:gd name="adj" fmla="val 4425"/>
            </a:avLst>
          </a:prstGeom>
          <a:solidFill>
            <a:srgbClr val="22252C"/>
          </a:solidFill>
          <a:ln w="9525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77240" y="4261104"/>
            <a:ext cx="512064" cy="512064"/>
          </a:xfrm>
          <a:prstGeom prst="ellipse">
            <a:avLst/>
          </a:prstGeom>
          <a:solidFill>
            <a:srgbClr val="1285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35" y="4383999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2428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Graduated — and it asks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463040" y="46451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 tightens filters quietly. High confidence asks to confirm. Never a silent door slam.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463040" y="56692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the hard-block trap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45352" y="3986784"/>
            <a:ext cx="5486400" cy="2066544"/>
          </a:xfrm>
          <a:prstGeom prst="roundRect">
            <a:avLst>
              <a:gd name="adj" fmla="val 4425"/>
            </a:avLst>
          </a:prstGeom>
          <a:solidFill>
            <a:srgbClr val="22252C"/>
          </a:solidFill>
          <a:ln w="9525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519672" y="4261104"/>
            <a:ext cx="512064" cy="512064"/>
          </a:xfrm>
          <a:prstGeom prst="ellipse">
            <a:avLst/>
          </a:prstGeom>
          <a:solidFill>
            <a:srgbClr val="1285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2567" y="4383999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05472" y="42428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by design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205472" y="46451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Inferred bands never persist. Only a user-confirmed age may be stored — and only against an existing account.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205472" y="56692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the profile trap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AgeBand  ·  AMD Developer Hackathon ACT II  ·  Unicorn Track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estimates. The policy decides. The host enforces.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planner-supervisor loop with deterministic guards — fail closed.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063240" cy="2286000"/>
          </a:xfrm>
          <a:prstGeom prst="roundRect">
            <a:avLst>
              <a:gd name="adj" fmla="val 4000"/>
            </a:avLst>
          </a:prstGeom>
          <a:solidFill>
            <a:srgbClr val="1A2E2D"/>
          </a:solidFill>
          <a:ln w="12700">
            <a:solidFill>
              <a:srgbClr val="2C4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1285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1671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 [LLM]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session evidence, picks a route: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settled — 0 LLM calls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— 1 call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— 2 calls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— straight to guards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11880" y="2825496"/>
            <a:ext cx="384048" cy="292608"/>
          </a:xfrm>
          <a:prstGeom prst="rightArrow">
            <a:avLst/>
          </a:prstGeom>
          <a:solidFill>
            <a:srgbClr val="8B91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041648" y="1828800"/>
            <a:ext cx="3063240" cy="2286000"/>
          </a:xfrm>
          <a:prstGeom prst="roundRect">
            <a:avLst>
              <a:gd name="adj" fmla="val 4000"/>
            </a:avLst>
          </a:prstGeom>
          <a:solidFill>
            <a:srgbClr val="22252C"/>
          </a:solidFill>
          <a:ln w="12700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15968" y="2057400"/>
            <a:ext cx="457200" cy="457200"/>
          </a:xfrm>
          <a:prstGeom prst="ellipse">
            <a:avLst/>
          </a:prstGeom>
          <a:solidFill>
            <a:srgbClr val="3A3F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21671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10328" y="2103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 [route-dependent]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315968" y="260604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signal_extractor — Gemma 3 4B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fabric — session-scoped, tripwire scan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ageband_estimator — Gemma 3 27B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in Python — never the LLM's self-report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150608" y="2825496"/>
            <a:ext cx="384048" cy="292608"/>
          </a:xfrm>
          <a:prstGeom prst="rightArrow">
            <a:avLst/>
          </a:prstGeom>
          <a:solidFill>
            <a:srgbClr val="8B91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580376" y="1828800"/>
            <a:ext cx="3063240" cy="2286000"/>
          </a:xfrm>
          <a:prstGeom prst="roundRect">
            <a:avLst>
              <a:gd name="adj" fmla="val 4000"/>
            </a:avLst>
          </a:prstGeom>
          <a:solidFill>
            <a:srgbClr val="2E1D1B"/>
          </a:solidFill>
          <a:ln w="15875">
            <a:solidFill>
              <a:srgbClr val="5A2E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854696" y="2057400"/>
            <a:ext cx="457200" cy="457200"/>
          </a:xfrm>
          <a:prstGeom prst="ellipse">
            <a:avLst/>
          </a:prstGeom>
          <a:solidFill>
            <a:srgbClr val="D636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216712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49056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Guards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854696" y="260604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run — independent of route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policy_gate(band, conf) — a table lookup, NOT an LLM call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closed on anything ambiguous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Auditable, tunable per jurisdiction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02920" y="4526280"/>
            <a:ext cx="10140696" cy="960120"/>
          </a:xfrm>
          <a:prstGeom prst="roundRect">
            <a:avLst>
              <a:gd name="adj" fmla="val 9524"/>
            </a:avLst>
          </a:prstGeom>
          <a:solidFill>
            <a:srgbClr val="2A2E37"/>
          </a:solidFill>
          <a:ln w="12700">
            <a:solidFill>
              <a:srgbClr val="445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77240" y="45262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safety_posture {level, flags}</a:t>
            </a:r>
            <a:r>
              <a:rPr lang="en-US" sz="150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the host honors it.  AgeBand never touches the model or the reply path.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10881360" y="4526280"/>
            <a:ext cx="804672" cy="960120"/>
          </a:xfrm>
          <a:prstGeom prst="roundRect">
            <a:avLst>
              <a:gd name="adj" fmla="val 11364"/>
            </a:avLst>
          </a:prstGeom>
          <a:solidFill>
            <a:srgbClr val="1285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5096" y="463600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08208" y="509320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step-up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02920" y="57424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Settled sessions skip inference entirely — the tripwire still scans every turn and catches device hand-offs. That's what makes always-on affordable.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AgeBand  ·  AMD Developer Hackathon ACT II  ·  Unicorn Track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requires AMD — and what we measured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Self-hosting isn't a compute story. It's the reason this can exist.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297680" cy="4023360"/>
          </a:xfrm>
          <a:prstGeom prst="roundRect">
            <a:avLst>
              <a:gd name="adj" fmla="val 2273"/>
            </a:avLst>
          </a:prstGeom>
          <a:solidFill>
            <a:srgbClr val="2A2E37"/>
          </a:solidFill>
          <a:ln w="12700">
            <a:solidFill>
              <a:srgbClr val="445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messages are GDPR / COPPA-regulated data.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“Likely a minor” is a sensitive inferred attribute under the EU AI Act.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legal basis to send that inference to a third-party API.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9F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it runs inside the operator's boundary — and only an open-weight model can sit there. Gemma 3 is that model.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 3 27B estimator + 4B extractor — one MI300X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vLLM 0.23 · ROCm 7.2.4 · 192 GB HBM3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74920" y="1600200"/>
            <a:ext cx="3246120" cy="1783080"/>
          </a:xfrm>
          <a:prstGeom prst="roundRect">
            <a:avLst>
              <a:gd name="adj" fmla="val 5128"/>
            </a:avLst>
          </a:prstGeom>
          <a:solidFill>
            <a:srgbClr val="22252C"/>
          </a:solidFill>
          <a:ln w="9525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8288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76088" y="21031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BB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598.6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5303520" y="28986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tok/s @ 10 concurrent sessions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49640" y="1600200"/>
            <a:ext cx="3246120" cy="1783080"/>
          </a:xfrm>
          <a:prstGeom prst="roundRect">
            <a:avLst>
              <a:gd name="adj" fmla="val 5128"/>
            </a:avLst>
          </a:prstGeom>
          <a:solidFill>
            <a:srgbClr val="22252C"/>
          </a:solidFill>
          <a:ln w="9525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50808" y="21031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BB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$0.139</a:t>
            </a:r>
            <a:endParaRPr lang="en-US" sz="4400" dirty="0"/>
          </a:p>
        </p:txBody>
      </p:sp>
      <p:sp>
        <p:nvSpPr>
          <p:cNvPr id="15" name="Text 11"/>
          <p:cNvSpPr/>
          <p:nvPr/>
        </p:nvSpPr>
        <p:spPr>
          <a:xfrm>
            <a:off x="8778240" y="28986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1,000 moderated turns  ($1.99/hr MI300X)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74920" y="3611880"/>
            <a:ext cx="3246120" cy="1783080"/>
          </a:xfrm>
          <a:prstGeom prst="roundRect">
            <a:avLst>
              <a:gd name="adj" fmla="val 5128"/>
            </a:avLst>
          </a:prstGeom>
          <a:solidFill>
            <a:srgbClr val="22252C"/>
          </a:solidFill>
          <a:ln w="9525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840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76088" y="4114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BB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3.07 s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5303520" y="49103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gate→posture @ 10 concurrent  (2.06 s single)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549640" y="3611880"/>
            <a:ext cx="3246120" cy="1783080"/>
          </a:xfrm>
          <a:prstGeom prst="roundRect">
            <a:avLst>
              <a:gd name="adj" fmla="val 5128"/>
            </a:avLst>
          </a:prstGeom>
          <a:solidFill>
            <a:srgbClr val="1A2E2D"/>
          </a:solidFill>
          <a:ln w="9525">
            <a:solidFill>
              <a:srgbClr val="2C4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8404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50808" y="4114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BB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23" name="Text 17"/>
          <p:cNvSpPr/>
          <p:nvPr/>
        </p:nvSpPr>
        <p:spPr>
          <a:xfrm>
            <a:off x="8778240" y="49103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accuracy on synthetic eval — Gemma 3 27B, clean confusion matrix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074920" y="5687568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a real AMD Instinct MI300X (AMD Dev Cloud), July 9 2026 — Gemma 3 27B on the LLM path end-to-end.  ≥10 sessions/GPU with the p95 ceiling never reached: headroom remains.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AgeBand  ·  AMD Developer Hackathon ACT II  ·  Unicorn Track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careful shell is load-bearing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adversarial transcript — a child insisting “I'm an adult.”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2E1D1B"/>
          </a:solidFill>
          <a:ln w="12700">
            <a:solidFill>
              <a:srgbClr val="5A2E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12064" cy="512064"/>
          </a:xfrm>
          <a:prstGeom prst="ellipse">
            <a:avLst/>
          </a:prstGeom>
          <a:solidFill>
            <a:srgbClr val="D636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75" y="204313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31B model, alone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67004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06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 · confidence 0.86 · posture wide open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Fooled — even with a prompt that explicitly said not to trust a self-claim against child cues. Uncalibrated confidence would have driven a wide-open posture for a child.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64592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1A2E2D"/>
          </a:solidFill>
          <a:ln w="12700">
            <a:solidFill>
              <a:srgbClr val="2C4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629400" y="1920240"/>
            <a:ext cx="512064" cy="512064"/>
          </a:xfrm>
          <a:prstGeom prst="ellipse">
            <a:avLst/>
          </a:prstGeom>
          <a:solidFill>
            <a:srgbClr val="1285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295" y="2043135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9659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27B + AgeBand's guard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267004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B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 → 0.32 → teen · caution · evasion_flag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629400" y="338328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settles on “adult.” Confidence stays low, then the homework/curfew tell flips the band on turn 3 — and the guard routes to step-up: stop guessing, ask. Verified with Gemma 3 27B on the MI300X run.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5166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 itself is a signal — 4 masking patterns detected deterministically:  </a:t>
            </a:r>
            <a:r>
              <a:rPr lang="en-US" sz="1350" b="1" dirty="0">
                <a:solidFill>
                  <a:srgbClr val="3BB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mismatch · deflection · register switching · over-insistence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02920" y="5715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proposes nuance. Deterministic code decides safety. That's the architecture — shown empirically, not asserted.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AgeBand  ·  AMD Developer Hackathon ACT II  ·  Unicorn Track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about to see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conversations, one roster — live, in a notebook.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5486400" cy="1481328"/>
          </a:xfrm>
          <a:prstGeom prst="roundRect">
            <a:avLst>
              <a:gd name="adj" fmla="val 6173"/>
            </a:avLst>
          </a:prstGeom>
          <a:solidFill>
            <a:srgbClr val="22252C"/>
          </a:solidFill>
          <a:ln w="9525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" y="1883664"/>
            <a:ext cx="310896" cy="310896"/>
          </a:xfrm>
          <a:prstGeom prst="ellipse">
            <a:avLst/>
          </a:prstGeom>
          <a:solidFill>
            <a:srgbClr val="1285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16152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Clear adult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6152" y="21945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Whisky picks, board decks, Q2 targets.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16152" y="252374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likely-adult · high  →  full features stay open.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627632"/>
            <a:ext cx="5486400" cy="1481328"/>
          </a:xfrm>
          <a:prstGeom prst="roundRect">
            <a:avLst>
              <a:gd name="adj" fmla="val 6173"/>
            </a:avLst>
          </a:prstGeom>
          <a:solidFill>
            <a:srgbClr val="22252C"/>
          </a:solidFill>
          <a:ln w="9525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01384" y="1883664"/>
            <a:ext cx="310896" cy="310896"/>
          </a:xfrm>
          <a:prstGeom prst="ellipse">
            <a:avLst/>
          </a:prstGeom>
          <a:solidFill>
            <a:srgbClr val="C77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58584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Young teen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8584" y="21945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“Teacher”, “homework”, “Mom says 9pm.”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58584" y="252374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climbs turn by turn → tighten → step-up: confirm 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328416"/>
            <a:ext cx="5486400" cy="1481328"/>
          </a:xfrm>
          <a:prstGeom prst="roundRect">
            <a:avLst>
              <a:gd name="adj" fmla="val 6173"/>
            </a:avLst>
          </a:prstGeom>
          <a:solidFill>
            <a:srgbClr val="22252C"/>
          </a:solidFill>
          <a:ln w="9525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58952" y="3584448"/>
            <a:ext cx="310896" cy="310896"/>
          </a:xfrm>
          <a:prstGeom prst="ellipse">
            <a:avLst/>
          </a:prstGeom>
          <a:solidFill>
            <a:srgbClr val="5A60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16152" y="35295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Ambiguous adult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16152" y="389534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adult who writes simply.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16152" y="42245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stays LOW → tightens slightly and ASKS. Never locks out.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5352" y="3328416"/>
            <a:ext cx="5486400" cy="1481328"/>
          </a:xfrm>
          <a:prstGeom prst="roundRect">
            <a:avLst>
              <a:gd name="adj" fmla="val 6173"/>
            </a:avLst>
          </a:prstGeom>
          <a:solidFill>
            <a:srgbClr val="22252C"/>
          </a:solidFill>
          <a:ln w="9525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01384" y="3584448"/>
            <a:ext cx="310896" cy="310896"/>
          </a:xfrm>
          <a:prstGeom prst="ellipse">
            <a:avLst/>
          </a:prstGeom>
          <a:solidFill>
            <a:srgbClr val="D63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58584" y="35295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★ Adversarial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58584" y="389534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claiming “I'm 28, trust me.”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58584" y="42245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Over-insistence is itself a cue → never settles adult → step-up.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507492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1A2E2D"/>
          </a:solidFill>
          <a:ln w="9525">
            <a:solidFill>
              <a:srgbClr val="2C4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9808" y="5294376"/>
            <a:ext cx="475488" cy="475488"/>
          </a:xfrm>
          <a:prstGeom prst="ellipse">
            <a:avLst/>
          </a:prstGeom>
          <a:solidFill>
            <a:srgbClr val="1285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25" y="5408493"/>
            <a:ext cx="247254" cy="24725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71600" y="5074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 view — </a:t>
            </a:r>
            <a:r>
              <a:rPr lang="en-US" sz="120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a whole channel export; risk-ranked per-user table + live AMD telemetry badge.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45352" y="5074920"/>
            <a:ext cx="5458968" cy="914400"/>
          </a:xfrm>
          <a:prstGeom prst="roundRect">
            <a:avLst>
              <a:gd name="adj" fmla="val 10000"/>
            </a:avLst>
          </a:prstGeom>
          <a:solidFill>
            <a:srgbClr val="2A2E37"/>
          </a:solidFill>
          <a:ln w="9525">
            <a:solidFill>
              <a:srgbClr val="445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492240" y="5294376"/>
            <a:ext cx="475488" cy="475488"/>
          </a:xfrm>
          <a:prstGeom prst="ellipse">
            <a:avLst/>
          </a:prstGeom>
          <a:solidFill>
            <a:srgbClr val="1285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357" y="5408493"/>
            <a:ext cx="247254" cy="24725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114032" y="50749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one Jupyter notebook — Run All.  </a:t>
            </a:r>
            <a:r>
              <a:rPr lang="en-US" sz="120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code ships containerized: Docker images + Helm chart, one command.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AgeBand  ·  AMD Developer Hackathon ACT II  ·  Unicorn Track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limits. Ready to ship.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weak points is maturity — each one has a shipped mitigation.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limits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420624" cy="420624"/>
          </a:xfrm>
          <a:prstGeom prst="ellipse">
            <a:avLst/>
          </a:prstGeom>
          <a:solidFill>
            <a:srgbClr val="4A4F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70" y="220407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2048256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reduction, not access control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69848" y="2340864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inference works on a cooperative user — step-up is the backstop.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3090672"/>
            <a:ext cx="420624" cy="420624"/>
          </a:xfrm>
          <a:prstGeom prst="ellipse">
            <a:avLst/>
          </a:prstGeom>
          <a:solidFill>
            <a:srgbClr val="4A4F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70" y="319162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69848" y="3035808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session defeats session-scoped inference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069848" y="3328416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design: only user-CONFIRMED ages ever persist.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4078224"/>
            <a:ext cx="420624" cy="420624"/>
          </a:xfrm>
          <a:prstGeom prst="ellipse">
            <a:avLst/>
          </a:prstGeom>
          <a:solidFill>
            <a:srgbClr val="4A4F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70" y="4179174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69848" y="402336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Cross-language is a real weak spot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069848" y="4315968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Shipped: language detection + abstention in es / fr / hi / ar / zh — no false cues from the English lexicon.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2920" y="5065776"/>
            <a:ext cx="420624" cy="420624"/>
          </a:xfrm>
          <a:prstGeom prst="ellipse">
            <a:avLst/>
          </a:prstGeom>
          <a:solidFill>
            <a:srgbClr val="4A4F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870" y="5166726"/>
            <a:ext cx="218724" cy="2187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69848" y="501091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are asymmetric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069848" y="5303520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Restricting a simple writer correlates with demographics — so it asks first, and step-up outcomes feed fairness tuning.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355080" y="16002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B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Ship-ready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6355080" y="210312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2252C"/>
          </a:solidFill>
          <a:ln w="9525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629400" y="21031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EDE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463 tests · 86.5% coverage · mypy --strict: 0 · ruff clean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with no GPU (deterministic mode) — demo-proof.  Docker + Helm: containerized delivery, one command.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355080" y="36576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22252C"/>
          </a:solidFill>
          <a:ln w="9525">
            <a:solidFill>
              <a:srgbClr val="3A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6629400" y="36576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tailwinds: </a:t>
            </a:r>
            <a:r>
              <a:rPr lang="en-US" sz="12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· KOSA-class · EU AI Act · COPPA / UK AADC. One policy-table flip serves kids-product markets too — same code, second TAM.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355080" y="48920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1A2E2D"/>
          </a:solidFill>
          <a:ln w="9525">
            <a:solidFill>
              <a:srgbClr val="2C4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6629400" y="48920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B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to Yoti / k-ID: </a:t>
            </a:r>
            <a:r>
              <a:rPr lang="en-US" sz="1250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AgeBand is the always-on, zero-friction smoke detector that decides when to invoke the certified check — step-up can route straight to their flows.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AgeBand  ·  AMD Developer Hackathon ACT II  ·  Unicorn Track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AgeBand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passive age-band signal from the conversation that gets more protective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it suspects a child — and asks before it assumes.”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" y="3291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FE3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on AMD — the only way something this sensitive is allowed to exist.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4114800"/>
            <a:ext cx="7589520" cy="512064"/>
          </a:xfrm>
          <a:prstGeom prst="roundRect">
            <a:avLst>
              <a:gd name="adj" fmla="val 500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2245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4114800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 was always there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1248" y="4773168"/>
            <a:ext cx="7589520" cy="512064"/>
          </a:xfrm>
          <a:prstGeom prst="roundRect">
            <a:avLst>
              <a:gd name="adj" fmla="val 500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8289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4773168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careful design IS the product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41248" y="5431536"/>
            <a:ext cx="7589520" cy="512064"/>
          </a:xfrm>
          <a:prstGeom prst="roundRect">
            <a:avLst>
              <a:gd name="adj" fmla="val 500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54126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5431536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27B on MI300X — 598.6 tok/s · $0.139/1k · 100% eval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41248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DE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run it.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309360" y="6099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1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on AMD Instinct MI300X  ·  ROCm + vLLM  ·  github.com/asishbose/ageBand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2888</Words>
  <Application>Microsoft Office PowerPoint</Application>
  <PresentationFormat>Widescreen</PresentationFormat>
  <Paragraphs>165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Asish Bose (Nokia)</cp:lastModifiedBy>
  <cp:revision>4</cp:revision>
  <dcterms:created xsi:type="dcterms:W3CDTF">2026-07-10T16:14:24Z</dcterms:created>
  <dcterms:modified xsi:type="dcterms:W3CDTF">2026-07-10T16:25:07Z</dcterms:modified>
</cp:coreProperties>
</file>