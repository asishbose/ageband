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76" autoAdjust="0"/>
    <p:restoredTop sz="94660"/>
  </p:normalViewPr>
  <p:slideViewPr>
    <p:cSldViewPr snapToGrid="0" snapToObjects="1">
      <p:cViewPr varScale="1">
        <p:scale>
          <a:sx n="90" d="100"/>
          <a:sy n="90" d="100"/>
        </p:scale>
        <p:origin x="15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4664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strong. 'Every AI chat product is flying blind on user age — and the signal they're ignoring is already in the conversation.' AgeBand is not face detection, not biometrics. It reads how people write and what they talk about — a passive, always-on signal. And the reason it runs on AMD is not a compute story: it's a legal and ethical requirement. Inferring whether a user is a minor from private messages cannot leave the operator's own hardware.</a:t>
            </a:r>
          </a:p>
          <a:p>
            <a:endParaRPr/>
          </a:p>
          <a:p>
            <a:r>
              <a:t>VISUALS</a:t>
            </a:r>
          </a:p>
          <a:p>
            <a:r>
              <a:t>Background: Original PIL-generated abstract particle/network graphic. Created by project authors — no external assets, no attribution required.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that AI chat products are under real, growing pressure to protect minors — and the tools they have are crude. Every product has a birthdate field any child clicks through, and after that it treats a 12-year-old and a 40-year-old identically. The signal the product is ignoring is right there: how the user writes and what they talk about. A trust-and-safety expert can read a transcript and know roughly who they're talking to in seconds — but that judgement isn't automated, isn't always-on, and doesn't scale to millions of conversations.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creativity beat — land it hard. The naive version — detect the user's age and block them — fails on accuracy, bias, and privacy simultaneously. AgeBand is designed precisely around those failures. Bands not precise ages. Graduated responses not hard blocks. A passive signal already in the conversation. Ephemeral state not a profile. The reframe is: we're not trying to know how old someone is — we're trying to know how protective to be. That's a different, more tractable, and more honest problem.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design spec in miniature — it tells judges exactly what the system is and isn't trying to do. The 'does not' column is as important as the 'does' column: it's what separates a deployable feature from a compliance liability. The key frame: AgeBand is a risk-reduction signal, not an access-control guarantee. Everything in the 'does' column has a carefully chosen limit in the 'does not' column. That design discipline is what lets a real platform actually ship this.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architectural claim. The old framing was a six-step pipeline. The new framing is a planner-supervisor loop. 1) A Planner LLM reads the session evidence state and chooses a route — settled (0 LLM calls, reuse posture), incremental (1 LLM call, extract only), full (2 LLM calls, extract + estimate), or urgent (skip to guards immediately). 2) The Act phase executes that route. The Planner never knows what the safety outcome will be — it only picks the information-gathering path. 3) The Observe phase updates the evidence store; the tripwire checks for contradictions (a signal that the Planner should run a fuller route next turn). 4) The evidence state feeds the next turn's Planner call — the re-plan step. CRITICALLY: Deterministic Guards always intercept route output. They apply the policy table (band x confidence -&gt; action) and fail closed if anything is ambiguous. The LLM proposes; deterministic code decides. Safety decisions are auditable, tunable, and entirely independent of model calibration.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six route-system components. Key message: the Planner is the only LLM that touches orchestration — it picks the route, never the safety outcome. Route 'settled' makes always-on affordable: once confidence is high, the system skips all inference until the tripwire detects a contradiction. Route 'incremental' handles the common low-delta case: one extraction pass, a quick evidence update. Route 'full' triggers on new topics or conflicting signals. Route 'urgent' skips straight to guards on an explicit high-severity disclosure. The Deterministic Guards card is the most important: the policy table, not the LLM, decides what happens to the user. That's auditable. That's tunable. And it fails closed — if the band is ambiguous, the guards apply the safer action.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two design decisions that separate AgeBand from a naive LLM wrapper. The cheap gate with its tripwire is what makes always-on inference economically viable — most turns never hit the model at all. The tripwire is the specific mechanism that handles the device-handoff attack without adding per-turn cost. Grounded confidence is the other key: LLM self-reported confidence is notoriously uncalibrated, so we compute the number from countable evidence and let the model contribute only a bounded adjustment. That's what makes the confidence number meaningful enough to drive graduated safety decisions.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separation: the model estimates, the policy decides. That's not an implementation detail — it's the architectural safety guarantee. The policy table is deterministic, auditable, and tunable per product and jurisdiction. Step-up is where real assurance lives: inference cannot catch a motivated liar, but step-up changes what the system needs from the user. The sync-on-high-severity detail is important — async by default means a one-turn lag, which is fine for gradual tightening, but for a hard stop we block that one reply. Most turns stay fast.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anchor slide — the most important single argument in the deck. Coach the presenter: do NOT frame AMD as a performance choice. Frame it as: this is the ONLY way this product is allowed to exist. Sensitive inference from private messages cannot legally or ethically be sent to a third-party API. The requirement to self-host on AMD isn't a bolt-on or a hackathon optimization — it's what makes the entire product deployable. Without on-prem, the whole system is a privacy violation waiting to happen. With AMD ROCm + vLLM, the operator owns the inference path end-to-end. Land this clearly: AMD is not the choice, it's the requirement.</a:t>
            </a:r>
          </a:p>
          <a:p>
            <a:endParaRPr/>
          </a:p>
          <a:p>
            <a:r>
              <a:t>SOURCES</a:t>
            </a:r>
          </a:p>
          <a:p>
            <a:r>
              <a:t>- Server rack photo: 'Datacenter Server Racks (22370909788)' by Carl Lender (CLender), CC BY 2.0, via Wikimedia Commons / originally Flickr. URL: https://commons.wikimedia.org/wiki/File:Datacenter_Server_Racks_(22370909788).jpg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critical visual here is the operator boundary box. Everything inside that teal-bordered rectangle is the operator's own hardware — no private data ever leaves it. The host assistant is outside the boundary (it's a separate system); AgeBand emits a safety_posture that crosses the boundary interface, and the host honors it. The AMD serving layer is the piece that makes the boundary viable at inference scale. MCP boundaries are shown in teal — the policy config is trusted signed input, not an arbitrary MCP response.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OpenAI Agents SDK provides the orchestration layer: a Runner drives agents, Pydantic output_type schemas enforce structured output. Phase 1 is the Planner — a new LLM agent that replaces the old static cheap-gate. It reads the AgeBandContext (evidence state) and emits a RouteDecision: settled (skip inference), incremental (extract only), full (extract + estimate), or urgent (bypass extraction, straight to guards). Phases 2 and 4 (signal_extractor, ageband_estimator) are conditional — they only run on routes that need them. Phase 5 is the Deterministic Guards: policy_gate is a pure Python function, not an agent, that applies the policy table. It fails closed — if the band is ambiguous or confidence is borderline, it applies the more protective action. The LLM's job is to propose the route and extract signals. Deterministic code decides every safety outcome. One model serves all LLM calls (phases 1, 2, 4); split only if profiling justifies the latency cost.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wins the room — run the demo live if possible. Walk panel by panel. A: adult stays fully open, nothing changes. B: teen — watch confidence climb turn by turn as 'teacher', 'homework', 'Mom' stack up. The safety posture tightens gradually, then steps up and asks to confirm age. C: the FAIRNESS money shot — adult who writes simply. Confidence stays low. AgeBand tightens only slightly and ASKS — it does not lock them out. This is the ask-don't-restrict principle in action. D: the adversarial case — coach the presenter: 'The child claims to be 28. Avoids every childlike topic. Over-insists on adult status. AgeBand doesn't get fooled — the over-insistence and avoidance pattern is ITSELF a weak signal. Confidence never settles on adult. The system routes to step-up: it stops guessing and asks. Inference narrows the field; verification is the backstop.' Quote: 'It doesn't guess your age and slam a door. It gets more careful the more it suspects a child, and it asks before it assumes.'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slide as a strength, not a confession. Coach the presenter: 'The system that knows its own limits is the one you can actually trust in production.' Hackathon judges penalize naive overconfidence. The five limits here each have a mitigation — point to the mitigation each time. The most important one is the last: the careful design shell IS the product. Without the graduated / ask-first / ephemeral / confirmed-only architecture, you'd have a privacy-violating misclassifier. The care transforms a weak signal into a deployable feature. That's the sophistication to land.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slide crisp — one minute max. The market framing is simple: every AI chat product needs child safety and is stuck with an ignored birthdate. Regulatory tailwinds are real and accelerating — DSA, KOSA-class, EU AI Act. Don't fabricate a TAM number; the regulatory pressure is the number. The config flip for kids products is the multiplier: same codebase, same AMD stack, one policy table flip, second market. This is the product/market hook — not a huge slide, just clear.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judges the deck is a real, thought-through system and not just a concept. The lean build is what you actually ship this weekend: two LLM calls and deterministic plumbing around them. It demonstrates all the interesting behavior — the graduated response, the step-up, the adversarial case. The full module map shows the thinking: where would complexity be earned? Only where load and real-world failure justify it. The two-model split, the persistent store, the fairness monitoring loop — these are optimizations, not prerequisites. Scope honesty is a completeness signal.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energy. Restate the three things to leave in the room: 1) The signal is already there in the conversation — it was always there. 2) The responsible design is the product: bands, graduated, ask-first, ephemeral, confirmed-only. Without that design, it's a privacy violation. With it, it's a feature any platform can actually ship. 3) On-prem on AMD isn't a performance story — it's the entire deployability story. Invite questions. If time permits, offer to run the adversarial demo live again.</a:t>
            </a:r>
          </a:p>
          <a:p>
            <a:endParaRPr/>
          </a:p>
          <a:p>
            <a:r>
              <a:t>VISUALS</a:t>
            </a:r>
          </a:p>
          <a:p>
            <a:r>
              <a:t>Background: Same original PIL-generated abstract particle/network graphic as title slide — bookend design. Created by project authors, no attribution required.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rot="20880000">
            <a:off x="101166" y="4454935"/>
            <a:ext cx="6400800" cy="1645920"/>
          </a:xfrm>
          <a:prstGeom prst="rect">
            <a:avLst/>
          </a:prstGeom>
          <a:solidFill>
            <a:srgbClr val="2A1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rot="20880000">
            <a:off x="7457781" y="479381"/>
            <a:ext cx="4572000" cy="2011680"/>
          </a:xfrm>
          <a:prstGeom prst="rect">
            <a:avLst/>
          </a:prstGeom>
          <a:solidFill>
            <a:srgbClr val="3F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280160"/>
            <a:ext cx="109728" cy="4389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234440"/>
            <a:ext cx="8229600" cy="1645920"/>
          </a:xfrm>
          <a:prstGeom prst="rect">
            <a:avLst/>
          </a:prstGeom>
          <a:noFill/>
        </p:spPr>
        <p:txBody>
          <a:bodyPr wrap="square" lIns="0" tIns="0" rIns="0" bIns="0">
            <a:spAutoFit/>
          </a:bodyPr>
          <a:lstStyle/>
          <a:p>
            <a:pPr algn="l"/>
            <a:r>
              <a:rPr lang="en-US" sz="7200" b="1" i="0" noProof="1">
                <a:solidFill>
                  <a:srgbClr val="FFFFFF"/>
                </a:solidFill>
                <a:latin typeface="Calibri"/>
              </a:rPr>
              <a:t>AgeBand</a:t>
            </a:r>
          </a:p>
        </p:txBody>
      </p:sp>
      <p:sp>
        <p:nvSpPr>
          <p:cNvPr id="7" name="TextBox 6"/>
          <p:cNvSpPr txBox="1"/>
          <p:nvPr/>
        </p:nvSpPr>
        <p:spPr>
          <a:xfrm>
            <a:off x="822960" y="2926080"/>
            <a:ext cx="9144000" cy="502920"/>
          </a:xfrm>
          <a:prstGeom prst="rect">
            <a:avLst/>
          </a:prstGeom>
          <a:noFill/>
        </p:spPr>
        <p:txBody>
          <a:bodyPr wrap="square" lIns="0" tIns="0" rIns="0" bIns="0">
            <a:spAutoFit/>
          </a:bodyPr>
          <a:lstStyle/>
          <a:p>
            <a:pPr algn="l"/>
            <a:r>
              <a:rPr lang="en-US" sz="2200" b="0" i="0" noProof="1">
                <a:solidFill>
                  <a:srgbClr val="A5B4FC"/>
                </a:solidFill>
                <a:latin typeface="Calibri"/>
              </a:rPr>
              <a:t>A passive age-band signal from the conversation.</a:t>
            </a:r>
          </a:p>
        </p:txBody>
      </p:sp>
      <p:sp>
        <p:nvSpPr>
          <p:cNvPr id="8" name="TextBox 7"/>
          <p:cNvSpPr txBox="1"/>
          <p:nvPr/>
        </p:nvSpPr>
        <p:spPr>
          <a:xfrm>
            <a:off x="822960" y="3401568"/>
            <a:ext cx="9144000" cy="502920"/>
          </a:xfrm>
          <a:prstGeom prst="rect">
            <a:avLst/>
          </a:prstGeom>
          <a:noFill/>
        </p:spPr>
        <p:txBody>
          <a:bodyPr wrap="square" lIns="0" tIns="0" rIns="0" bIns="0">
            <a:spAutoFit/>
          </a:bodyPr>
          <a:lstStyle/>
          <a:p>
            <a:pPr algn="l"/>
            <a:r>
              <a:rPr lang="en-US" sz="2200" b="0" i="0" noProof="1">
                <a:solidFill>
                  <a:srgbClr val="A5B4FC"/>
                </a:solidFill>
                <a:latin typeface="Calibri"/>
              </a:rPr>
              <a:t>Gets more protective the more it suspects a child.</a:t>
            </a:r>
          </a:p>
        </p:txBody>
      </p:sp>
      <p:sp>
        <p:nvSpPr>
          <p:cNvPr id="9" name="TextBox 8"/>
          <p:cNvSpPr txBox="1"/>
          <p:nvPr/>
        </p:nvSpPr>
        <p:spPr>
          <a:xfrm>
            <a:off x="822960" y="3858768"/>
            <a:ext cx="9144000" cy="502920"/>
          </a:xfrm>
          <a:prstGeom prst="rect">
            <a:avLst/>
          </a:prstGeom>
          <a:noFill/>
        </p:spPr>
        <p:txBody>
          <a:bodyPr wrap="square" lIns="0" tIns="0" rIns="0" bIns="0">
            <a:spAutoFit/>
          </a:bodyPr>
          <a:lstStyle/>
          <a:p>
            <a:pPr algn="l"/>
            <a:r>
              <a:rPr lang="en-US" sz="2200" b="0" i="0" noProof="1">
                <a:solidFill>
                  <a:srgbClr val="FCD34D"/>
                </a:solidFill>
                <a:latin typeface="Calibri"/>
              </a:rPr>
              <a:t>Asks before it assumes. On-prem — because it has to be.</a:t>
            </a:r>
          </a:p>
        </p:txBody>
      </p:sp>
      <p:sp>
        <p:nvSpPr>
          <p:cNvPr id="10" name="Rounded Rectangle 9"/>
          <p:cNvSpPr/>
          <p:nvPr/>
        </p:nvSpPr>
        <p:spPr>
          <a:xfrm>
            <a:off x="804672" y="4617720"/>
            <a:ext cx="4754880" cy="530352"/>
          </a:xfrm>
          <a:prstGeom prst="roundRect">
            <a:avLst/>
          </a:prstGeom>
          <a:solidFill>
            <a:srgbClr val="3F3FA0"/>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690872"/>
            <a:ext cx="4480560" cy="365760"/>
          </a:xfrm>
          <a:prstGeom prst="rect">
            <a:avLst/>
          </a:prstGeom>
          <a:noFill/>
        </p:spPr>
        <p:txBody>
          <a:bodyPr wrap="square" lIns="0" tIns="0" rIns="0" bIns="0">
            <a:spAutoFit/>
          </a:bodyPr>
          <a:lstStyle/>
          <a:p>
            <a:pPr algn="ctr"/>
            <a:r>
              <a:rPr lang="en-US" sz="1300" b="1" i="0" noProof="1">
                <a:solidFill>
                  <a:srgbClr val="FCD34D"/>
                </a:solidFill>
                <a:latin typeface="Calibri"/>
              </a:rPr>
              <a:t>AMD GPU Hackathon  ·  Unicorn Track  ·  Trust &amp; Safety</a:t>
            </a:r>
          </a:p>
        </p:txBody>
      </p:sp>
      <p:sp>
        <p:nvSpPr>
          <p:cNvPr id="12" name="Rounded Rectangle 11"/>
          <p:cNvSpPr/>
          <p:nvPr/>
        </p:nvSpPr>
        <p:spPr>
          <a:xfrm>
            <a:off x="8595360" y="1828800"/>
            <a:ext cx="2194560" cy="658368"/>
          </a:xfrm>
          <a:prstGeom prst="round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0" y="2926080"/>
            <a:ext cx="1645920" cy="65836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601200" y="4023360"/>
            <a:ext cx="1188720" cy="65836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0" y="1956816"/>
            <a:ext cx="1920240" cy="384048"/>
          </a:xfrm>
          <a:prstGeom prst="rect">
            <a:avLst/>
          </a:prstGeom>
          <a:noFill/>
        </p:spPr>
        <p:txBody>
          <a:bodyPr wrap="square" lIns="0" tIns="0" rIns="0" bIns="0">
            <a:spAutoFit/>
          </a:bodyPr>
          <a:lstStyle/>
          <a:p>
            <a:pPr algn="r"/>
            <a:r>
              <a:rPr lang="en-US" sz="1000" b="0" i="0" noProof="1">
                <a:solidFill>
                  <a:srgbClr val="FCA5A5"/>
                </a:solidFill>
                <a:latin typeface="Calibri"/>
              </a:rPr>
              <a:t>likely-child</a:t>
            </a:r>
          </a:p>
        </p:txBody>
      </p:sp>
      <p:sp>
        <p:nvSpPr>
          <p:cNvPr id="16" name="TextBox 15"/>
          <p:cNvSpPr txBox="1"/>
          <p:nvPr/>
        </p:nvSpPr>
        <p:spPr>
          <a:xfrm>
            <a:off x="8778240" y="3054096"/>
            <a:ext cx="1920240" cy="384048"/>
          </a:xfrm>
          <a:prstGeom prst="rect">
            <a:avLst/>
          </a:prstGeom>
          <a:noFill/>
        </p:spPr>
        <p:txBody>
          <a:bodyPr wrap="square" lIns="0" tIns="0" rIns="0" bIns="0">
            <a:spAutoFit/>
          </a:bodyPr>
          <a:lstStyle/>
          <a:p>
            <a:pPr algn="r"/>
            <a:r>
              <a:rPr lang="en-US" sz="1000" b="0" i="0" noProof="1">
                <a:solidFill>
                  <a:srgbClr val="FCD34D"/>
                </a:solidFill>
                <a:latin typeface="Calibri"/>
              </a:rPr>
              <a:t>likely-teen</a:t>
            </a:r>
          </a:p>
        </p:txBody>
      </p:sp>
      <p:sp>
        <p:nvSpPr>
          <p:cNvPr id="17" name="TextBox 16"/>
          <p:cNvSpPr txBox="1"/>
          <p:nvPr/>
        </p:nvSpPr>
        <p:spPr>
          <a:xfrm>
            <a:off x="8778240" y="4151376"/>
            <a:ext cx="1920240" cy="384048"/>
          </a:xfrm>
          <a:prstGeom prst="rect">
            <a:avLst/>
          </a:prstGeom>
          <a:noFill/>
        </p:spPr>
        <p:txBody>
          <a:bodyPr wrap="square" lIns="0" tIns="0" rIns="0" bIns="0">
            <a:spAutoFit/>
          </a:bodyPr>
          <a:lstStyle/>
          <a:p>
            <a:pPr algn="r"/>
            <a:r>
              <a:rPr lang="en-US" sz="1000" b="0" i="0" noProof="1">
                <a:solidFill>
                  <a:srgbClr val="6EE7B7"/>
                </a:solidFill>
                <a:latin typeface="Calibri"/>
              </a:rPr>
              <a:t>likely-adult</a:t>
            </a:r>
          </a:p>
        </p:txBody>
      </p:sp>
      <p:sp>
        <p:nvSpPr>
          <p:cNvPr id="18" name="Rectangle 17"/>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20" name="TextBox 19"/>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1 /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The Problem</a:t>
            </a:r>
          </a:p>
        </p:txBody>
      </p:sp>
      <p:sp>
        <p:nvSpPr>
          <p:cNvPr id="4" name="Rounded Rectangle 3"/>
          <p:cNvSpPr/>
          <p:nvPr/>
        </p:nvSpPr>
        <p:spPr>
          <a:xfrm>
            <a:off x="411480" y="1353312"/>
            <a:ext cx="11365992" cy="1097280"/>
          </a:xfrm>
          <a:prstGeom prst="roundRect">
            <a:avLst/>
          </a:prstGeom>
          <a:solidFill>
            <a:srgbClr val="16163A"/>
          </a:solidFill>
          <a:ln w="12700">
            <a:solidFill>
              <a:srgbClr val="2D2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444752"/>
            <a:ext cx="11018520" cy="868680"/>
          </a:xfrm>
          <a:prstGeom prst="rect">
            <a:avLst/>
          </a:prstGeom>
          <a:noFill/>
        </p:spPr>
        <p:txBody>
          <a:bodyPr wrap="square" lIns="0" tIns="0" rIns="0" bIns="0">
            <a:spAutoFit/>
          </a:bodyPr>
          <a:lstStyle/>
          <a:p>
            <a:pPr algn="ctr"/>
            <a:r>
              <a:rPr lang="en-US" sz="2400" b="1" i="0" noProof="1">
                <a:solidFill>
                  <a:srgbClr val="F59E0B"/>
                </a:solidFill>
                <a:latin typeface="Calibri"/>
              </a:rPr>
              <a:t>A 12-year-old and a 40-year-old look identical to your AI.</a:t>
            </a:r>
          </a:p>
        </p:txBody>
      </p:sp>
      <p:sp>
        <p:nvSpPr>
          <p:cNvPr id="6" name="Rounded Rectangle 5"/>
          <p:cNvSpPr/>
          <p:nvPr/>
        </p:nvSpPr>
        <p:spPr>
          <a:xfrm>
            <a:off x="411480" y="2633472"/>
            <a:ext cx="5440680" cy="3429000"/>
          </a:xfrm>
          <a:prstGeom prst="round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724912"/>
            <a:ext cx="5074920" cy="365760"/>
          </a:xfrm>
          <a:prstGeom prst="rect">
            <a:avLst/>
          </a:prstGeom>
          <a:noFill/>
        </p:spPr>
        <p:txBody>
          <a:bodyPr wrap="square" lIns="0" tIns="0" rIns="0" bIns="0">
            <a:spAutoFit/>
          </a:bodyPr>
          <a:lstStyle/>
          <a:p>
            <a:pPr algn="l"/>
            <a:r>
              <a:rPr lang="en-US" sz="1400" b="1" i="0" noProof="1">
                <a:solidFill>
                  <a:srgbClr val="FCA5A5"/>
                </a:solidFill>
                <a:latin typeface="Calibri"/>
              </a:rPr>
              <a:t>What products have</a:t>
            </a:r>
          </a:p>
        </p:txBody>
      </p:sp>
      <p:sp>
        <p:nvSpPr>
          <p:cNvPr id="8" name="Rounded Rectangle 7"/>
          <p:cNvSpPr/>
          <p:nvPr/>
        </p:nvSpPr>
        <p:spPr>
          <a:xfrm>
            <a:off x="521208" y="3200400"/>
            <a:ext cx="237744" cy="23774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alert.png"/>
          <p:cNvPicPr>
            <a:picLocks noChangeAspect="1"/>
          </p:cNvPicPr>
          <p:nvPr/>
        </p:nvPicPr>
        <p:blipFill>
          <a:blip r:embed="rId3"/>
          <a:stretch>
            <a:fillRect/>
          </a:stretch>
        </p:blipFill>
        <p:spPr>
          <a:xfrm>
            <a:off x="549737" y="3228929"/>
            <a:ext cx="180685" cy="180685"/>
          </a:xfrm>
          <a:prstGeom prst="rect">
            <a:avLst/>
          </a:prstGeom>
        </p:spPr>
      </p:pic>
      <p:sp>
        <p:nvSpPr>
          <p:cNvPr id="10" name="TextBox 9"/>
          <p:cNvSpPr txBox="1"/>
          <p:nvPr/>
        </p:nvSpPr>
        <p:spPr>
          <a:xfrm>
            <a:off x="832104" y="3200400"/>
            <a:ext cx="4910328" cy="402336"/>
          </a:xfrm>
          <a:prstGeom prst="rect">
            <a:avLst/>
          </a:prstGeom>
          <a:noFill/>
        </p:spPr>
        <p:txBody>
          <a:bodyPr wrap="square" lIns="0" tIns="0" rIns="0" bIns="0">
            <a:spAutoFit/>
          </a:bodyPr>
          <a:lstStyle/>
          <a:p>
            <a:pPr algn="l"/>
            <a:r>
              <a:rPr lang="en-US" sz="1200" b="0" i="0" noProof="1">
                <a:solidFill>
                  <a:srgbClr val="F1F5F9"/>
                </a:solidFill>
                <a:latin typeface="Calibri"/>
              </a:rPr>
              <a:t>A birthdate field at signup</a:t>
            </a:r>
          </a:p>
        </p:txBody>
      </p:sp>
      <p:sp>
        <p:nvSpPr>
          <p:cNvPr id="11" name="Rounded Rectangle 10"/>
          <p:cNvSpPr/>
          <p:nvPr/>
        </p:nvSpPr>
        <p:spPr>
          <a:xfrm>
            <a:off x="521208" y="3840480"/>
            <a:ext cx="237744" cy="23774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lert.png"/>
          <p:cNvPicPr>
            <a:picLocks noChangeAspect="1"/>
          </p:cNvPicPr>
          <p:nvPr/>
        </p:nvPicPr>
        <p:blipFill>
          <a:blip r:embed="rId3"/>
          <a:stretch>
            <a:fillRect/>
          </a:stretch>
        </p:blipFill>
        <p:spPr>
          <a:xfrm>
            <a:off x="549737" y="3869009"/>
            <a:ext cx="180685" cy="180685"/>
          </a:xfrm>
          <a:prstGeom prst="rect">
            <a:avLst/>
          </a:prstGeom>
        </p:spPr>
      </p:pic>
      <p:sp>
        <p:nvSpPr>
          <p:cNvPr id="13" name="TextBox 12"/>
          <p:cNvSpPr txBox="1"/>
          <p:nvPr/>
        </p:nvSpPr>
        <p:spPr>
          <a:xfrm>
            <a:off x="832104" y="3840480"/>
            <a:ext cx="4910328" cy="402336"/>
          </a:xfrm>
          <a:prstGeom prst="rect">
            <a:avLst/>
          </a:prstGeom>
          <a:noFill/>
        </p:spPr>
        <p:txBody>
          <a:bodyPr wrap="square" lIns="0" tIns="0" rIns="0" bIns="0">
            <a:spAutoFit/>
          </a:bodyPr>
          <a:lstStyle/>
          <a:p>
            <a:pPr algn="l"/>
            <a:r>
              <a:rPr lang="en-US" sz="1200" b="0" i="0" noProof="1">
                <a:solidFill>
                  <a:srgbClr val="F1F5F9"/>
                </a:solidFill>
                <a:latin typeface="Calibri"/>
              </a:rPr>
              <a:t>A kid who clicks through it</a:t>
            </a:r>
          </a:p>
        </p:txBody>
      </p:sp>
      <p:sp>
        <p:nvSpPr>
          <p:cNvPr id="14" name="Rounded Rectangle 13"/>
          <p:cNvSpPr/>
          <p:nvPr/>
        </p:nvSpPr>
        <p:spPr>
          <a:xfrm>
            <a:off x="521208" y="4480560"/>
            <a:ext cx="237744" cy="23774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alert.png"/>
          <p:cNvPicPr>
            <a:picLocks noChangeAspect="1"/>
          </p:cNvPicPr>
          <p:nvPr/>
        </p:nvPicPr>
        <p:blipFill>
          <a:blip r:embed="rId3"/>
          <a:stretch>
            <a:fillRect/>
          </a:stretch>
        </p:blipFill>
        <p:spPr>
          <a:xfrm>
            <a:off x="549737" y="4509089"/>
            <a:ext cx="180685" cy="180685"/>
          </a:xfrm>
          <a:prstGeom prst="rect">
            <a:avLst/>
          </a:prstGeom>
        </p:spPr>
      </p:pic>
      <p:sp>
        <p:nvSpPr>
          <p:cNvPr id="16" name="TextBox 15"/>
          <p:cNvSpPr txBox="1"/>
          <p:nvPr/>
        </p:nvSpPr>
        <p:spPr>
          <a:xfrm>
            <a:off x="832104" y="4480560"/>
            <a:ext cx="4910328" cy="402336"/>
          </a:xfrm>
          <a:prstGeom prst="rect">
            <a:avLst/>
          </a:prstGeom>
          <a:noFill/>
        </p:spPr>
        <p:txBody>
          <a:bodyPr wrap="square" lIns="0" tIns="0" rIns="0" bIns="0">
            <a:spAutoFit/>
          </a:bodyPr>
          <a:lstStyle/>
          <a:p>
            <a:pPr algn="l"/>
            <a:r>
              <a:rPr lang="en-US" sz="1200" b="0" i="0" noProof="1">
                <a:solidFill>
                  <a:srgbClr val="F1F5F9"/>
                </a:solidFill>
                <a:latin typeface="Calibri"/>
              </a:rPr>
              <a:t>Zero behavioral differentiation</a:t>
            </a:r>
          </a:p>
        </p:txBody>
      </p:sp>
      <p:sp>
        <p:nvSpPr>
          <p:cNvPr id="17" name="Rounded Rectangle 16"/>
          <p:cNvSpPr/>
          <p:nvPr/>
        </p:nvSpPr>
        <p:spPr>
          <a:xfrm>
            <a:off x="521208" y="5120640"/>
            <a:ext cx="237744" cy="23774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alert.png"/>
          <p:cNvPicPr>
            <a:picLocks noChangeAspect="1"/>
          </p:cNvPicPr>
          <p:nvPr/>
        </p:nvPicPr>
        <p:blipFill>
          <a:blip r:embed="rId3"/>
          <a:stretch>
            <a:fillRect/>
          </a:stretch>
        </p:blipFill>
        <p:spPr>
          <a:xfrm>
            <a:off x="549737" y="5149169"/>
            <a:ext cx="180685" cy="180685"/>
          </a:xfrm>
          <a:prstGeom prst="rect">
            <a:avLst/>
          </a:prstGeom>
        </p:spPr>
      </p:pic>
      <p:sp>
        <p:nvSpPr>
          <p:cNvPr id="19" name="TextBox 18"/>
          <p:cNvSpPr txBox="1"/>
          <p:nvPr/>
        </p:nvSpPr>
        <p:spPr>
          <a:xfrm>
            <a:off x="832104" y="5120640"/>
            <a:ext cx="4910328" cy="402336"/>
          </a:xfrm>
          <a:prstGeom prst="rect">
            <a:avLst/>
          </a:prstGeom>
          <a:noFill/>
        </p:spPr>
        <p:txBody>
          <a:bodyPr wrap="square" lIns="0" tIns="0" rIns="0" bIns="0">
            <a:spAutoFit/>
          </a:bodyPr>
          <a:lstStyle/>
          <a:p>
            <a:pPr algn="l"/>
            <a:r>
              <a:rPr lang="en-US" sz="1200" b="0" i="0" noProof="1">
                <a:solidFill>
                  <a:srgbClr val="F1F5F9"/>
                </a:solidFill>
                <a:latin typeface="Calibri"/>
              </a:rPr>
              <a:t>Same model: 12-yr-old and 40-yr-old</a:t>
            </a:r>
          </a:p>
        </p:txBody>
      </p:sp>
      <p:sp>
        <p:nvSpPr>
          <p:cNvPr id="20" name="TextBox 19"/>
          <p:cNvSpPr txBox="1"/>
          <p:nvPr/>
        </p:nvSpPr>
        <p:spPr>
          <a:xfrm>
            <a:off x="5897880" y="4119372"/>
            <a:ext cx="548640" cy="502920"/>
          </a:xfrm>
          <a:prstGeom prst="rect">
            <a:avLst/>
          </a:prstGeom>
          <a:noFill/>
        </p:spPr>
        <p:txBody>
          <a:bodyPr wrap="square" lIns="0" tIns="0" rIns="0" bIns="0">
            <a:spAutoFit/>
          </a:bodyPr>
          <a:lstStyle/>
          <a:p>
            <a:pPr algn="ctr"/>
            <a:r>
              <a:rPr lang="en-US" sz="2200" b="1" i="0" noProof="1">
                <a:solidFill>
                  <a:srgbClr val="F59E0B"/>
                </a:solidFill>
                <a:latin typeface="Calibri"/>
              </a:rPr>
              <a:t>&lt;--</a:t>
            </a:r>
          </a:p>
        </p:txBody>
      </p:sp>
      <p:sp>
        <p:nvSpPr>
          <p:cNvPr id="21" name="TextBox 20"/>
          <p:cNvSpPr txBox="1"/>
          <p:nvPr/>
        </p:nvSpPr>
        <p:spPr>
          <a:xfrm>
            <a:off x="5742432" y="4530852"/>
            <a:ext cx="896112" cy="329184"/>
          </a:xfrm>
          <a:prstGeom prst="rect">
            <a:avLst/>
          </a:prstGeom>
          <a:noFill/>
        </p:spPr>
        <p:txBody>
          <a:bodyPr wrap="square" lIns="0" tIns="0" rIns="0" bIns="0">
            <a:spAutoFit/>
          </a:bodyPr>
          <a:lstStyle/>
          <a:p>
            <a:pPr algn="ctr"/>
            <a:r>
              <a:rPr lang="en-US" sz="1000" b="0" i="0" noProof="1">
                <a:solidFill>
                  <a:srgbClr val="94A3B8"/>
                </a:solidFill>
                <a:latin typeface="Calibri"/>
              </a:rPr>
              <a:t>ignoring</a:t>
            </a:r>
          </a:p>
        </p:txBody>
      </p:sp>
      <p:sp>
        <p:nvSpPr>
          <p:cNvPr id="22" name="Rounded Rectangle 21"/>
          <p:cNvSpPr/>
          <p:nvPr/>
        </p:nvSpPr>
        <p:spPr>
          <a:xfrm>
            <a:off x="6400800" y="2633472"/>
            <a:ext cx="5376672" cy="3429000"/>
          </a:xfrm>
          <a:prstGeom prst="roundRect">
            <a:avLst/>
          </a:prstGeom>
          <a:solidFill>
            <a:srgbClr val="04221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2724912"/>
            <a:ext cx="5010912" cy="365760"/>
          </a:xfrm>
          <a:prstGeom prst="rect">
            <a:avLst/>
          </a:prstGeom>
          <a:noFill/>
        </p:spPr>
        <p:txBody>
          <a:bodyPr wrap="square" lIns="0" tIns="0" rIns="0" bIns="0">
            <a:spAutoFit/>
          </a:bodyPr>
          <a:lstStyle/>
          <a:p>
            <a:pPr algn="l"/>
            <a:r>
              <a:rPr lang="en-US" sz="1400" b="1" i="0" noProof="1">
                <a:solidFill>
                  <a:srgbClr val="6EE7B7"/>
                </a:solidFill>
                <a:latin typeface="Calibri"/>
              </a:rPr>
              <a:t>What's actually there</a:t>
            </a:r>
          </a:p>
        </p:txBody>
      </p:sp>
      <p:sp>
        <p:nvSpPr>
          <p:cNvPr id="24" name="Rounded Rectangle 23"/>
          <p:cNvSpPr/>
          <p:nvPr/>
        </p:nvSpPr>
        <p:spPr>
          <a:xfrm>
            <a:off x="6510528" y="3200400"/>
            <a:ext cx="237744" cy="237744"/>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hat.png"/>
          <p:cNvPicPr>
            <a:picLocks noChangeAspect="1"/>
          </p:cNvPicPr>
          <p:nvPr/>
        </p:nvPicPr>
        <p:blipFill>
          <a:blip r:embed="rId4"/>
          <a:stretch>
            <a:fillRect/>
          </a:stretch>
        </p:blipFill>
        <p:spPr>
          <a:xfrm>
            <a:off x="6539057" y="3228929"/>
            <a:ext cx="180685" cy="180685"/>
          </a:xfrm>
          <a:prstGeom prst="rect">
            <a:avLst/>
          </a:prstGeom>
        </p:spPr>
      </p:pic>
      <p:sp>
        <p:nvSpPr>
          <p:cNvPr id="26" name="TextBox 25"/>
          <p:cNvSpPr txBox="1"/>
          <p:nvPr/>
        </p:nvSpPr>
        <p:spPr>
          <a:xfrm>
            <a:off x="6821424" y="3200400"/>
            <a:ext cx="4846320" cy="402336"/>
          </a:xfrm>
          <a:prstGeom prst="rect">
            <a:avLst/>
          </a:prstGeom>
          <a:noFill/>
        </p:spPr>
        <p:txBody>
          <a:bodyPr wrap="square" lIns="0" tIns="0" rIns="0" bIns="0">
            <a:spAutoFit/>
          </a:bodyPr>
          <a:lstStyle/>
          <a:p>
            <a:pPr algn="l"/>
            <a:r>
              <a:rPr lang="en-US" sz="1200" b="0" i="0" noProof="1">
                <a:solidFill>
                  <a:srgbClr val="F1F5F9"/>
                </a:solidFill>
                <a:latin typeface="Calibri"/>
              </a:rPr>
              <a:t>Every message they write</a:t>
            </a:r>
          </a:p>
        </p:txBody>
      </p:sp>
      <p:sp>
        <p:nvSpPr>
          <p:cNvPr id="27" name="Rounded Rectangle 26"/>
          <p:cNvSpPr/>
          <p:nvPr/>
        </p:nvSpPr>
        <p:spPr>
          <a:xfrm>
            <a:off x="6510528" y="3840480"/>
            <a:ext cx="237744" cy="237744"/>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can.png"/>
          <p:cNvPicPr>
            <a:picLocks noChangeAspect="1"/>
          </p:cNvPicPr>
          <p:nvPr/>
        </p:nvPicPr>
        <p:blipFill>
          <a:blip r:embed="rId5"/>
          <a:stretch>
            <a:fillRect/>
          </a:stretch>
        </p:blipFill>
        <p:spPr>
          <a:xfrm>
            <a:off x="6539057" y="3869009"/>
            <a:ext cx="180685" cy="180685"/>
          </a:xfrm>
          <a:prstGeom prst="rect">
            <a:avLst/>
          </a:prstGeom>
        </p:spPr>
      </p:pic>
      <p:sp>
        <p:nvSpPr>
          <p:cNvPr id="29" name="TextBox 28"/>
          <p:cNvSpPr txBox="1"/>
          <p:nvPr/>
        </p:nvSpPr>
        <p:spPr>
          <a:xfrm>
            <a:off x="6821424" y="3840480"/>
            <a:ext cx="4846320" cy="402336"/>
          </a:xfrm>
          <a:prstGeom prst="rect">
            <a:avLst/>
          </a:prstGeom>
          <a:noFill/>
        </p:spPr>
        <p:txBody>
          <a:bodyPr wrap="square" lIns="0" tIns="0" rIns="0" bIns="0">
            <a:spAutoFit/>
          </a:bodyPr>
          <a:lstStyle/>
          <a:p>
            <a:pPr algn="l"/>
            <a:r>
              <a:rPr lang="en-US" sz="1200" b="0" i="0" noProof="1">
                <a:solidFill>
                  <a:srgbClr val="F1F5F9"/>
                </a:solidFill>
                <a:latin typeface="Calibri"/>
              </a:rPr>
              <a:t>Vocabulary and reading level</a:t>
            </a:r>
          </a:p>
        </p:txBody>
      </p:sp>
      <p:sp>
        <p:nvSpPr>
          <p:cNvPr id="30" name="Rounded Rectangle 29"/>
          <p:cNvSpPr/>
          <p:nvPr/>
        </p:nvSpPr>
        <p:spPr>
          <a:xfrm>
            <a:off x="6510528" y="4480560"/>
            <a:ext cx="237744" cy="237744"/>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database.png"/>
          <p:cNvPicPr>
            <a:picLocks noChangeAspect="1"/>
          </p:cNvPicPr>
          <p:nvPr/>
        </p:nvPicPr>
        <p:blipFill>
          <a:blip r:embed="rId6"/>
          <a:stretch>
            <a:fillRect/>
          </a:stretch>
        </p:blipFill>
        <p:spPr>
          <a:xfrm>
            <a:off x="6539057" y="4509089"/>
            <a:ext cx="180685" cy="180685"/>
          </a:xfrm>
          <a:prstGeom prst="rect">
            <a:avLst/>
          </a:prstGeom>
        </p:spPr>
      </p:pic>
      <p:sp>
        <p:nvSpPr>
          <p:cNvPr id="32" name="TextBox 31"/>
          <p:cNvSpPr txBox="1"/>
          <p:nvPr/>
        </p:nvSpPr>
        <p:spPr>
          <a:xfrm>
            <a:off x="6821424" y="4480560"/>
            <a:ext cx="4846320" cy="402336"/>
          </a:xfrm>
          <a:prstGeom prst="rect">
            <a:avLst/>
          </a:prstGeom>
          <a:noFill/>
        </p:spPr>
        <p:txBody>
          <a:bodyPr wrap="square" lIns="0" tIns="0" rIns="0" bIns="0">
            <a:spAutoFit/>
          </a:bodyPr>
          <a:lstStyle/>
          <a:p>
            <a:pPr algn="l"/>
            <a:r>
              <a:rPr lang="en-US" sz="1200" b="0" i="0" noProof="1">
                <a:solidFill>
                  <a:srgbClr val="F1F5F9"/>
                </a:solidFill>
                <a:latin typeface="Calibri"/>
              </a:rPr>
              <a:t>Topics: school, guardians, homework</a:t>
            </a:r>
          </a:p>
        </p:txBody>
      </p:sp>
      <p:sp>
        <p:nvSpPr>
          <p:cNvPr id="33" name="Rounded Rectangle 32"/>
          <p:cNvSpPr/>
          <p:nvPr/>
        </p:nvSpPr>
        <p:spPr>
          <a:xfrm>
            <a:off x="6510528" y="5120640"/>
            <a:ext cx="237744" cy="237744"/>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target.png"/>
          <p:cNvPicPr>
            <a:picLocks noChangeAspect="1"/>
          </p:cNvPicPr>
          <p:nvPr/>
        </p:nvPicPr>
        <p:blipFill>
          <a:blip r:embed="rId7"/>
          <a:stretch>
            <a:fillRect/>
          </a:stretch>
        </p:blipFill>
        <p:spPr>
          <a:xfrm>
            <a:off x="6539057" y="5149169"/>
            <a:ext cx="180685" cy="180685"/>
          </a:xfrm>
          <a:prstGeom prst="rect">
            <a:avLst/>
          </a:prstGeom>
        </p:spPr>
      </p:pic>
      <p:sp>
        <p:nvSpPr>
          <p:cNvPr id="35" name="TextBox 34"/>
          <p:cNvSpPr txBox="1"/>
          <p:nvPr/>
        </p:nvSpPr>
        <p:spPr>
          <a:xfrm>
            <a:off x="6821424" y="5120640"/>
            <a:ext cx="4846320" cy="402336"/>
          </a:xfrm>
          <a:prstGeom prst="rect">
            <a:avLst/>
          </a:prstGeom>
          <a:noFill/>
        </p:spPr>
        <p:txBody>
          <a:bodyPr wrap="square" lIns="0" tIns="0" rIns="0" bIns="0">
            <a:spAutoFit/>
          </a:bodyPr>
          <a:lstStyle/>
          <a:p>
            <a:pPr algn="l"/>
            <a:r>
              <a:rPr lang="en-US" sz="1200" b="0" i="0" noProof="1">
                <a:solidFill>
                  <a:srgbClr val="F1F5F9"/>
                </a:solidFill>
                <a:latin typeface="Calibri"/>
              </a:rPr>
              <a:t>Interaction style and confidence</a:t>
            </a:r>
          </a:p>
        </p:txBody>
      </p:sp>
      <p:sp>
        <p:nvSpPr>
          <p:cNvPr id="36" name="Rounded Rectangle 35"/>
          <p:cNvSpPr/>
          <p:nvPr/>
        </p:nvSpPr>
        <p:spPr>
          <a:xfrm>
            <a:off x="6510528" y="5760720"/>
            <a:ext cx="237744" cy="237744"/>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check.png"/>
          <p:cNvPicPr>
            <a:picLocks noChangeAspect="1"/>
          </p:cNvPicPr>
          <p:nvPr/>
        </p:nvPicPr>
        <p:blipFill>
          <a:blip r:embed="rId8"/>
          <a:stretch>
            <a:fillRect/>
          </a:stretch>
        </p:blipFill>
        <p:spPr>
          <a:xfrm>
            <a:off x="6539057" y="5789249"/>
            <a:ext cx="180685" cy="180685"/>
          </a:xfrm>
          <a:prstGeom prst="rect">
            <a:avLst/>
          </a:prstGeom>
        </p:spPr>
      </p:pic>
      <p:sp>
        <p:nvSpPr>
          <p:cNvPr id="38" name="TextBox 37"/>
          <p:cNvSpPr txBox="1"/>
          <p:nvPr/>
        </p:nvSpPr>
        <p:spPr>
          <a:xfrm>
            <a:off x="6821424" y="5760720"/>
            <a:ext cx="4846320" cy="402336"/>
          </a:xfrm>
          <a:prstGeom prst="rect">
            <a:avLst/>
          </a:prstGeom>
          <a:noFill/>
        </p:spPr>
        <p:txBody>
          <a:bodyPr wrap="square" lIns="0" tIns="0" rIns="0" bIns="0">
            <a:spAutoFit/>
          </a:bodyPr>
          <a:lstStyle/>
          <a:p>
            <a:pPr algn="l"/>
            <a:r>
              <a:rPr lang="en-US" sz="1200" b="0" i="0" noProof="1">
                <a:solidFill>
                  <a:srgbClr val="F1F5F9"/>
                </a:solidFill>
                <a:latin typeface="Calibri"/>
              </a:rPr>
              <a:t>Explicit disclosures (in 8th grade)</a:t>
            </a:r>
          </a:p>
        </p:txBody>
      </p:sp>
      <p:sp>
        <p:nvSpPr>
          <p:cNvPr id="39" name="Rectangle 38"/>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41" name="TextBox 40"/>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2 / 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The Insight — Not Detection. A Signal.</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Why the naive approach fails — and what AgeBand does instead</a:t>
            </a:r>
          </a:p>
        </p:txBody>
      </p:sp>
      <p:sp>
        <p:nvSpPr>
          <p:cNvPr id="5" name="Rounded Rectangle 4"/>
          <p:cNvSpPr/>
          <p:nvPr/>
        </p:nvSpPr>
        <p:spPr>
          <a:xfrm>
            <a:off x="411480" y="1691640"/>
            <a:ext cx="5303520" cy="4389120"/>
          </a:xfrm>
          <a:prstGeom prst="round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783080"/>
            <a:ext cx="4937760" cy="384048"/>
          </a:xfrm>
          <a:prstGeom prst="rect">
            <a:avLst/>
          </a:prstGeom>
          <a:noFill/>
        </p:spPr>
        <p:txBody>
          <a:bodyPr wrap="square" lIns="0" tIns="0" rIns="0" bIns="0">
            <a:spAutoFit/>
          </a:bodyPr>
          <a:lstStyle/>
          <a:p>
            <a:pPr algn="l"/>
            <a:r>
              <a:rPr lang="en-US" sz="1500" b="1" i="0" noProof="1">
                <a:solidFill>
                  <a:srgbClr val="FCA5A5"/>
                </a:solidFill>
                <a:latin typeface="Calibri"/>
              </a:rPr>
              <a:t>✗  Naive age detection</a:t>
            </a:r>
          </a:p>
        </p:txBody>
      </p:sp>
      <p:sp>
        <p:nvSpPr>
          <p:cNvPr id="7" name="TextBox 6"/>
          <p:cNvSpPr txBox="1"/>
          <p:nvPr/>
        </p:nvSpPr>
        <p:spPr>
          <a:xfrm>
            <a:off x="594360" y="2267712"/>
            <a:ext cx="4937760" cy="292608"/>
          </a:xfrm>
          <a:prstGeom prst="rect">
            <a:avLst/>
          </a:prstGeom>
          <a:noFill/>
        </p:spPr>
        <p:txBody>
          <a:bodyPr wrap="square" lIns="0" tIns="0" rIns="0" bIns="0">
            <a:spAutoFit/>
          </a:bodyPr>
          <a:lstStyle/>
          <a:p>
            <a:pPr algn="l"/>
            <a:r>
              <a:rPr lang="en-US" sz="1200" b="1" i="0" noProof="1">
                <a:solidFill>
                  <a:srgbClr val="FCA5A5"/>
                </a:solidFill>
                <a:latin typeface="Calibri"/>
              </a:rPr>
              <a:t>• Accuracy trap</a:t>
            </a:r>
          </a:p>
        </p:txBody>
      </p:sp>
      <p:sp>
        <p:nvSpPr>
          <p:cNvPr id="8" name="TextBox 7"/>
          <p:cNvSpPr txBox="1"/>
          <p:nvPr/>
        </p:nvSpPr>
        <p:spPr>
          <a:xfrm>
            <a:off x="594360" y="2523744"/>
            <a:ext cx="4937760" cy="475488"/>
          </a:xfrm>
          <a:prstGeom prst="rect">
            <a:avLst/>
          </a:prstGeom>
          <a:noFill/>
        </p:spPr>
        <p:txBody>
          <a:bodyPr wrap="square" lIns="0" tIns="0" rIns="0" bIns="0">
            <a:spAutoFit/>
          </a:bodyPr>
          <a:lstStyle/>
          <a:p>
            <a:pPr algn="l"/>
            <a:r>
              <a:rPr lang="en-US" sz="1100" b="0" i="0" noProof="1">
                <a:solidFill>
                  <a:srgbClr val="94A3B8"/>
                </a:solidFill>
                <a:latin typeface="Calibri"/>
              </a:rPr>
              <a:t>  Can't reliably tell 16 from 18 from text. Any precise
age claim is false precision.</a:t>
            </a:r>
          </a:p>
        </p:txBody>
      </p:sp>
      <p:sp>
        <p:nvSpPr>
          <p:cNvPr id="9" name="TextBox 8"/>
          <p:cNvSpPr txBox="1"/>
          <p:nvPr/>
        </p:nvSpPr>
        <p:spPr>
          <a:xfrm>
            <a:off x="594360" y="3136391"/>
            <a:ext cx="4937760" cy="292608"/>
          </a:xfrm>
          <a:prstGeom prst="rect">
            <a:avLst/>
          </a:prstGeom>
          <a:noFill/>
        </p:spPr>
        <p:txBody>
          <a:bodyPr wrap="square" lIns="0" tIns="0" rIns="0" bIns="0">
            <a:spAutoFit/>
          </a:bodyPr>
          <a:lstStyle/>
          <a:p>
            <a:pPr algn="l"/>
            <a:r>
              <a:rPr lang="en-US" sz="1200" b="1" i="0" noProof="1">
                <a:solidFill>
                  <a:srgbClr val="FCA5A5"/>
                </a:solidFill>
                <a:latin typeface="Calibri"/>
              </a:rPr>
              <a:t>• Bias trap</a:t>
            </a:r>
          </a:p>
        </p:txBody>
      </p:sp>
      <p:sp>
        <p:nvSpPr>
          <p:cNvPr id="10" name="TextBox 9"/>
          <p:cNvSpPr txBox="1"/>
          <p:nvPr/>
        </p:nvSpPr>
        <p:spPr>
          <a:xfrm>
            <a:off x="594360" y="3392424"/>
            <a:ext cx="4937760" cy="475488"/>
          </a:xfrm>
          <a:prstGeom prst="rect">
            <a:avLst/>
          </a:prstGeom>
          <a:noFill/>
        </p:spPr>
        <p:txBody>
          <a:bodyPr wrap="square" lIns="0" tIns="0" rIns="0" bIns="0">
            <a:spAutoFit/>
          </a:bodyPr>
          <a:lstStyle/>
          <a:p>
            <a:pPr algn="l"/>
            <a:r>
              <a:rPr lang="en-US" sz="1100" b="0" i="0" noProof="1">
                <a:solidFill>
                  <a:srgbClr val="94A3B8"/>
                </a:solidFill>
                <a:latin typeface="Calibri"/>
              </a:rPr>
              <a:t>  Vocabulary signals conflate native children with
non-native adults. Falls hardest on demographics.</a:t>
            </a:r>
          </a:p>
        </p:txBody>
      </p:sp>
      <p:sp>
        <p:nvSpPr>
          <p:cNvPr id="11" name="TextBox 10"/>
          <p:cNvSpPr txBox="1"/>
          <p:nvPr/>
        </p:nvSpPr>
        <p:spPr>
          <a:xfrm>
            <a:off x="594360" y="4005072"/>
            <a:ext cx="4937760" cy="292608"/>
          </a:xfrm>
          <a:prstGeom prst="rect">
            <a:avLst/>
          </a:prstGeom>
          <a:noFill/>
        </p:spPr>
        <p:txBody>
          <a:bodyPr wrap="square" lIns="0" tIns="0" rIns="0" bIns="0">
            <a:spAutoFit/>
          </a:bodyPr>
          <a:lstStyle/>
          <a:p>
            <a:pPr algn="l"/>
            <a:r>
              <a:rPr lang="en-US" sz="1200" b="1" i="0" noProof="1">
                <a:solidFill>
                  <a:srgbClr val="FCA5A5"/>
                </a:solidFill>
                <a:latin typeface="Calibri"/>
              </a:rPr>
              <a:t>• Privacy trap</a:t>
            </a:r>
          </a:p>
        </p:txBody>
      </p:sp>
      <p:sp>
        <p:nvSpPr>
          <p:cNvPr id="12" name="TextBox 11"/>
          <p:cNvSpPr txBox="1"/>
          <p:nvPr/>
        </p:nvSpPr>
        <p:spPr>
          <a:xfrm>
            <a:off x="594360" y="4261104"/>
            <a:ext cx="4937760" cy="475488"/>
          </a:xfrm>
          <a:prstGeom prst="rect">
            <a:avLst/>
          </a:prstGeom>
          <a:noFill/>
        </p:spPr>
        <p:txBody>
          <a:bodyPr wrap="square" lIns="0" tIns="0" rIns="0" bIns="0">
            <a:spAutoFit/>
          </a:bodyPr>
          <a:lstStyle/>
          <a:p>
            <a:pPr algn="l"/>
            <a:r>
              <a:rPr lang="en-US" sz="1100" b="0" i="0" noProof="1">
                <a:solidFill>
                  <a:srgbClr val="94A3B8"/>
                </a:solidFill>
                <a:latin typeface="Calibri"/>
              </a:rPr>
              <a:t>  Storing an inferred "this account is a child" flag
IS the sensitive profile you promised not to build.</a:t>
            </a:r>
          </a:p>
        </p:txBody>
      </p:sp>
      <p:sp>
        <p:nvSpPr>
          <p:cNvPr id="13" name="TextBox 12"/>
          <p:cNvSpPr txBox="1"/>
          <p:nvPr/>
        </p:nvSpPr>
        <p:spPr>
          <a:xfrm>
            <a:off x="594360" y="4873752"/>
            <a:ext cx="4937760" cy="292608"/>
          </a:xfrm>
          <a:prstGeom prst="rect">
            <a:avLst/>
          </a:prstGeom>
          <a:noFill/>
        </p:spPr>
        <p:txBody>
          <a:bodyPr wrap="square" lIns="0" tIns="0" rIns="0" bIns="0">
            <a:spAutoFit/>
          </a:bodyPr>
          <a:lstStyle/>
          <a:p>
            <a:pPr algn="l"/>
            <a:r>
              <a:rPr lang="en-US" sz="1200" b="1" i="0" noProof="1">
                <a:solidFill>
                  <a:srgbClr val="FCA5A5"/>
                </a:solidFill>
                <a:latin typeface="Calibri"/>
              </a:rPr>
              <a:t>• Hard-block trap</a:t>
            </a:r>
          </a:p>
        </p:txBody>
      </p:sp>
      <p:sp>
        <p:nvSpPr>
          <p:cNvPr id="14" name="TextBox 13"/>
          <p:cNvSpPr txBox="1"/>
          <p:nvPr/>
        </p:nvSpPr>
        <p:spPr>
          <a:xfrm>
            <a:off x="594360" y="5129784"/>
            <a:ext cx="4937760" cy="475488"/>
          </a:xfrm>
          <a:prstGeom prst="rect">
            <a:avLst/>
          </a:prstGeom>
          <a:noFill/>
        </p:spPr>
        <p:txBody>
          <a:bodyPr wrap="square" lIns="0" tIns="0" rIns="0" bIns="0">
            <a:spAutoFit/>
          </a:bodyPr>
          <a:lstStyle/>
          <a:p>
            <a:pPr algn="l"/>
            <a:r>
              <a:rPr lang="en-US" sz="1100" b="0" i="0" noProof="1">
                <a:solidFill>
                  <a:srgbClr val="94A3B8"/>
                </a:solidFill>
                <a:latin typeface="Calibri"/>
              </a:rPr>
              <a:t>  Silent restriction of a misclassified adult is a
real harm. No recovery path.</a:t>
            </a:r>
          </a:p>
        </p:txBody>
      </p:sp>
      <p:sp>
        <p:nvSpPr>
          <p:cNvPr id="15" name="Rectangle 14"/>
          <p:cNvSpPr/>
          <p:nvPr/>
        </p:nvSpPr>
        <p:spPr>
          <a:xfrm>
            <a:off x="5806440" y="1691640"/>
            <a:ext cx="36576" cy="4389120"/>
          </a:xfrm>
          <a:prstGeom prst="rect">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77840" y="3611880"/>
            <a:ext cx="493776" cy="457200"/>
          </a:xfrm>
          <a:prstGeom prst="rect">
            <a:avLst/>
          </a:prstGeom>
          <a:noFill/>
        </p:spPr>
        <p:txBody>
          <a:bodyPr wrap="square" lIns="0" tIns="0" rIns="0" bIns="0">
            <a:spAutoFit/>
          </a:bodyPr>
          <a:lstStyle/>
          <a:p>
            <a:pPr algn="ctr"/>
            <a:r>
              <a:rPr lang="en-US" sz="1600" b="1" i="0" noProof="1">
                <a:solidFill>
                  <a:srgbClr val="F59E0B"/>
                </a:solidFill>
                <a:latin typeface="Calibri"/>
              </a:rPr>
              <a:t>VS</a:t>
            </a:r>
          </a:p>
        </p:txBody>
      </p:sp>
      <p:sp>
        <p:nvSpPr>
          <p:cNvPr id="17" name="Rounded Rectangle 16"/>
          <p:cNvSpPr/>
          <p:nvPr/>
        </p:nvSpPr>
        <p:spPr>
          <a:xfrm>
            <a:off x="5943600" y="1691640"/>
            <a:ext cx="5788152" cy="4389120"/>
          </a:xfrm>
          <a:prstGeom prst="roundRect">
            <a:avLst/>
          </a:prstGeom>
          <a:solidFill>
            <a:srgbClr val="04221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1783080"/>
            <a:ext cx="5422392" cy="384048"/>
          </a:xfrm>
          <a:prstGeom prst="rect">
            <a:avLst/>
          </a:prstGeom>
          <a:noFill/>
        </p:spPr>
        <p:txBody>
          <a:bodyPr wrap="square" lIns="0" tIns="0" rIns="0" bIns="0">
            <a:spAutoFit/>
          </a:bodyPr>
          <a:lstStyle/>
          <a:p>
            <a:pPr algn="l"/>
            <a:r>
              <a:rPr lang="en-US" sz="1500" b="1" i="0" noProof="1">
                <a:solidFill>
                  <a:srgbClr val="6EE7B7"/>
                </a:solidFill>
                <a:latin typeface="Calibri"/>
              </a:rPr>
              <a:t>✓  AgeBand's reframe</a:t>
            </a:r>
          </a:p>
        </p:txBody>
      </p:sp>
      <p:sp>
        <p:nvSpPr>
          <p:cNvPr id="19" name="Rounded Rectangle 18"/>
          <p:cNvSpPr/>
          <p:nvPr/>
        </p:nvSpPr>
        <p:spPr>
          <a:xfrm>
            <a:off x="6126480" y="2267712"/>
            <a:ext cx="256032" cy="256032"/>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target.png"/>
          <p:cNvPicPr>
            <a:picLocks noChangeAspect="1"/>
          </p:cNvPicPr>
          <p:nvPr/>
        </p:nvPicPr>
        <p:blipFill>
          <a:blip r:embed="rId3"/>
          <a:stretch>
            <a:fillRect/>
          </a:stretch>
        </p:blipFill>
        <p:spPr>
          <a:xfrm>
            <a:off x="6157203" y="2298435"/>
            <a:ext cx="194584" cy="194584"/>
          </a:xfrm>
          <a:prstGeom prst="rect">
            <a:avLst/>
          </a:prstGeom>
        </p:spPr>
      </p:pic>
      <p:sp>
        <p:nvSpPr>
          <p:cNvPr id="21" name="TextBox 20"/>
          <p:cNvSpPr txBox="1"/>
          <p:nvPr/>
        </p:nvSpPr>
        <p:spPr>
          <a:xfrm>
            <a:off x="6446520" y="2267712"/>
            <a:ext cx="5120640" cy="292608"/>
          </a:xfrm>
          <a:prstGeom prst="rect">
            <a:avLst/>
          </a:prstGeom>
          <a:noFill/>
        </p:spPr>
        <p:txBody>
          <a:bodyPr wrap="square" lIns="0" tIns="0" rIns="0" bIns="0">
            <a:spAutoFit/>
          </a:bodyPr>
          <a:lstStyle/>
          <a:p>
            <a:pPr algn="l"/>
            <a:r>
              <a:rPr lang="en-US" sz="1200" b="1" i="0" noProof="1">
                <a:solidFill>
                  <a:srgbClr val="6EE7B7"/>
                </a:solidFill>
                <a:latin typeface="Calibri"/>
              </a:rPr>
              <a:t>Bands, not ages</a:t>
            </a:r>
          </a:p>
        </p:txBody>
      </p:sp>
      <p:sp>
        <p:nvSpPr>
          <p:cNvPr id="22" name="TextBox 21"/>
          <p:cNvSpPr txBox="1"/>
          <p:nvPr/>
        </p:nvSpPr>
        <p:spPr>
          <a:xfrm>
            <a:off x="6446520" y="2523744"/>
            <a:ext cx="5120640" cy="475488"/>
          </a:xfrm>
          <a:prstGeom prst="rect">
            <a:avLst/>
          </a:prstGeom>
          <a:noFill/>
        </p:spPr>
        <p:txBody>
          <a:bodyPr wrap="square" lIns="0" tIns="0" rIns="0" bIns="0">
            <a:spAutoFit/>
          </a:bodyPr>
          <a:lstStyle/>
          <a:p>
            <a:pPr algn="l"/>
            <a:r>
              <a:rPr lang="en-US" sz="1100" b="0" i="0" noProof="1">
                <a:solidFill>
                  <a:srgbClr val="94A3B8"/>
                </a:solidFill>
                <a:latin typeface="Calibri"/>
              </a:rPr>
              <a:t>Output is child / teen / adult / unknown + confidence.
Text can't tell 16 from 18 — so we don't pretend.</a:t>
            </a:r>
          </a:p>
        </p:txBody>
      </p:sp>
      <p:sp>
        <p:nvSpPr>
          <p:cNvPr id="23" name="Rounded Rectangle 22"/>
          <p:cNvSpPr/>
          <p:nvPr/>
        </p:nvSpPr>
        <p:spPr>
          <a:xfrm>
            <a:off x="6126480" y="3136391"/>
            <a:ext cx="256032" cy="256032"/>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scan.png"/>
          <p:cNvPicPr>
            <a:picLocks noChangeAspect="1"/>
          </p:cNvPicPr>
          <p:nvPr/>
        </p:nvPicPr>
        <p:blipFill>
          <a:blip r:embed="rId4"/>
          <a:stretch>
            <a:fillRect/>
          </a:stretch>
        </p:blipFill>
        <p:spPr>
          <a:xfrm>
            <a:off x="6157203" y="3167115"/>
            <a:ext cx="194584" cy="194584"/>
          </a:xfrm>
          <a:prstGeom prst="rect">
            <a:avLst/>
          </a:prstGeom>
        </p:spPr>
      </p:pic>
      <p:sp>
        <p:nvSpPr>
          <p:cNvPr id="25" name="TextBox 24"/>
          <p:cNvSpPr txBox="1"/>
          <p:nvPr/>
        </p:nvSpPr>
        <p:spPr>
          <a:xfrm>
            <a:off x="6446520" y="3136391"/>
            <a:ext cx="5120640" cy="292608"/>
          </a:xfrm>
          <a:prstGeom prst="rect">
            <a:avLst/>
          </a:prstGeom>
          <a:noFill/>
        </p:spPr>
        <p:txBody>
          <a:bodyPr wrap="square" lIns="0" tIns="0" rIns="0" bIns="0">
            <a:spAutoFit/>
          </a:bodyPr>
          <a:lstStyle/>
          <a:p>
            <a:pPr algn="l"/>
            <a:r>
              <a:rPr lang="en-US" sz="1200" b="1" i="0" noProof="1">
                <a:solidFill>
                  <a:srgbClr val="6EE7B7"/>
                </a:solidFill>
                <a:latin typeface="Calibri"/>
              </a:rPr>
              <a:t>Passive chat signal</a:t>
            </a:r>
          </a:p>
        </p:txBody>
      </p:sp>
      <p:sp>
        <p:nvSpPr>
          <p:cNvPr id="26" name="TextBox 25"/>
          <p:cNvSpPr txBox="1"/>
          <p:nvPr/>
        </p:nvSpPr>
        <p:spPr>
          <a:xfrm>
            <a:off x="6446520" y="3392424"/>
            <a:ext cx="5120640" cy="475488"/>
          </a:xfrm>
          <a:prstGeom prst="rect">
            <a:avLst/>
          </a:prstGeom>
          <a:noFill/>
        </p:spPr>
        <p:txBody>
          <a:bodyPr wrap="square" lIns="0" tIns="0" rIns="0" bIns="0">
            <a:spAutoFit/>
          </a:bodyPr>
          <a:lstStyle/>
          <a:p>
            <a:pPr algn="l"/>
            <a:r>
              <a:rPr lang="en-US" sz="1100" b="0" i="0" noProof="1">
                <a:solidFill>
                  <a:srgbClr val="94A3B8"/>
                </a:solidFill>
                <a:latin typeface="Calibri"/>
              </a:rPr>
              <a:t>Reads what's already in the conversation. No cameras,
no extra prompts, no interruption.</a:t>
            </a:r>
          </a:p>
        </p:txBody>
      </p:sp>
      <p:sp>
        <p:nvSpPr>
          <p:cNvPr id="27" name="Rounded Rectangle 26"/>
          <p:cNvSpPr/>
          <p:nvPr/>
        </p:nvSpPr>
        <p:spPr>
          <a:xfrm>
            <a:off x="6126480" y="4005072"/>
            <a:ext cx="256032" cy="256032"/>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teps.png"/>
          <p:cNvPicPr>
            <a:picLocks noChangeAspect="1"/>
          </p:cNvPicPr>
          <p:nvPr/>
        </p:nvPicPr>
        <p:blipFill>
          <a:blip r:embed="rId5"/>
          <a:stretch>
            <a:fillRect/>
          </a:stretch>
        </p:blipFill>
        <p:spPr>
          <a:xfrm>
            <a:off x="6157203" y="4035795"/>
            <a:ext cx="194584" cy="194584"/>
          </a:xfrm>
          <a:prstGeom prst="rect">
            <a:avLst/>
          </a:prstGeom>
        </p:spPr>
      </p:pic>
      <p:sp>
        <p:nvSpPr>
          <p:cNvPr id="29" name="TextBox 28"/>
          <p:cNvSpPr txBox="1"/>
          <p:nvPr/>
        </p:nvSpPr>
        <p:spPr>
          <a:xfrm>
            <a:off x="6446520" y="4005072"/>
            <a:ext cx="5120640" cy="292608"/>
          </a:xfrm>
          <a:prstGeom prst="rect">
            <a:avLst/>
          </a:prstGeom>
          <a:noFill/>
        </p:spPr>
        <p:txBody>
          <a:bodyPr wrap="square" lIns="0" tIns="0" rIns="0" bIns="0">
            <a:spAutoFit/>
          </a:bodyPr>
          <a:lstStyle/>
          <a:p>
            <a:pPr algn="l"/>
            <a:r>
              <a:rPr lang="en-US" sz="1200" b="1" i="0" noProof="1">
                <a:solidFill>
                  <a:srgbClr val="6EE7B7"/>
                </a:solidFill>
                <a:latin typeface="Calibri"/>
              </a:rPr>
              <a:t>Graduated, not blocked</a:t>
            </a:r>
          </a:p>
        </p:txBody>
      </p:sp>
      <p:sp>
        <p:nvSpPr>
          <p:cNvPr id="30" name="TextBox 29"/>
          <p:cNvSpPr txBox="1"/>
          <p:nvPr/>
        </p:nvSpPr>
        <p:spPr>
          <a:xfrm>
            <a:off x="6446520" y="4261104"/>
            <a:ext cx="5120640" cy="475488"/>
          </a:xfrm>
          <a:prstGeom prst="rect">
            <a:avLst/>
          </a:prstGeom>
          <a:noFill/>
        </p:spPr>
        <p:txBody>
          <a:bodyPr wrap="square" lIns="0" tIns="0" rIns="0" bIns="0">
            <a:spAutoFit/>
          </a:bodyPr>
          <a:lstStyle/>
          <a:p>
            <a:pPr algn="l"/>
            <a:r>
              <a:rPr lang="en-US" sz="1100" b="0" i="0" noProof="1">
                <a:solidFill>
                  <a:srgbClr val="94A3B8"/>
                </a:solidFill>
                <a:latin typeface="Calibri"/>
              </a:rPr>
              <a:t>Low confidence tightens filters quietly.
High confidence asks — never slams a door silently.</a:t>
            </a:r>
          </a:p>
        </p:txBody>
      </p:sp>
      <p:sp>
        <p:nvSpPr>
          <p:cNvPr id="31" name="Rounded Rectangle 30"/>
          <p:cNvSpPr/>
          <p:nvPr/>
        </p:nvSpPr>
        <p:spPr>
          <a:xfrm>
            <a:off x="6126480" y="4873752"/>
            <a:ext cx="256032" cy="256032"/>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lock.png"/>
          <p:cNvPicPr>
            <a:picLocks noChangeAspect="1"/>
          </p:cNvPicPr>
          <p:nvPr/>
        </p:nvPicPr>
        <p:blipFill>
          <a:blip r:embed="rId6"/>
          <a:stretch>
            <a:fillRect/>
          </a:stretch>
        </p:blipFill>
        <p:spPr>
          <a:xfrm>
            <a:off x="6157203" y="4904475"/>
            <a:ext cx="194584" cy="194584"/>
          </a:xfrm>
          <a:prstGeom prst="rect">
            <a:avLst/>
          </a:prstGeom>
        </p:spPr>
      </p:pic>
      <p:sp>
        <p:nvSpPr>
          <p:cNvPr id="33" name="TextBox 32"/>
          <p:cNvSpPr txBox="1"/>
          <p:nvPr/>
        </p:nvSpPr>
        <p:spPr>
          <a:xfrm>
            <a:off x="6446520" y="4873752"/>
            <a:ext cx="5120640" cy="292608"/>
          </a:xfrm>
          <a:prstGeom prst="rect">
            <a:avLst/>
          </a:prstGeom>
          <a:noFill/>
        </p:spPr>
        <p:txBody>
          <a:bodyPr wrap="square" lIns="0" tIns="0" rIns="0" bIns="0">
            <a:spAutoFit/>
          </a:bodyPr>
          <a:lstStyle/>
          <a:p>
            <a:pPr algn="l"/>
            <a:r>
              <a:rPr lang="en-US" sz="1200" b="1" i="0" noProof="1">
                <a:solidFill>
                  <a:srgbClr val="6EE7B7"/>
                </a:solidFill>
                <a:latin typeface="Calibri"/>
              </a:rPr>
              <a:t>Ephemeral by design</a:t>
            </a:r>
          </a:p>
        </p:txBody>
      </p:sp>
      <p:sp>
        <p:nvSpPr>
          <p:cNvPr id="34" name="TextBox 33"/>
          <p:cNvSpPr txBox="1"/>
          <p:nvPr/>
        </p:nvSpPr>
        <p:spPr>
          <a:xfrm>
            <a:off x="6446520" y="5129784"/>
            <a:ext cx="5120640" cy="475488"/>
          </a:xfrm>
          <a:prstGeom prst="rect">
            <a:avLst/>
          </a:prstGeom>
          <a:noFill/>
        </p:spPr>
        <p:txBody>
          <a:bodyPr wrap="square" lIns="0" tIns="0" rIns="0" bIns="0">
            <a:spAutoFit/>
          </a:bodyPr>
          <a:lstStyle/>
          <a:p>
            <a:pPr algn="l"/>
            <a:r>
              <a:rPr lang="en-US" sz="1100" b="0" i="0" noProof="1">
                <a:solidFill>
                  <a:srgbClr val="94A3B8"/>
                </a:solidFill>
                <a:latin typeface="Calibri"/>
              </a:rPr>
              <a:t>Inferred bands never persist. Only a user-confirmed
age may be stored — and only against an existing account.</a:t>
            </a:r>
          </a:p>
        </p:txBody>
      </p:sp>
      <p:sp>
        <p:nvSpPr>
          <p:cNvPr id="35" name="Rectangle 34"/>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37" name="TextBox 36"/>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3 /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What It Does — and What It Deliberately Doesn't</a:t>
            </a:r>
          </a:p>
        </p:txBody>
      </p:sp>
      <p:sp>
        <p:nvSpPr>
          <p:cNvPr id="4" name="Rounded Rectangle 3"/>
          <p:cNvSpPr/>
          <p:nvPr/>
        </p:nvSpPr>
        <p:spPr>
          <a:xfrm>
            <a:off x="411480" y="1325880"/>
            <a:ext cx="5577840" cy="4800600"/>
          </a:xfrm>
          <a:prstGeom prst="roundRect">
            <a:avLst/>
          </a:prstGeom>
          <a:solidFill>
            <a:srgbClr val="1616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30352" y="1371600"/>
            <a:ext cx="384048" cy="3840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eck.png"/>
          <p:cNvPicPr>
            <a:picLocks noChangeAspect="1"/>
          </p:cNvPicPr>
          <p:nvPr/>
        </p:nvPicPr>
        <p:blipFill>
          <a:blip r:embed="rId3"/>
          <a:stretch>
            <a:fillRect/>
          </a:stretch>
        </p:blipFill>
        <p:spPr>
          <a:xfrm>
            <a:off x="576437" y="1417685"/>
            <a:ext cx="291876" cy="291876"/>
          </a:xfrm>
          <a:prstGeom prst="rect">
            <a:avLst/>
          </a:prstGeom>
        </p:spPr>
      </p:pic>
      <p:sp>
        <p:nvSpPr>
          <p:cNvPr id="7" name="TextBox 6"/>
          <p:cNvSpPr txBox="1"/>
          <p:nvPr/>
        </p:nvSpPr>
        <p:spPr>
          <a:xfrm>
            <a:off x="969264" y="1417320"/>
            <a:ext cx="4791456" cy="384048"/>
          </a:xfrm>
          <a:prstGeom prst="rect">
            <a:avLst/>
          </a:prstGeom>
          <a:noFill/>
        </p:spPr>
        <p:txBody>
          <a:bodyPr wrap="square" lIns="0" tIns="0" rIns="0" bIns="0">
            <a:spAutoFit/>
          </a:bodyPr>
          <a:lstStyle/>
          <a:p>
            <a:pPr algn="l"/>
            <a:r>
              <a:rPr lang="en-US" sz="1600" b="1" i="0" noProof="1">
                <a:solidFill>
                  <a:srgbClr val="6EE7B7"/>
                </a:solidFill>
                <a:latin typeface="Calibri"/>
              </a:rPr>
              <a:t>Does</a:t>
            </a:r>
          </a:p>
        </p:txBody>
      </p:sp>
      <p:sp>
        <p:nvSpPr>
          <p:cNvPr id="8" name="Rectangle 7"/>
          <p:cNvSpPr/>
          <p:nvPr/>
        </p:nvSpPr>
        <p:spPr>
          <a:xfrm>
            <a:off x="502920" y="1901952"/>
            <a:ext cx="5394960" cy="237744"/>
          </a:xfrm>
          <a:prstGeom prst="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0352" y="1901952"/>
            <a:ext cx="237744" cy="237744"/>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pu.png"/>
          <p:cNvPicPr>
            <a:picLocks noChangeAspect="1"/>
          </p:cNvPicPr>
          <p:nvPr/>
        </p:nvPicPr>
        <p:blipFill>
          <a:blip r:embed="rId4"/>
          <a:stretch>
            <a:fillRect/>
          </a:stretch>
        </p:blipFill>
        <p:spPr>
          <a:xfrm>
            <a:off x="558881" y="1930481"/>
            <a:ext cx="180685" cy="180685"/>
          </a:xfrm>
          <a:prstGeom prst="rect">
            <a:avLst/>
          </a:prstGeom>
        </p:spPr>
      </p:pic>
      <p:sp>
        <p:nvSpPr>
          <p:cNvPr id="11" name="TextBox 10"/>
          <p:cNvSpPr txBox="1"/>
          <p:nvPr/>
        </p:nvSpPr>
        <p:spPr>
          <a:xfrm>
            <a:off x="822960" y="1920240"/>
            <a:ext cx="4864608" cy="219456"/>
          </a:xfrm>
          <a:prstGeom prst="rect">
            <a:avLst/>
          </a:prstGeom>
          <a:noFill/>
        </p:spPr>
        <p:txBody>
          <a:bodyPr wrap="square" lIns="0" tIns="0" rIns="0" bIns="0">
            <a:spAutoFit/>
          </a:bodyPr>
          <a:lstStyle/>
          <a:p>
            <a:pPr algn="l"/>
            <a:r>
              <a:rPr lang="en-US" sz="1200" b="1" i="0" noProof="1">
                <a:solidFill>
                  <a:srgbClr val="6EE7B7"/>
                </a:solidFill>
                <a:latin typeface="Calibri"/>
              </a:rPr>
              <a:t>Infers an age band + confidence</a:t>
            </a:r>
          </a:p>
        </p:txBody>
      </p:sp>
      <p:sp>
        <p:nvSpPr>
          <p:cNvPr id="12" name="TextBox 11"/>
          <p:cNvSpPr txBox="1"/>
          <p:nvPr/>
        </p:nvSpPr>
        <p:spPr>
          <a:xfrm>
            <a:off x="621792" y="2157984"/>
            <a:ext cx="5157216" cy="749808"/>
          </a:xfrm>
          <a:prstGeom prst="rect">
            <a:avLst/>
          </a:prstGeom>
          <a:noFill/>
        </p:spPr>
        <p:txBody>
          <a:bodyPr wrap="square" lIns="0" tIns="0" rIns="0" bIns="0">
            <a:spAutoFit/>
          </a:bodyPr>
          <a:lstStyle/>
          <a:p>
            <a:pPr algn="l"/>
            <a:r>
              <a:rPr lang="en-US" sz="1100" b="0" i="0" noProof="1">
                <a:solidFill>
                  <a:srgbClr val="F1F5F9"/>
                </a:solidFill>
                <a:latin typeface="Calibri"/>
              </a:rPr>
              <a:t>child / teen / adult / unknown — never a precise age.
Confidence is from countable evidence, not vibes.</a:t>
            </a:r>
          </a:p>
        </p:txBody>
      </p:sp>
      <p:sp>
        <p:nvSpPr>
          <p:cNvPr id="13" name="Rectangle 12"/>
          <p:cNvSpPr/>
          <p:nvPr/>
        </p:nvSpPr>
        <p:spPr>
          <a:xfrm>
            <a:off x="502920" y="2980944"/>
            <a:ext cx="5394960" cy="237744"/>
          </a:xfrm>
          <a:prstGeom prst="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30352" y="2980944"/>
            <a:ext cx="237744" cy="23774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teps.png"/>
          <p:cNvPicPr>
            <a:picLocks noChangeAspect="1"/>
          </p:cNvPicPr>
          <p:nvPr/>
        </p:nvPicPr>
        <p:blipFill>
          <a:blip r:embed="rId5"/>
          <a:stretch>
            <a:fillRect/>
          </a:stretch>
        </p:blipFill>
        <p:spPr>
          <a:xfrm>
            <a:off x="558881" y="3009473"/>
            <a:ext cx="180685" cy="180685"/>
          </a:xfrm>
          <a:prstGeom prst="rect">
            <a:avLst/>
          </a:prstGeom>
        </p:spPr>
      </p:pic>
      <p:sp>
        <p:nvSpPr>
          <p:cNvPr id="16" name="TextBox 15"/>
          <p:cNvSpPr txBox="1"/>
          <p:nvPr/>
        </p:nvSpPr>
        <p:spPr>
          <a:xfrm>
            <a:off x="822960" y="2999232"/>
            <a:ext cx="4864608" cy="219456"/>
          </a:xfrm>
          <a:prstGeom prst="rect">
            <a:avLst/>
          </a:prstGeom>
          <a:noFill/>
        </p:spPr>
        <p:txBody>
          <a:bodyPr wrap="square" lIns="0" tIns="0" rIns="0" bIns="0">
            <a:spAutoFit/>
          </a:bodyPr>
          <a:lstStyle/>
          <a:p>
            <a:pPr algn="l"/>
            <a:r>
              <a:rPr lang="en-US" sz="1200" b="1" i="0" noProof="1">
                <a:solidFill>
                  <a:srgbClr val="6EE7B7"/>
                </a:solidFill>
                <a:latin typeface="Calibri"/>
              </a:rPr>
              <a:t>Tightens safety gradually</a:t>
            </a:r>
          </a:p>
        </p:txBody>
      </p:sp>
      <p:sp>
        <p:nvSpPr>
          <p:cNvPr id="17" name="TextBox 16"/>
          <p:cNvSpPr txBox="1"/>
          <p:nvPr/>
        </p:nvSpPr>
        <p:spPr>
          <a:xfrm>
            <a:off x="621792" y="3236976"/>
            <a:ext cx="5157216" cy="749808"/>
          </a:xfrm>
          <a:prstGeom prst="rect">
            <a:avLst/>
          </a:prstGeom>
          <a:noFill/>
        </p:spPr>
        <p:txBody>
          <a:bodyPr wrap="square" lIns="0" tIns="0" rIns="0" bIns="0">
            <a:spAutoFit/>
          </a:bodyPr>
          <a:lstStyle/>
          <a:p>
            <a:pPr algn="l"/>
            <a:r>
              <a:rPr lang="en-US" sz="1100" b="0" i="0" noProof="1">
                <a:solidFill>
                  <a:srgbClr val="F1F5F9"/>
                </a:solidFill>
                <a:latin typeface="Calibri"/>
              </a:rPr>
              <a:t>Low confidence: quiet filter tightening.
High confidence + high-impact: asks to confirm.</a:t>
            </a:r>
          </a:p>
        </p:txBody>
      </p:sp>
      <p:sp>
        <p:nvSpPr>
          <p:cNvPr id="18" name="Rectangle 17"/>
          <p:cNvSpPr/>
          <p:nvPr/>
        </p:nvSpPr>
        <p:spPr>
          <a:xfrm>
            <a:off x="502920" y="4059935"/>
            <a:ext cx="5394960" cy="237744"/>
          </a:xfrm>
          <a:prstGeom prst="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30352" y="4059935"/>
            <a:ext cx="237744" cy="237744"/>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hand.png"/>
          <p:cNvPicPr>
            <a:picLocks noChangeAspect="1"/>
          </p:cNvPicPr>
          <p:nvPr/>
        </p:nvPicPr>
        <p:blipFill>
          <a:blip r:embed="rId6"/>
          <a:stretch>
            <a:fillRect/>
          </a:stretch>
        </p:blipFill>
        <p:spPr>
          <a:xfrm>
            <a:off x="558881" y="4088465"/>
            <a:ext cx="180685" cy="180685"/>
          </a:xfrm>
          <a:prstGeom prst="rect">
            <a:avLst/>
          </a:prstGeom>
        </p:spPr>
      </p:pic>
      <p:sp>
        <p:nvSpPr>
          <p:cNvPr id="21" name="TextBox 20"/>
          <p:cNvSpPr txBox="1"/>
          <p:nvPr/>
        </p:nvSpPr>
        <p:spPr>
          <a:xfrm>
            <a:off x="822960" y="4078223"/>
            <a:ext cx="4864608" cy="219456"/>
          </a:xfrm>
          <a:prstGeom prst="rect">
            <a:avLst/>
          </a:prstGeom>
          <a:noFill/>
        </p:spPr>
        <p:txBody>
          <a:bodyPr wrap="square" lIns="0" tIns="0" rIns="0" bIns="0">
            <a:spAutoFit/>
          </a:bodyPr>
          <a:lstStyle/>
          <a:p>
            <a:pPr algn="l"/>
            <a:r>
              <a:rPr lang="en-US" sz="1200" b="1" i="0" noProof="1">
                <a:solidFill>
                  <a:srgbClr val="6EE7B7"/>
                </a:solidFill>
                <a:latin typeface="Calibri"/>
              </a:rPr>
              <a:t>Asks, not assumes</a:t>
            </a:r>
          </a:p>
        </p:txBody>
      </p:sp>
      <p:sp>
        <p:nvSpPr>
          <p:cNvPr id="22" name="TextBox 21"/>
          <p:cNvSpPr txBox="1"/>
          <p:nvPr/>
        </p:nvSpPr>
        <p:spPr>
          <a:xfrm>
            <a:off x="621792" y="4315968"/>
            <a:ext cx="5157216" cy="749808"/>
          </a:xfrm>
          <a:prstGeom prst="rect">
            <a:avLst/>
          </a:prstGeom>
          <a:noFill/>
        </p:spPr>
        <p:txBody>
          <a:bodyPr wrap="square" lIns="0" tIns="0" rIns="0" bIns="0">
            <a:spAutoFit/>
          </a:bodyPr>
          <a:lstStyle/>
          <a:p>
            <a:pPr algn="l"/>
            <a:r>
              <a:rPr lang="en-US" sz="1100" b="0" i="0" noProof="1">
                <a:solidFill>
                  <a:srgbClr val="F1F5F9"/>
                </a:solidFill>
                <a:latin typeface="Calibri"/>
              </a:rPr>
              <a:t>Step-up requests confirmation rather than acting silently.
Explicit confirmation always overrides inference.</a:t>
            </a:r>
          </a:p>
        </p:txBody>
      </p:sp>
      <p:sp>
        <p:nvSpPr>
          <p:cNvPr id="23" name="Rectangle 22"/>
          <p:cNvSpPr/>
          <p:nvPr/>
        </p:nvSpPr>
        <p:spPr>
          <a:xfrm>
            <a:off x="502920" y="5138927"/>
            <a:ext cx="5394960" cy="237744"/>
          </a:xfrm>
          <a:prstGeom prst="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0352" y="5138927"/>
            <a:ext cx="237744" cy="237744"/>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lock.png"/>
          <p:cNvPicPr>
            <a:picLocks noChangeAspect="1"/>
          </p:cNvPicPr>
          <p:nvPr/>
        </p:nvPicPr>
        <p:blipFill>
          <a:blip r:embed="rId7"/>
          <a:stretch>
            <a:fillRect/>
          </a:stretch>
        </p:blipFill>
        <p:spPr>
          <a:xfrm>
            <a:off x="558881" y="5167457"/>
            <a:ext cx="180685" cy="180685"/>
          </a:xfrm>
          <a:prstGeom prst="rect">
            <a:avLst/>
          </a:prstGeom>
        </p:spPr>
      </p:pic>
      <p:sp>
        <p:nvSpPr>
          <p:cNvPr id="26" name="TextBox 25"/>
          <p:cNvSpPr txBox="1"/>
          <p:nvPr/>
        </p:nvSpPr>
        <p:spPr>
          <a:xfrm>
            <a:off x="822960" y="5157215"/>
            <a:ext cx="4864608" cy="219456"/>
          </a:xfrm>
          <a:prstGeom prst="rect">
            <a:avLst/>
          </a:prstGeom>
          <a:noFill/>
        </p:spPr>
        <p:txBody>
          <a:bodyPr wrap="square" lIns="0" tIns="0" rIns="0" bIns="0">
            <a:spAutoFit/>
          </a:bodyPr>
          <a:lstStyle/>
          <a:p>
            <a:pPr algn="l"/>
            <a:r>
              <a:rPr lang="en-US" sz="1200" b="1" i="0" noProof="1">
                <a:solidFill>
                  <a:srgbClr val="6EE7B7"/>
                </a:solidFill>
                <a:latin typeface="Calibri"/>
              </a:rPr>
              <a:t>Stays ephemeral</a:t>
            </a:r>
          </a:p>
        </p:txBody>
      </p:sp>
      <p:sp>
        <p:nvSpPr>
          <p:cNvPr id="27" name="TextBox 26"/>
          <p:cNvSpPr txBox="1"/>
          <p:nvPr/>
        </p:nvSpPr>
        <p:spPr>
          <a:xfrm>
            <a:off x="621792" y="5394959"/>
            <a:ext cx="5157216" cy="749808"/>
          </a:xfrm>
          <a:prstGeom prst="rect">
            <a:avLst/>
          </a:prstGeom>
          <a:noFill/>
        </p:spPr>
        <p:txBody>
          <a:bodyPr wrap="square" lIns="0" tIns="0" rIns="0" bIns="0">
            <a:spAutoFit/>
          </a:bodyPr>
          <a:lstStyle/>
          <a:p>
            <a:pPr algn="l"/>
            <a:r>
              <a:rPr lang="en-US" sz="1100" b="0" i="0" noProof="1">
                <a:solidFill>
                  <a:srgbClr val="F1F5F9"/>
                </a:solidFill>
                <a:latin typeface="Calibri"/>
              </a:rPr>
              <a:t>Session-scoped evidence, ephemeral band.
Only user-confirmed age may persist. No dossier.</a:t>
            </a:r>
          </a:p>
        </p:txBody>
      </p:sp>
      <p:sp>
        <p:nvSpPr>
          <p:cNvPr id="28" name="Rounded Rectangle 27"/>
          <p:cNvSpPr/>
          <p:nvPr/>
        </p:nvSpPr>
        <p:spPr>
          <a:xfrm>
            <a:off x="6126480" y="1325880"/>
            <a:ext cx="5577840" cy="4800600"/>
          </a:xfrm>
          <a:prstGeom prst="roundRect">
            <a:avLst/>
          </a:prstGeom>
          <a:solidFill>
            <a:srgbClr val="16163A"/>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245352" y="1371600"/>
            <a:ext cx="384048" cy="384048"/>
          </a:xfrm>
          <a:prstGeom prst="round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alert.png"/>
          <p:cNvPicPr>
            <a:picLocks noChangeAspect="1"/>
          </p:cNvPicPr>
          <p:nvPr/>
        </p:nvPicPr>
        <p:blipFill>
          <a:blip r:embed="rId8"/>
          <a:stretch>
            <a:fillRect/>
          </a:stretch>
        </p:blipFill>
        <p:spPr>
          <a:xfrm>
            <a:off x="6291437" y="1417685"/>
            <a:ext cx="291876" cy="291876"/>
          </a:xfrm>
          <a:prstGeom prst="rect">
            <a:avLst/>
          </a:prstGeom>
        </p:spPr>
      </p:pic>
      <p:sp>
        <p:nvSpPr>
          <p:cNvPr id="31" name="TextBox 30"/>
          <p:cNvSpPr txBox="1"/>
          <p:nvPr/>
        </p:nvSpPr>
        <p:spPr>
          <a:xfrm>
            <a:off x="6684264" y="1417320"/>
            <a:ext cx="4791456" cy="384048"/>
          </a:xfrm>
          <a:prstGeom prst="rect">
            <a:avLst/>
          </a:prstGeom>
          <a:noFill/>
        </p:spPr>
        <p:txBody>
          <a:bodyPr wrap="square" lIns="0" tIns="0" rIns="0" bIns="0">
            <a:spAutoFit/>
          </a:bodyPr>
          <a:lstStyle/>
          <a:p>
            <a:pPr algn="l"/>
            <a:r>
              <a:rPr lang="en-US" sz="1600" b="1" i="0" noProof="1">
                <a:solidFill>
                  <a:srgbClr val="FCA5A5"/>
                </a:solidFill>
                <a:latin typeface="Calibri"/>
              </a:rPr>
              <a:t>Does not</a:t>
            </a:r>
          </a:p>
        </p:txBody>
      </p:sp>
      <p:sp>
        <p:nvSpPr>
          <p:cNvPr id="32" name="Rectangle 31"/>
          <p:cNvSpPr/>
          <p:nvPr/>
        </p:nvSpPr>
        <p:spPr>
          <a:xfrm>
            <a:off x="6217920" y="1901952"/>
            <a:ext cx="5394960" cy="237744"/>
          </a:xfrm>
          <a:prstGeom prst="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245352" y="1901952"/>
            <a:ext cx="237744" cy="23774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alert.png"/>
          <p:cNvPicPr>
            <a:picLocks noChangeAspect="1"/>
          </p:cNvPicPr>
          <p:nvPr/>
        </p:nvPicPr>
        <p:blipFill>
          <a:blip r:embed="rId8"/>
          <a:stretch>
            <a:fillRect/>
          </a:stretch>
        </p:blipFill>
        <p:spPr>
          <a:xfrm>
            <a:off x="6273881" y="1930481"/>
            <a:ext cx="180685" cy="180685"/>
          </a:xfrm>
          <a:prstGeom prst="rect">
            <a:avLst/>
          </a:prstGeom>
        </p:spPr>
      </p:pic>
      <p:sp>
        <p:nvSpPr>
          <p:cNvPr id="35" name="TextBox 34"/>
          <p:cNvSpPr txBox="1"/>
          <p:nvPr/>
        </p:nvSpPr>
        <p:spPr>
          <a:xfrm>
            <a:off x="6537960" y="1920240"/>
            <a:ext cx="4773168" cy="219456"/>
          </a:xfrm>
          <a:prstGeom prst="rect">
            <a:avLst/>
          </a:prstGeom>
          <a:noFill/>
        </p:spPr>
        <p:txBody>
          <a:bodyPr wrap="square" lIns="0" tIns="0" rIns="0" bIns="0">
            <a:spAutoFit/>
          </a:bodyPr>
          <a:lstStyle/>
          <a:p>
            <a:pPr algn="l"/>
            <a:r>
              <a:rPr lang="en-US" sz="1200" b="1" i="0" noProof="1">
                <a:solidFill>
                  <a:srgbClr val="FCA5A5"/>
                </a:solidFill>
                <a:latin typeface="Calibri"/>
              </a:rPr>
              <a:t>Claim a precise age</a:t>
            </a:r>
          </a:p>
        </p:txBody>
      </p:sp>
      <p:sp>
        <p:nvSpPr>
          <p:cNvPr id="36" name="TextBox 35"/>
          <p:cNvSpPr txBox="1"/>
          <p:nvPr/>
        </p:nvSpPr>
        <p:spPr>
          <a:xfrm>
            <a:off x="6336792" y="2157984"/>
            <a:ext cx="5157216" cy="749808"/>
          </a:xfrm>
          <a:prstGeom prst="rect">
            <a:avLst/>
          </a:prstGeom>
          <a:noFill/>
        </p:spPr>
        <p:txBody>
          <a:bodyPr wrap="square" lIns="0" tIns="0" rIns="0" bIns="0">
            <a:spAutoFit/>
          </a:bodyPr>
          <a:lstStyle/>
          <a:p>
            <a:pPr algn="l"/>
            <a:r>
              <a:rPr lang="en-US" sz="1100" b="0" i="0" noProof="1">
                <a:solidFill>
                  <a:srgbClr val="F1F5F9"/>
                </a:solidFill>
                <a:latin typeface="Calibri"/>
              </a:rPr>
              <a:t>Text is noisy. 'You are 14' is false precision.
Honest output is a band and a confidence.</a:t>
            </a:r>
          </a:p>
        </p:txBody>
      </p:sp>
      <p:sp>
        <p:nvSpPr>
          <p:cNvPr id="37" name="Rectangle 36"/>
          <p:cNvSpPr/>
          <p:nvPr/>
        </p:nvSpPr>
        <p:spPr>
          <a:xfrm>
            <a:off x="6217920" y="2980944"/>
            <a:ext cx="5394960" cy="237744"/>
          </a:xfrm>
          <a:prstGeom prst="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245352" y="2980944"/>
            <a:ext cx="237744" cy="23774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alert.png"/>
          <p:cNvPicPr>
            <a:picLocks noChangeAspect="1"/>
          </p:cNvPicPr>
          <p:nvPr/>
        </p:nvPicPr>
        <p:blipFill>
          <a:blip r:embed="rId8"/>
          <a:stretch>
            <a:fillRect/>
          </a:stretch>
        </p:blipFill>
        <p:spPr>
          <a:xfrm>
            <a:off x="6273881" y="3009473"/>
            <a:ext cx="180685" cy="180685"/>
          </a:xfrm>
          <a:prstGeom prst="rect">
            <a:avLst/>
          </a:prstGeom>
        </p:spPr>
      </p:pic>
      <p:sp>
        <p:nvSpPr>
          <p:cNvPr id="40" name="TextBox 39"/>
          <p:cNvSpPr txBox="1"/>
          <p:nvPr/>
        </p:nvSpPr>
        <p:spPr>
          <a:xfrm>
            <a:off x="6537960" y="2999232"/>
            <a:ext cx="4773168" cy="219456"/>
          </a:xfrm>
          <a:prstGeom prst="rect">
            <a:avLst/>
          </a:prstGeom>
          <a:noFill/>
        </p:spPr>
        <p:txBody>
          <a:bodyPr wrap="square" lIns="0" tIns="0" rIns="0" bIns="0">
            <a:spAutoFit/>
          </a:bodyPr>
          <a:lstStyle/>
          <a:p>
            <a:pPr algn="l"/>
            <a:r>
              <a:rPr lang="en-US" sz="1200" b="1" i="0" noProof="1">
                <a:solidFill>
                  <a:srgbClr val="FCA5A5"/>
                </a:solidFill>
                <a:latin typeface="Calibri"/>
              </a:rPr>
              <a:t>Hard-block on a guess</a:t>
            </a:r>
          </a:p>
        </p:txBody>
      </p:sp>
      <p:sp>
        <p:nvSpPr>
          <p:cNvPr id="41" name="TextBox 40"/>
          <p:cNvSpPr txBox="1"/>
          <p:nvPr/>
        </p:nvSpPr>
        <p:spPr>
          <a:xfrm>
            <a:off x="6336792" y="3236976"/>
            <a:ext cx="5157216" cy="749808"/>
          </a:xfrm>
          <a:prstGeom prst="rect">
            <a:avLst/>
          </a:prstGeom>
          <a:noFill/>
        </p:spPr>
        <p:txBody>
          <a:bodyPr wrap="square" lIns="0" tIns="0" rIns="0" bIns="0">
            <a:spAutoFit/>
          </a:bodyPr>
          <a:lstStyle/>
          <a:p>
            <a:pPr algn="l"/>
            <a:r>
              <a:rPr lang="en-US" sz="1100" b="0" i="0" noProof="1">
                <a:solidFill>
                  <a:srgbClr val="F1F5F9"/>
                </a:solidFill>
                <a:latin typeface="Calibri"/>
              </a:rPr>
              <a:t>Silent restriction hurts non-native speakers.
Ask first; block only after confirmation.</a:t>
            </a:r>
          </a:p>
        </p:txBody>
      </p:sp>
      <p:sp>
        <p:nvSpPr>
          <p:cNvPr id="42" name="Rectangle 41"/>
          <p:cNvSpPr/>
          <p:nvPr/>
        </p:nvSpPr>
        <p:spPr>
          <a:xfrm>
            <a:off x="6217920" y="4059935"/>
            <a:ext cx="5394960" cy="237744"/>
          </a:xfrm>
          <a:prstGeom prst="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245352" y="4059935"/>
            <a:ext cx="237744" cy="23774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lock.png"/>
          <p:cNvPicPr>
            <a:picLocks noChangeAspect="1"/>
          </p:cNvPicPr>
          <p:nvPr/>
        </p:nvPicPr>
        <p:blipFill>
          <a:blip r:embed="rId7"/>
          <a:stretch>
            <a:fillRect/>
          </a:stretch>
        </p:blipFill>
        <p:spPr>
          <a:xfrm>
            <a:off x="6273881" y="4088465"/>
            <a:ext cx="180685" cy="180685"/>
          </a:xfrm>
          <a:prstGeom prst="rect">
            <a:avLst/>
          </a:prstGeom>
        </p:spPr>
      </p:pic>
      <p:sp>
        <p:nvSpPr>
          <p:cNvPr id="45" name="TextBox 44"/>
          <p:cNvSpPr txBox="1"/>
          <p:nvPr/>
        </p:nvSpPr>
        <p:spPr>
          <a:xfrm>
            <a:off x="6537960" y="4078223"/>
            <a:ext cx="4773168" cy="219456"/>
          </a:xfrm>
          <a:prstGeom prst="rect">
            <a:avLst/>
          </a:prstGeom>
          <a:noFill/>
        </p:spPr>
        <p:txBody>
          <a:bodyPr wrap="square" lIns="0" tIns="0" rIns="0" bIns="0">
            <a:spAutoFit/>
          </a:bodyPr>
          <a:lstStyle/>
          <a:p>
            <a:pPr algn="l"/>
            <a:r>
              <a:rPr lang="en-US" sz="1200" b="1" i="0" noProof="1">
                <a:solidFill>
                  <a:srgbClr val="FCA5A5"/>
                </a:solidFill>
                <a:latin typeface="Calibri"/>
              </a:rPr>
              <a:t>Build a profile</a:t>
            </a:r>
          </a:p>
        </p:txBody>
      </p:sp>
      <p:sp>
        <p:nvSpPr>
          <p:cNvPr id="46" name="TextBox 45"/>
          <p:cNvSpPr txBox="1"/>
          <p:nvPr/>
        </p:nvSpPr>
        <p:spPr>
          <a:xfrm>
            <a:off x="6336792" y="4315968"/>
            <a:ext cx="5157216" cy="749808"/>
          </a:xfrm>
          <a:prstGeom prst="rect">
            <a:avLst/>
          </a:prstGeom>
          <a:noFill/>
        </p:spPr>
        <p:txBody>
          <a:bodyPr wrap="square" lIns="0" tIns="0" rIns="0" bIns="0">
            <a:spAutoFit/>
          </a:bodyPr>
          <a:lstStyle/>
          <a:p>
            <a:pPr algn="l"/>
            <a:r>
              <a:rPr lang="en-US" sz="1100" b="0" i="0" noProof="1">
                <a:solidFill>
                  <a:srgbClr val="F1F5F9"/>
                </a:solidFill>
                <a:latin typeface="Calibri"/>
              </a:rPr>
              <a:t>No inferred-band flag persists across sessions.
The output is a signal, not surveillance.</a:t>
            </a:r>
          </a:p>
        </p:txBody>
      </p:sp>
      <p:sp>
        <p:nvSpPr>
          <p:cNvPr id="47" name="Rectangle 46"/>
          <p:cNvSpPr/>
          <p:nvPr/>
        </p:nvSpPr>
        <p:spPr>
          <a:xfrm>
            <a:off x="6217920" y="5138927"/>
            <a:ext cx="5394960" cy="237744"/>
          </a:xfrm>
          <a:prstGeom prst="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6245352" y="5138927"/>
            <a:ext cx="237744" cy="23774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shield.png"/>
          <p:cNvPicPr>
            <a:picLocks noChangeAspect="1"/>
          </p:cNvPicPr>
          <p:nvPr/>
        </p:nvPicPr>
        <p:blipFill>
          <a:blip r:embed="rId9"/>
          <a:stretch>
            <a:fillRect/>
          </a:stretch>
        </p:blipFill>
        <p:spPr>
          <a:xfrm>
            <a:off x="6273881" y="5167457"/>
            <a:ext cx="180685" cy="180685"/>
          </a:xfrm>
          <a:prstGeom prst="rect">
            <a:avLst/>
          </a:prstGeom>
        </p:spPr>
      </p:pic>
      <p:sp>
        <p:nvSpPr>
          <p:cNvPr id="50" name="TextBox 49"/>
          <p:cNvSpPr txBox="1"/>
          <p:nvPr/>
        </p:nvSpPr>
        <p:spPr>
          <a:xfrm>
            <a:off x="6537960" y="5157215"/>
            <a:ext cx="4773168" cy="219456"/>
          </a:xfrm>
          <a:prstGeom prst="rect">
            <a:avLst/>
          </a:prstGeom>
          <a:noFill/>
        </p:spPr>
        <p:txBody>
          <a:bodyPr wrap="square" lIns="0" tIns="0" rIns="0" bIns="0">
            <a:spAutoFit/>
          </a:bodyPr>
          <a:lstStyle/>
          <a:p>
            <a:pPr algn="l"/>
            <a:r>
              <a:rPr lang="en-US" sz="1200" b="1" i="0" noProof="1">
                <a:solidFill>
                  <a:srgbClr val="FCA5A5"/>
                </a:solidFill>
                <a:latin typeface="Calibri"/>
              </a:rPr>
              <a:t>Touch the reply model</a:t>
            </a:r>
          </a:p>
        </p:txBody>
      </p:sp>
      <p:sp>
        <p:nvSpPr>
          <p:cNvPr id="51" name="TextBox 50"/>
          <p:cNvSpPr txBox="1"/>
          <p:nvPr/>
        </p:nvSpPr>
        <p:spPr>
          <a:xfrm>
            <a:off x="6336792" y="5394959"/>
            <a:ext cx="5157216" cy="749808"/>
          </a:xfrm>
          <a:prstGeom prst="rect">
            <a:avLst/>
          </a:prstGeom>
          <a:noFill/>
        </p:spPr>
        <p:txBody>
          <a:bodyPr wrap="square" lIns="0" tIns="0" rIns="0" bIns="0">
            <a:spAutoFit/>
          </a:bodyPr>
          <a:lstStyle/>
          <a:p>
            <a:pPr algn="l"/>
            <a:r>
              <a:rPr lang="en-US" sz="1100" b="0" i="0" noProof="1">
                <a:solidFill>
                  <a:srgbClr val="F1F5F9"/>
                </a:solidFill>
                <a:latin typeface="Calibri"/>
              </a:rPr>
              <a:t>AgeBand emits a safety_posture — host enforces.
AgeBand never modifies the reply path.</a:t>
            </a:r>
          </a:p>
        </p:txBody>
      </p:sp>
      <p:sp>
        <p:nvSpPr>
          <p:cNvPr id="52" name="Rectangle 51"/>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54" name="TextBox 53"/>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4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The Loop Architecture</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Planner picks the route — deterministic guards decide the safety outcome — fail closed</a:t>
            </a:r>
          </a:p>
        </p:txBody>
      </p:sp>
      <p:sp>
        <p:nvSpPr>
          <p:cNvPr id="5" name="Rounded Rectangle 4"/>
          <p:cNvSpPr/>
          <p:nvPr/>
        </p:nvSpPr>
        <p:spPr>
          <a:xfrm>
            <a:off x="411480" y="1737360"/>
            <a:ext cx="2331720" cy="914400"/>
          </a:xfrm>
          <a:prstGeom prst="roundRect">
            <a:avLst/>
          </a:prstGeom>
          <a:solidFill>
            <a:srgbClr val="1E103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6344" y="1828800"/>
            <a:ext cx="2221991" cy="329184"/>
          </a:xfrm>
          <a:prstGeom prst="rect">
            <a:avLst/>
          </a:prstGeom>
          <a:noFill/>
        </p:spPr>
        <p:txBody>
          <a:bodyPr wrap="square" lIns="0" tIns="0" rIns="0" bIns="0">
            <a:spAutoFit/>
          </a:bodyPr>
          <a:lstStyle/>
          <a:p>
            <a:pPr algn="ctr"/>
            <a:r>
              <a:rPr lang="en-US" sz="1100" b="1" i="0" noProof="1">
                <a:solidFill>
                  <a:srgbClr val="F1F5F9"/>
                </a:solidFill>
                <a:latin typeface="Calibri"/>
              </a:rPr>
              <a:t>Planner  [LLM]</a:t>
            </a:r>
          </a:p>
        </p:txBody>
      </p:sp>
      <p:sp>
        <p:nvSpPr>
          <p:cNvPr id="7" name="TextBox 6"/>
          <p:cNvSpPr txBox="1"/>
          <p:nvPr/>
        </p:nvSpPr>
        <p:spPr>
          <a:xfrm>
            <a:off x="466344" y="2157984"/>
            <a:ext cx="2221991" cy="457200"/>
          </a:xfrm>
          <a:prstGeom prst="rect">
            <a:avLst/>
          </a:prstGeom>
          <a:noFill/>
        </p:spPr>
        <p:txBody>
          <a:bodyPr wrap="square" lIns="0" tIns="0" rIns="0" bIns="0">
            <a:spAutoFit/>
          </a:bodyPr>
          <a:lstStyle/>
          <a:p>
            <a:pPr algn="ctr"/>
            <a:r>
              <a:rPr lang="en-US" sz="800" b="0" i="0" noProof="1">
                <a:solidFill>
                  <a:srgbClr val="94A3B8"/>
                </a:solidFill>
                <a:latin typeface="Calibri"/>
              </a:rPr>
              <a:t>reads evidence state
picks route: settled / incr / full / urgent</a:t>
            </a:r>
          </a:p>
        </p:txBody>
      </p:sp>
      <p:sp>
        <p:nvSpPr>
          <p:cNvPr id="8" name="Rounded Rectangle 7"/>
          <p:cNvSpPr/>
          <p:nvPr/>
        </p:nvSpPr>
        <p:spPr>
          <a:xfrm>
            <a:off x="2971800" y="1737360"/>
            <a:ext cx="4343400" cy="914400"/>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26664" y="1828800"/>
            <a:ext cx="4233672" cy="329184"/>
          </a:xfrm>
          <a:prstGeom prst="rect">
            <a:avLst/>
          </a:prstGeom>
          <a:noFill/>
        </p:spPr>
        <p:txBody>
          <a:bodyPr wrap="square" lIns="0" tIns="0" rIns="0" bIns="0">
            <a:spAutoFit/>
          </a:bodyPr>
          <a:lstStyle/>
          <a:p>
            <a:pPr algn="ctr"/>
            <a:r>
              <a:rPr lang="en-US" sz="1100" b="1" i="0" noProof="1">
                <a:solidFill>
                  <a:srgbClr val="F1F5F9"/>
                </a:solidFill>
                <a:latin typeface="Calibri"/>
              </a:rPr>
              <a:t>Act  (route-dependent)</a:t>
            </a:r>
          </a:p>
        </p:txBody>
      </p:sp>
      <p:sp>
        <p:nvSpPr>
          <p:cNvPr id="10" name="TextBox 9"/>
          <p:cNvSpPr txBox="1"/>
          <p:nvPr/>
        </p:nvSpPr>
        <p:spPr>
          <a:xfrm>
            <a:off x="3026664" y="2157984"/>
            <a:ext cx="4233672" cy="457200"/>
          </a:xfrm>
          <a:prstGeom prst="rect">
            <a:avLst/>
          </a:prstGeom>
          <a:noFill/>
        </p:spPr>
        <p:txBody>
          <a:bodyPr wrap="square" lIns="0" tIns="0" rIns="0" bIns="0">
            <a:spAutoFit/>
          </a:bodyPr>
          <a:lstStyle/>
          <a:p>
            <a:pPr algn="ctr"/>
            <a:r>
              <a:rPr lang="en-US" sz="800" b="0" i="0" noProof="1">
                <a:solidFill>
                  <a:srgbClr val="94A3B8"/>
                </a:solidFill>
                <a:latin typeface="Calibri"/>
              </a:rPr>
              <a:t>settled: 0 LLM   incr: 1 LLM   full: 2 LLM   urgent: guards</a:t>
            </a:r>
          </a:p>
        </p:txBody>
      </p:sp>
      <p:sp>
        <p:nvSpPr>
          <p:cNvPr id="11" name="Rounded Rectangle 10"/>
          <p:cNvSpPr/>
          <p:nvPr/>
        </p:nvSpPr>
        <p:spPr>
          <a:xfrm>
            <a:off x="7543800" y="1737360"/>
            <a:ext cx="2240280" cy="914400"/>
          </a:xfrm>
          <a:prstGeom prst="roundRect">
            <a:avLst/>
          </a:prstGeom>
          <a:solidFill>
            <a:srgbClr val="16163A"/>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98664" y="1828800"/>
            <a:ext cx="2130552" cy="329184"/>
          </a:xfrm>
          <a:prstGeom prst="rect">
            <a:avLst/>
          </a:prstGeom>
          <a:noFill/>
        </p:spPr>
        <p:txBody>
          <a:bodyPr wrap="square" lIns="0" tIns="0" rIns="0" bIns="0">
            <a:spAutoFit/>
          </a:bodyPr>
          <a:lstStyle/>
          <a:p>
            <a:pPr algn="ctr"/>
            <a:r>
              <a:rPr lang="en-US" sz="1100" b="1" i="0" noProof="1">
                <a:solidFill>
                  <a:srgbClr val="F1F5F9"/>
                </a:solidFill>
                <a:latin typeface="Calibri"/>
              </a:rPr>
              <a:t>Observe</a:t>
            </a:r>
          </a:p>
        </p:txBody>
      </p:sp>
      <p:sp>
        <p:nvSpPr>
          <p:cNvPr id="13" name="TextBox 12"/>
          <p:cNvSpPr txBox="1"/>
          <p:nvPr/>
        </p:nvSpPr>
        <p:spPr>
          <a:xfrm>
            <a:off x="7598664" y="2157984"/>
            <a:ext cx="2130552" cy="457200"/>
          </a:xfrm>
          <a:prstGeom prst="rect">
            <a:avLst/>
          </a:prstGeom>
          <a:noFill/>
        </p:spPr>
        <p:txBody>
          <a:bodyPr wrap="square" lIns="0" tIns="0" rIns="0" bIns="0">
            <a:spAutoFit/>
          </a:bodyPr>
          <a:lstStyle/>
          <a:p>
            <a:pPr algn="ctr"/>
            <a:r>
              <a:rPr lang="en-US" sz="800" b="0" i="0" noProof="1">
                <a:solidFill>
                  <a:srgbClr val="94A3B8"/>
                </a:solidFill>
                <a:latin typeface="Calibri"/>
              </a:rPr>
              <a:t>evidence updated
tripwire: contradiction?</a:t>
            </a:r>
          </a:p>
        </p:txBody>
      </p:sp>
      <p:cxnSp>
        <p:nvCxnSpPr>
          <p:cNvPr id="14" name="Connector 13"/>
          <p:cNvCxnSpPr/>
          <p:nvPr/>
        </p:nvCxnSpPr>
        <p:spPr>
          <a:xfrm>
            <a:off x="2743200" y="2194560"/>
            <a:ext cx="228600" cy="0"/>
          </a:xfrm>
          <a:prstGeom prst="line">
            <a:avLst/>
          </a:prstGeom>
          <a:ln w="19050">
            <a:solidFill>
              <a:srgbClr val="6366F1"/>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315200" y="2194560"/>
            <a:ext cx="228600" cy="0"/>
          </a:xfrm>
          <a:prstGeom prst="line">
            <a:avLst/>
          </a:prstGeom>
          <a:ln w="19050">
            <a:solidFill>
              <a:srgbClr val="6366F1"/>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411480" y="2907791"/>
            <a:ext cx="9372600" cy="0"/>
          </a:xfrm>
          <a:prstGeom prst="line">
            <a:avLst/>
          </a:prstGeom>
          <a:ln w="12700">
            <a:solidFill>
              <a:srgbClr val="94A3B8"/>
            </a:solidFill>
            <a:tailEnd type="arrow"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34640" y="2926079"/>
            <a:ext cx="4663440" cy="201168"/>
          </a:xfrm>
          <a:prstGeom prst="rect">
            <a:avLst/>
          </a:prstGeom>
          <a:noFill/>
        </p:spPr>
        <p:txBody>
          <a:bodyPr wrap="square" lIns="0" tIns="0" rIns="0" bIns="0">
            <a:spAutoFit/>
          </a:bodyPr>
          <a:lstStyle/>
          <a:p>
            <a:pPr algn="ctr"/>
            <a:r>
              <a:rPr lang="en-US" sz="800" b="0" i="1" noProof="1">
                <a:solidFill>
                  <a:srgbClr val="94A3B8"/>
                </a:solidFill>
                <a:latin typeface="Calibri"/>
              </a:rPr>
              <a:t>observe  →  evidence feeds next Planner call  ↺</a:t>
            </a:r>
          </a:p>
        </p:txBody>
      </p:sp>
      <p:cxnSp>
        <p:nvCxnSpPr>
          <p:cNvPr id="18" name="Connector 17"/>
          <p:cNvCxnSpPr/>
          <p:nvPr/>
        </p:nvCxnSpPr>
        <p:spPr>
          <a:xfrm>
            <a:off x="5143500" y="2651760"/>
            <a:ext cx="0" cy="621792"/>
          </a:xfrm>
          <a:prstGeom prst="line">
            <a:avLst/>
          </a:prstGeom>
          <a:ln w="19050">
            <a:solidFill>
              <a:srgbClr val="F59E0B"/>
            </a:solidFill>
            <a:tailEnd type="arrow"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11480" y="3273552"/>
            <a:ext cx="6903720" cy="1170432"/>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6344" y="3364992"/>
            <a:ext cx="6793992" cy="329184"/>
          </a:xfrm>
          <a:prstGeom prst="rect">
            <a:avLst/>
          </a:prstGeom>
          <a:noFill/>
        </p:spPr>
        <p:txBody>
          <a:bodyPr wrap="square" lIns="0" tIns="0" rIns="0" bIns="0">
            <a:spAutoFit/>
          </a:bodyPr>
          <a:lstStyle/>
          <a:p>
            <a:pPr algn="ctr"/>
            <a:r>
              <a:rPr lang="en-US" sz="1200" b="1" i="0" noProof="1">
                <a:solidFill>
                  <a:srgbClr val="F1F5F9"/>
                </a:solidFill>
                <a:latin typeface="Calibri"/>
              </a:rPr>
              <a:t>Deterministic Guards  [always run · fail closed]</a:t>
            </a:r>
          </a:p>
        </p:txBody>
      </p:sp>
      <p:sp>
        <p:nvSpPr>
          <p:cNvPr id="21" name="TextBox 20"/>
          <p:cNvSpPr txBox="1"/>
          <p:nvPr/>
        </p:nvSpPr>
        <p:spPr>
          <a:xfrm>
            <a:off x="466344" y="3694176"/>
            <a:ext cx="6793992" cy="713232"/>
          </a:xfrm>
          <a:prstGeom prst="rect">
            <a:avLst/>
          </a:prstGeom>
          <a:noFill/>
        </p:spPr>
        <p:txBody>
          <a:bodyPr wrap="square" lIns="0" tIns="0" rIns="0" bIns="0">
            <a:spAutoFit/>
          </a:bodyPr>
          <a:lstStyle/>
          <a:p>
            <a:pPr algn="ctr"/>
            <a:r>
              <a:rPr lang="en-US" sz="900" b="0" i="0" noProof="1">
                <a:solidFill>
                  <a:srgbClr val="94A3B8"/>
                </a:solidFill>
                <a:latin typeface="Calibri"/>
              </a:rPr>
              <a:t>policy_gate(band, conf)  -&gt;  apply / step_up / none
safety table lookup — NOT an LLM call — auditable and tunable</a:t>
            </a:r>
          </a:p>
        </p:txBody>
      </p:sp>
      <p:sp>
        <p:nvSpPr>
          <p:cNvPr id="22" name="Rounded Rectangle 21"/>
          <p:cNvSpPr/>
          <p:nvPr/>
        </p:nvSpPr>
        <p:spPr>
          <a:xfrm>
            <a:off x="7543800" y="3273552"/>
            <a:ext cx="2240280" cy="1170432"/>
          </a:xfrm>
          <a:prstGeom prst="roundRect">
            <a:avLst/>
          </a:prstGeom>
          <a:solidFill>
            <a:srgbClr val="04221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98664" y="3364992"/>
            <a:ext cx="2130552" cy="329184"/>
          </a:xfrm>
          <a:prstGeom prst="rect">
            <a:avLst/>
          </a:prstGeom>
          <a:noFill/>
        </p:spPr>
        <p:txBody>
          <a:bodyPr wrap="square" lIns="0" tIns="0" rIns="0" bIns="0">
            <a:spAutoFit/>
          </a:bodyPr>
          <a:lstStyle/>
          <a:p>
            <a:pPr algn="ctr"/>
            <a:r>
              <a:rPr lang="en-US" sz="1100" b="1" i="0" noProof="1">
                <a:solidFill>
                  <a:srgbClr val="F1F5F9"/>
                </a:solidFill>
                <a:latin typeface="Calibri"/>
              </a:rPr>
              <a:t>Emit Posture</a:t>
            </a:r>
          </a:p>
        </p:txBody>
      </p:sp>
      <p:sp>
        <p:nvSpPr>
          <p:cNvPr id="24" name="TextBox 23"/>
          <p:cNvSpPr txBox="1"/>
          <p:nvPr/>
        </p:nvSpPr>
        <p:spPr>
          <a:xfrm>
            <a:off x="7598664" y="3694176"/>
            <a:ext cx="2130552" cy="713232"/>
          </a:xfrm>
          <a:prstGeom prst="rect">
            <a:avLst/>
          </a:prstGeom>
          <a:noFill/>
        </p:spPr>
        <p:txBody>
          <a:bodyPr wrap="square" lIns="0" tIns="0" rIns="0" bIns="0">
            <a:spAutoFit/>
          </a:bodyPr>
          <a:lstStyle/>
          <a:p>
            <a:pPr algn="ctr"/>
            <a:r>
              <a:rPr lang="en-US" sz="800" b="0" i="0" noProof="1">
                <a:solidFill>
                  <a:srgbClr val="94A3B8"/>
                </a:solidFill>
                <a:latin typeface="Calibri"/>
              </a:rPr>
              <a:t>safety_posture {level, flags}
host honors it
AgeBand never touches reply</a:t>
            </a:r>
          </a:p>
        </p:txBody>
      </p:sp>
      <p:cxnSp>
        <p:nvCxnSpPr>
          <p:cNvPr id="25" name="Connector 24"/>
          <p:cNvCxnSpPr/>
          <p:nvPr/>
        </p:nvCxnSpPr>
        <p:spPr>
          <a:xfrm>
            <a:off x="7315200" y="3858768"/>
            <a:ext cx="228600" cy="0"/>
          </a:xfrm>
          <a:prstGeom prst="line">
            <a:avLst/>
          </a:prstGeom>
          <a:ln w="19050">
            <a:solidFill>
              <a:srgbClr val="10B981"/>
            </a:solidFill>
            <a:tailEnd type="arrow"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94360" y="4608576"/>
            <a:ext cx="3200400" cy="685800"/>
          </a:xfrm>
          <a:prstGeom prst="round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 y="4700016"/>
            <a:ext cx="3090672" cy="329184"/>
          </a:xfrm>
          <a:prstGeom prst="rect">
            <a:avLst/>
          </a:prstGeom>
          <a:noFill/>
        </p:spPr>
        <p:txBody>
          <a:bodyPr wrap="square" lIns="0" tIns="0" rIns="0" bIns="0">
            <a:spAutoFit/>
          </a:bodyPr>
          <a:lstStyle/>
          <a:p>
            <a:pPr algn="ctr"/>
            <a:r>
              <a:rPr lang="en-US" sz="1000" b="1" i="0" noProof="1">
                <a:solidFill>
                  <a:srgbClr val="F1F5F9"/>
                </a:solidFill>
                <a:latin typeface="Calibri"/>
              </a:rPr>
              <a:t>step_up  [sync · high-severity]</a:t>
            </a:r>
          </a:p>
        </p:txBody>
      </p:sp>
      <p:sp>
        <p:nvSpPr>
          <p:cNvPr id="28" name="TextBox 27"/>
          <p:cNvSpPr txBox="1"/>
          <p:nvPr/>
        </p:nvSpPr>
        <p:spPr>
          <a:xfrm>
            <a:off x="649224" y="5029200"/>
            <a:ext cx="3090672" cy="228600"/>
          </a:xfrm>
          <a:prstGeom prst="rect">
            <a:avLst/>
          </a:prstGeom>
          <a:noFill/>
        </p:spPr>
        <p:txBody>
          <a:bodyPr wrap="square" lIns="0" tIns="0" rIns="0" bIns="0">
            <a:spAutoFit/>
          </a:bodyPr>
          <a:lstStyle/>
          <a:p>
            <a:pPr algn="ctr"/>
            <a:r>
              <a:rPr lang="en-US" sz="800" b="0" i="0" noProof="1">
                <a:solidFill>
                  <a:srgbClr val="94A3B8"/>
                </a:solidFill>
                <a:latin typeface="Calibri"/>
              </a:rPr>
              <a:t>blocks one reply · ask confirm-age · restrict · never silent</a:t>
            </a:r>
          </a:p>
        </p:txBody>
      </p:sp>
      <p:cxnSp>
        <p:nvCxnSpPr>
          <p:cNvPr id="29" name="Connector 28"/>
          <p:cNvCxnSpPr/>
          <p:nvPr/>
        </p:nvCxnSpPr>
        <p:spPr>
          <a:xfrm>
            <a:off x="2194560" y="4443984"/>
            <a:ext cx="0" cy="164592"/>
          </a:xfrm>
          <a:prstGeom prst="line">
            <a:avLst/>
          </a:prstGeom>
          <a:ln w="19050">
            <a:solidFill>
              <a:srgbClr val="E84242"/>
            </a:solidFill>
            <a:tailEnd type="arrow"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995928" y="4608576"/>
            <a:ext cx="3200400" cy="685800"/>
          </a:xfrm>
          <a:prstGeom prst="roundRect">
            <a:avLst/>
          </a:prstGeom>
          <a:solidFill>
            <a:srgbClr val="1616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050791" y="4700016"/>
            <a:ext cx="3090672" cy="329184"/>
          </a:xfrm>
          <a:prstGeom prst="rect">
            <a:avLst/>
          </a:prstGeom>
          <a:noFill/>
        </p:spPr>
        <p:txBody>
          <a:bodyPr wrap="square" lIns="0" tIns="0" rIns="0" bIns="0">
            <a:spAutoFit/>
          </a:bodyPr>
          <a:lstStyle/>
          <a:p>
            <a:pPr algn="ctr"/>
            <a:r>
              <a:rPr lang="en-US" sz="1000" b="1" i="0" noProof="1">
                <a:solidFill>
                  <a:srgbClr val="F1F5F9"/>
                </a:solidFill>
                <a:latin typeface="Calibri"/>
              </a:rPr>
              <a:t>confirmation  →  override</a:t>
            </a:r>
          </a:p>
        </p:txBody>
      </p:sp>
      <p:sp>
        <p:nvSpPr>
          <p:cNvPr id="32" name="TextBox 31"/>
          <p:cNvSpPr txBox="1"/>
          <p:nvPr/>
        </p:nvSpPr>
        <p:spPr>
          <a:xfrm>
            <a:off x="4050791" y="5029200"/>
            <a:ext cx="3090672" cy="228600"/>
          </a:xfrm>
          <a:prstGeom prst="rect">
            <a:avLst/>
          </a:prstGeom>
          <a:noFill/>
        </p:spPr>
        <p:txBody>
          <a:bodyPr wrap="square" lIns="0" tIns="0" rIns="0" bIns="0">
            <a:spAutoFit/>
          </a:bodyPr>
          <a:lstStyle/>
          <a:p>
            <a:pPr algn="ctr"/>
            <a:r>
              <a:rPr lang="en-US" sz="800" b="0" i="0" noProof="1">
                <a:solidFill>
                  <a:srgbClr val="94A3B8"/>
                </a:solidFill>
                <a:latin typeface="Calibri"/>
              </a:rPr>
              <a:t>CONFIRMED age overrides inference · only confirmed may persist</a:t>
            </a:r>
          </a:p>
        </p:txBody>
      </p:sp>
      <p:cxnSp>
        <p:nvCxnSpPr>
          <p:cNvPr id="33" name="Connector 32"/>
          <p:cNvCxnSpPr/>
          <p:nvPr/>
        </p:nvCxnSpPr>
        <p:spPr>
          <a:xfrm>
            <a:off x="3794760" y="4951476"/>
            <a:ext cx="201168" cy="0"/>
          </a:xfrm>
          <a:prstGeom prst="line">
            <a:avLst/>
          </a:prstGeom>
          <a:ln w="12700">
            <a:solidFill>
              <a:srgbClr val="10B981"/>
            </a:solidFill>
            <a:tailEnd type="arrow"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104120" y="1737360"/>
            <a:ext cx="1673352" cy="2706624"/>
          </a:xfrm>
          <a:prstGeom prst="roundRect">
            <a:avLst/>
          </a:prstGeom>
          <a:solidFill>
            <a:srgbClr val="04223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95560" y="1874519"/>
            <a:ext cx="1490472" cy="512064"/>
          </a:xfrm>
          <a:prstGeom prst="rect">
            <a:avLst/>
          </a:prstGeom>
          <a:noFill/>
        </p:spPr>
        <p:txBody>
          <a:bodyPr wrap="square" lIns="0" tIns="0" rIns="0" bIns="0">
            <a:spAutoFit/>
          </a:bodyPr>
          <a:lstStyle/>
          <a:p>
            <a:pPr algn="ctr"/>
            <a:r>
              <a:rPr lang="en-US" sz="1000" b="1" i="0" noProof="1">
                <a:solidFill>
                  <a:srgbClr val="0EA5E9"/>
                </a:solidFill>
                <a:latin typeface="Calibri"/>
              </a:rPr>
              <a:t>AMD
Model Serving</a:t>
            </a:r>
          </a:p>
        </p:txBody>
      </p:sp>
      <p:sp>
        <p:nvSpPr>
          <p:cNvPr id="36" name="TextBox 35"/>
          <p:cNvSpPr txBox="1"/>
          <p:nvPr/>
        </p:nvSpPr>
        <p:spPr>
          <a:xfrm>
            <a:off x="10195560" y="2414015"/>
            <a:ext cx="1490472" cy="621792"/>
          </a:xfrm>
          <a:prstGeom prst="rect">
            <a:avLst/>
          </a:prstGeom>
          <a:noFill/>
        </p:spPr>
        <p:txBody>
          <a:bodyPr wrap="square" lIns="0" tIns="0" rIns="0" bIns="0">
            <a:spAutoFit/>
          </a:bodyPr>
          <a:lstStyle/>
          <a:p>
            <a:pPr algn="ctr"/>
            <a:r>
              <a:rPr lang="en-US" sz="800" b="0" i="0" noProof="1">
                <a:solidFill>
                  <a:srgbClr val="94A3B8"/>
                </a:solidFill>
                <a:latin typeface="Calibri"/>
              </a:rPr>
              <a:t>Gemma 3 4B + 27B
ROCm + vLLM
OpenAI API</a:t>
            </a:r>
          </a:p>
        </p:txBody>
      </p:sp>
      <p:sp>
        <p:nvSpPr>
          <p:cNvPr id="37" name="TextBox 36"/>
          <p:cNvSpPr txBox="1"/>
          <p:nvPr/>
        </p:nvSpPr>
        <p:spPr>
          <a:xfrm>
            <a:off x="10195560" y="3072384"/>
            <a:ext cx="1490472" cy="457200"/>
          </a:xfrm>
          <a:prstGeom prst="rect">
            <a:avLst/>
          </a:prstGeom>
          <a:noFill/>
        </p:spPr>
        <p:txBody>
          <a:bodyPr wrap="square" lIns="0" tIns="0" rIns="0" bIns="0">
            <a:spAutoFit/>
          </a:bodyPr>
          <a:lstStyle/>
          <a:p>
            <a:pPr algn="ctr"/>
            <a:r>
              <a:rPr lang="en-US" sz="700" b="0" i="1" noProof="1">
                <a:solidFill>
                  <a:srgbClr val="94A3B8"/>
                </a:solidFill>
                <a:latin typeface="Calibri"/>
              </a:rPr>
              <a:t>serves Plan +
Act LLM calls</a:t>
            </a:r>
          </a:p>
        </p:txBody>
      </p:sp>
      <p:sp>
        <p:nvSpPr>
          <p:cNvPr id="38" name="Rectangle 37"/>
          <p:cNvSpPr/>
          <p:nvPr/>
        </p:nvSpPr>
        <p:spPr>
          <a:xfrm>
            <a:off x="10104120" y="4590288"/>
            <a:ext cx="164592" cy="12801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323576" y="4590288"/>
            <a:ext cx="1408176" cy="164592"/>
          </a:xfrm>
          <a:prstGeom prst="rect">
            <a:avLst/>
          </a:prstGeom>
          <a:noFill/>
        </p:spPr>
        <p:txBody>
          <a:bodyPr wrap="square" lIns="0" tIns="0" rIns="0" bIns="0">
            <a:spAutoFit/>
          </a:bodyPr>
          <a:lstStyle/>
          <a:p>
            <a:pPr algn="l"/>
            <a:r>
              <a:rPr lang="en-US" sz="800" b="0" i="0" noProof="1">
                <a:solidFill>
                  <a:srgbClr val="94A3B8"/>
                </a:solidFill>
                <a:latin typeface="Calibri"/>
              </a:rPr>
              <a:t>LLM / Planner</a:t>
            </a:r>
          </a:p>
        </p:txBody>
      </p:sp>
      <p:sp>
        <p:nvSpPr>
          <p:cNvPr id="40" name="Rectangle 39"/>
          <p:cNvSpPr/>
          <p:nvPr/>
        </p:nvSpPr>
        <p:spPr>
          <a:xfrm>
            <a:off x="10104120" y="4809744"/>
            <a:ext cx="164592" cy="12801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323576" y="4809744"/>
            <a:ext cx="1408176" cy="164592"/>
          </a:xfrm>
          <a:prstGeom prst="rect">
            <a:avLst/>
          </a:prstGeom>
          <a:noFill/>
        </p:spPr>
        <p:txBody>
          <a:bodyPr wrap="square" lIns="0" tIns="0" rIns="0" bIns="0">
            <a:spAutoFit/>
          </a:bodyPr>
          <a:lstStyle/>
          <a:p>
            <a:pPr algn="l"/>
            <a:r>
              <a:rPr lang="en-US" sz="800" b="0" i="0" noProof="1">
                <a:solidFill>
                  <a:srgbClr val="94A3B8"/>
                </a:solidFill>
                <a:latin typeface="Calibri"/>
              </a:rPr>
              <a:t>Route / Det.</a:t>
            </a:r>
          </a:p>
        </p:txBody>
      </p:sp>
      <p:sp>
        <p:nvSpPr>
          <p:cNvPr id="42" name="Rectangle 41"/>
          <p:cNvSpPr/>
          <p:nvPr/>
        </p:nvSpPr>
        <p:spPr>
          <a:xfrm>
            <a:off x="10104120" y="5029200"/>
            <a:ext cx="164592" cy="12801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323576" y="5029200"/>
            <a:ext cx="1408176" cy="164592"/>
          </a:xfrm>
          <a:prstGeom prst="rect">
            <a:avLst/>
          </a:prstGeom>
          <a:noFill/>
        </p:spPr>
        <p:txBody>
          <a:bodyPr wrap="square" lIns="0" tIns="0" rIns="0" bIns="0">
            <a:spAutoFit/>
          </a:bodyPr>
          <a:lstStyle/>
          <a:p>
            <a:pPr algn="l"/>
            <a:r>
              <a:rPr lang="en-US" sz="800" b="0" i="0" noProof="1">
                <a:solidFill>
                  <a:srgbClr val="94A3B8"/>
                </a:solidFill>
                <a:latin typeface="Calibri"/>
              </a:rPr>
              <a:t>Posture</a:t>
            </a:r>
          </a:p>
        </p:txBody>
      </p:sp>
      <p:sp>
        <p:nvSpPr>
          <p:cNvPr id="44" name="Rectangle 43"/>
          <p:cNvSpPr/>
          <p:nvPr/>
        </p:nvSpPr>
        <p:spPr>
          <a:xfrm>
            <a:off x="10104120" y="5248656"/>
            <a:ext cx="164592" cy="128016"/>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323576" y="5248656"/>
            <a:ext cx="1408176" cy="164592"/>
          </a:xfrm>
          <a:prstGeom prst="rect">
            <a:avLst/>
          </a:prstGeom>
          <a:noFill/>
        </p:spPr>
        <p:txBody>
          <a:bodyPr wrap="square" lIns="0" tIns="0" rIns="0" bIns="0">
            <a:spAutoFit/>
          </a:bodyPr>
          <a:lstStyle/>
          <a:p>
            <a:pPr algn="l"/>
            <a:r>
              <a:rPr lang="en-US" sz="800" b="0" i="0" noProof="1">
                <a:solidFill>
                  <a:srgbClr val="94A3B8"/>
                </a:solidFill>
                <a:latin typeface="Calibri"/>
              </a:rPr>
              <a:t>Step-up</a:t>
            </a:r>
          </a:p>
        </p:txBody>
      </p:sp>
      <p:sp>
        <p:nvSpPr>
          <p:cNvPr id="46" name="Rectangle 45"/>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48" name="TextBox 47"/>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5 /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How It Works — Planner Routes</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Planner picks the route  ·  deterministic guards decide the outcome  ·  fail closed</a:t>
            </a:r>
          </a:p>
        </p:txBody>
      </p:sp>
      <p:sp>
        <p:nvSpPr>
          <p:cNvPr id="5" name="Rounded Rectangle 4"/>
          <p:cNvSpPr/>
          <p:nvPr/>
        </p:nvSpPr>
        <p:spPr>
          <a:xfrm>
            <a:off x="429768" y="1298448"/>
            <a:ext cx="3657600" cy="2194560"/>
          </a:xfrm>
          <a:prstGeom prst="roundRect">
            <a:avLst/>
          </a:prstGeom>
          <a:solidFill>
            <a:srgbClr val="1E103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29768" y="1298448"/>
            <a:ext cx="3657600" cy="3657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9496" y="1353312"/>
            <a:ext cx="3438144" cy="292608"/>
          </a:xfrm>
          <a:prstGeom prst="rect">
            <a:avLst/>
          </a:prstGeom>
          <a:noFill/>
        </p:spPr>
        <p:txBody>
          <a:bodyPr wrap="square" lIns="0" tIns="0" rIns="0" bIns="0">
            <a:spAutoFit/>
          </a:bodyPr>
          <a:lstStyle/>
          <a:p>
            <a:pPr algn="l"/>
            <a:r>
              <a:rPr lang="en-US" sz="1300" b="1" i="0" noProof="1">
                <a:solidFill>
                  <a:srgbClr val="F1F5F9"/>
                </a:solidFill>
                <a:latin typeface="Calibri"/>
              </a:rPr>
              <a:t>1  Planner  [LLM]</a:t>
            </a:r>
          </a:p>
        </p:txBody>
      </p:sp>
      <p:sp>
        <p:nvSpPr>
          <p:cNvPr id="8" name="TextBox 7"/>
          <p:cNvSpPr txBox="1"/>
          <p:nvPr/>
        </p:nvSpPr>
        <p:spPr>
          <a:xfrm>
            <a:off x="539496" y="1737360"/>
            <a:ext cx="3438144" cy="1664208"/>
          </a:xfrm>
          <a:prstGeom prst="rect">
            <a:avLst/>
          </a:prstGeom>
          <a:noFill/>
        </p:spPr>
        <p:txBody>
          <a:bodyPr wrap="square" lIns="0" tIns="0" rIns="0" bIns="0">
            <a:spAutoFit/>
          </a:bodyPr>
          <a:lstStyle/>
          <a:p>
            <a:pPr algn="l"/>
            <a:r>
              <a:rPr lang="en-US" sz="1100" b="0" i="0" noProof="1">
                <a:solidFill>
                  <a:srgbClr val="94A3B8"/>
                </a:solidFill>
                <a:latin typeface="Calibri"/>
              </a:rPr>
              <a:t>Agent(output_type=RouteDecision)
Reads session evidence state.
Picks route: settled / incremental / full / urgent.
Never decides safety outcomes — only the route.</a:t>
            </a:r>
          </a:p>
        </p:txBody>
      </p:sp>
      <p:cxnSp>
        <p:nvCxnSpPr>
          <p:cNvPr id="9" name="Connector 8"/>
          <p:cNvCxnSpPr/>
          <p:nvPr/>
        </p:nvCxnSpPr>
        <p:spPr>
          <a:xfrm>
            <a:off x="4087368" y="2395728"/>
            <a:ext cx="256032" cy="0"/>
          </a:xfrm>
          <a:prstGeom prst="line">
            <a:avLst/>
          </a:prstGeom>
          <a:ln w="19050">
            <a:solidFill>
              <a:srgbClr val="2D2D5E"/>
            </a:solidFill>
            <a:tailEnd type="arrow"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43400" y="1298448"/>
            <a:ext cx="3657600" cy="2194560"/>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43400" y="1298448"/>
            <a:ext cx="365760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53128" y="1353312"/>
            <a:ext cx="3438144" cy="292608"/>
          </a:xfrm>
          <a:prstGeom prst="rect">
            <a:avLst/>
          </a:prstGeom>
          <a:noFill/>
        </p:spPr>
        <p:txBody>
          <a:bodyPr wrap="square" lIns="0" tIns="0" rIns="0" bIns="0">
            <a:spAutoFit/>
          </a:bodyPr>
          <a:lstStyle/>
          <a:p>
            <a:pPr algn="l"/>
            <a:r>
              <a:rPr lang="en-US" sz="1300" b="1" i="0" noProof="1">
                <a:solidFill>
                  <a:srgbClr val="F1F5F9"/>
                </a:solidFill>
                <a:latin typeface="Calibri"/>
              </a:rPr>
              <a:t>2  Route: settled</a:t>
            </a:r>
          </a:p>
        </p:txBody>
      </p:sp>
      <p:sp>
        <p:nvSpPr>
          <p:cNvPr id="13" name="TextBox 12"/>
          <p:cNvSpPr txBox="1"/>
          <p:nvPr/>
        </p:nvSpPr>
        <p:spPr>
          <a:xfrm>
            <a:off x="4453128" y="1737360"/>
            <a:ext cx="3438144" cy="1664208"/>
          </a:xfrm>
          <a:prstGeom prst="rect">
            <a:avLst/>
          </a:prstGeom>
          <a:noFill/>
        </p:spPr>
        <p:txBody>
          <a:bodyPr wrap="square" lIns="0" tIns="0" rIns="0" bIns="0">
            <a:spAutoFit/>
          </a:bodyPr>
          <a:lstStyle/>
          <a:p>
            <a:pPr algn="l"/>
            <a:r>
              <a:rPr lang="en-US" sz="1100" b="0" i="0" noProof="1">
                <a:solidFill>
                  <a:srgbClr val="94A3B8"/>
                </a:solidFill>
                <a:latin typeface="Calibri"/>
              </a:rPr>
              <a:t>Already high-confidence: reuse posture.
0 LLM calls — zero inference cost.
Tripwire still runs; resets to incr/full
if contradiction detected (device handoff).</a:t>
            </a:r>
          </a:p>
        </p:txBody>
      </p:sp>
      <p:cxnSp>
        <p:nvCxnSpPr>
          <p:cNvPr id="14" name="Connector 13"/>
          <p:cNvCxnSpPr/>
          <p:nvPr/>
        </p:nvCxnSpPr>
        <p:spPr>
          <a:xfrm>
            <a:off x="8001000" y="2395728"/>
            <a:ext cx="256031" cy="0"/>
          </a:xfrm>
          <a:prstGeom prst="line">
            <a:avLst/>
          </a:prstGeom>
          <a:ln w="19050">
            <a:solidFill>
              <a:srgbClr val="2D2D5E"/>
            </a:solidFill>
            <a:tailEnd type="arrow"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57032" y="1298448"/>
            <a:ext cx="3657600" cy="2194560"/>
          </a:xfrm>
          <a:prstGeom prst="roundRect">
            <a:avLst/>
          </a:prstGeom>
          <a:solidFill>
            <a:srgbClr val="1E103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57032" y="1298448"/>
            <a:ext cx="3657600" cy="3657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353312"/>
            <a:ext cx="3438144" cy="292608"/>
          </a:xfrm>
          <a:prstGeom prst="rect">
            <a:avLst/>
          </a:prstGeom>
          <a:noFill/>
        </p:spPr>
        <p:txBody>
          <a:bodyPr wrap="square" lIns="0" tIns="0" rIns="0" bIns="0">
            <a:spAutoFit/>
          </a:bodyPr>
          <a:lstStyle/>
          <a:p>
            <a:pPr algn="l"/>
            <a:r>
              <a:rPr lang="en-US" sz="1300" b="1" i="0" noProof="1">
                <a:solidFill>
                  <a:srgbClr val="F1F5F9"/>
                </a:solidFill>
                <a:latin typeface="Calibri"/>
              </a:rPr>
              <a:t>3  Route: incremental</a:t>
            </a:r>
          </a:p>
        </p:txBody>
      </p:sp>
      <p:sp>
        <p:nvSpPr>
          <p:cNvPr id="18" name="TextBox 17"/>
          <p:cNvSpPr txBox="1"/>
          <p:nvPr/>
        </p:nvSpPr>
        <p:spPr>
          <a:xfrm>
            <a:off x="8366760" y="1737360"/>
            <a:ext cx="3438144" cy="1664208"/>
          </a:xfrm>
          <a:prstGeom prst="rect">
            <a:avLst/>
          </a:prstGeom>
          <a:noFill/>
        </p:spPr>
        <p:txBody>
          <a:bodyPr wrap="square" lIns="0" tIns="0" rIns="0" bIns="0">
            <a:spAutoFit/>
          </a:bodyPr>
          <a:lstStyle/>
          <a:p>
            <a:pPr algn="l"/>
            <a:r>
              <a:rPr lang="en-US" sz="1100" b="0" i="0" noProof="1">
                <a:solidFill>
                  <a:srgbClr val="94A3B8"/>
                </a:solidFill>
                <a:latin typeface="Calibri"/>
              </a:rPr>
              <a:t>Low-delta turn: extract new signals only.
1 LLM call (signal_extractor).
Quick evidence update, band may shift,
confidence deterministically recomputed.</a:t>
            </a:r>
          </a:p>
        </p:txBody>
      </p:sp>
      <p:sp>
        <p:nvSpPr>
          <p:cNvPr id="19" name="Rounded Rectangle 18"/>
          <p:cNvSpPr/>
          <p:nvPr/>
        </p:nvSpPr>
        <p:spPr>
          <a:xfrm>
            <a:off x="429768" y="3694176"/>
            <a:ext cx="3657600" cy="2194560"/>
          </a:xfrm>
          <a:prstGeom prst="roundRect">
            <a:avLst/>
          </a:prstGeom>
          <a:solidFill>
            <a:srgbClr val="1E103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29768" y="3694176"/>
            <a:ext cx="3657600" cy="3657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9496" y="3749039"/>
            <a:ext cx="3438144" cy="292608"/>
          </a:xfrm>
          <a:prstGeom prst="rect">
            <a:avLst/>
          </a:prstGeom>
          <a:noFill/>
        </p:spPr>
        <p:txBody>
          <a:bodyPr wrap="square" lIns="0" tIns="0" rIns="0" bIns="0">
            <a:spAutoFit/>
          </a:bodyPr>
          <a:lstStyle/>
          <a:p>
            <a:pPr algn="l"/>
            <a:r>
              <a:rPr lang="en-US" sz="1300" b="1" i="0" noProof="1">
                <a:solidFill>
                  <a:srgbClr val="F1F5F9"/>
                </a:solidFill>
                <a:latin typeface="Calibri"/>
              </a:rPr>
              <a:t>4  Route: full</a:t>
            </a:r>
          </a:p>
        </p:txBody>
      </p:sp>
      <p:sp>
        <p:nvSpPr>
          <p:cNvPr id="22" name="TextBox 21"/>
          <p:cNvSpPr txBox="1"/>
          <p:nvPr/>
        </p:nvSpPr>
        <p:spPr>
          <a:xfrm>
            <a:off x="539496" y="4133087"/>
            <a:ext cx="3438144" cy="1664208"/>
          </a:xfrm>
          <a:prstGeom prst="rect">
            <a:avLst/>
          </a:prstGeom>
          <a:noFill/>
        </p:spPr>
        <p:txBody>
          <a:bodyPr wrap="square" lIns="0" tIns="0" rIns="0" bIns="0">
            <a:spAutoFit/>
          </a:bodyPr>
          <a:lstStyle/>
          <a:p>
            <a:pPr algn="l"/>
            <a:r>
              <a:rPr lang="en-US" sz="1100" b="0" i="0" noProof="1">
                <a:solidFill>
                  <a:srgbClr val="94A3B8"/>
                </a:solidFill>
                <a:latin typeface="Calibri"/>
              </a:rPr>
              <a:t>New topic or conflicting signal.
2 LLM calls: signal_extractor + ageband_estimator.
Full evidence review and re-estimate.
Confidence recomputed from corroborated cues.</a:t>
            </a:r>
          </a:p>
        </p:txBody>
      </p:sp>
      <p:cxnSp>
        <p:nvCxnSpPr>
          <p:cNvPr id="23" name="Connector 22"/>
          <p:cNvCxnSpPr/>
          <p:nvPr/>
        </p:nvCxnSpPr>
        <p:spPr>
          <a:xfrm>
            <a:off x="4087368" y="4791456"/>
            <a:ext cx="256032" cy="0"/>
          </a:xfrm>
          <a:prstGeom prst="line">
            <a:avLst/>
          </a:prstGeom>
          <a:ln w="19050">
            <a:solidFill>
              <a:srgbClr val="2D2D5E"/>
            </a:solidFill>
            <a:tailEnd type="arrow"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43400" y="3694176"/>
            <a:ext cx="3657600" cy="2194560"/>
          </a:xfrm>
          <a:prstGeom prst="round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343400" y="3694176"/>
            <a:ext cx="3657600" cy="365760"/>
          </a:xfrm>
          <a:prstGeom prst="round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53128" y="3749039"/>
            <a:ext cx="3438144" cy="292608"/>
          </a:xfrm>
          <a:prstGeom prst="rect">
            <a:avLst/>
          </a:prstGeom>
          <a:noFill/>
        </p:spPr>
        <p:txBody>
          <a:bodyPr wrap="square" lIns="0" tIns="0" rIns="0" bIns="0">
            <a:spAutoFit/>
          </a:bodyPr>
          <a:lstStyle/>
          <a:p>
            <a:pPr algn="l"/>
            <a:r>
              <a:rPr lang="en-US" sz="1300" b="1" i="0" noProof="1">
                <a:solidFill>
                  <a:srgbClr val="F1F5F9"/>
                </a:solidFill>
                <a:latin typeface="Calibri"/>
              </a:rPr>
              <a:t>5  Deterministic Guards</a:t>
            </a:r>
          </a:p>
        </p:txBody>
      </p:sp>
      <p:sp>
        <p:nvSpPr>
          <p:cNvPr id="27" name="TextBox 26"/>
          <p:cNvSpPr txBox="1"/>
          <p:nvPr/>
        </p:nvSpPr>
        <p:spPr>
          <a:xfrm>
            <a:off x="4453128" y="4133087"/>
            <a:ext cx="3438144" cy="1664208"/>
          </a:xfrm>
          <a:prstGeom prst="rect">
            <a:avLst/>
          </a:prstGeom>
          <a:noFill/>
        </p:spPr>
        <p:txBody>
          <a:bodyPr wrap="square" lIns="0" tIns="0" rIns="0" bIns="0">
            <a:spAutoFit/>
          </a:bodyPr>
          <a:lstStyle/>
          <a:p>
            <a:pPr algn="l"/>
            <a:r>
              <a:rPr lang="en-US" sz="1100" b="0" i="0" noProof="1">
                <a:solidFill>
                  <a:srgbClr val="94A3B8"/>
                </a:solidFill>
                <a:latin typeface="Calibri"/>
              </a:rPr>
              <a:t>Always intercepts — independent of route.
policy_gate(band, conf) → action.
Fail-closed: safety table lookup, NOT LLM.
High-impact + high-conf → step_up.</a:t>
            </a:r>
          </a:p>
        </p:txBody>
      </p:sp>
      <p:cxnSp>
        <p:nvCxnSpPr>
          <p:cNvPr id="28" name="Connector 27"/>
          <p:cNvCxnSpPr/>
          <p:nvPr/>
        </p:nvCxnSpPr>
        <p:spPr>
          <a:xfrm>
            <a:off x="8001000" y="4791456"/>
            <a:ext cx="256031" cy="0"/>
          </a:xfrm>
          <a:prstGeom prst="line">
            <a:avLst/>
          </a:prstGeom>
          <a:ln w="19050">
            <a:solidFill>
              <a:srgbClr val="2D2D5E"/>
            </a:solidFill>
            <a:tailEnd type="arrow"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257032" y="3694176"/>
            <a:ext cx="3657600" cy="2194560"/>
          </a:xfrm>
          <a:prstGeom prst="roundRect">
            <a:avLst/>
          </a:prstGeom>
          <a:solidFill>
            <a:srgbClr val="04221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257032" y="3694176"/>
            <a:ext cx="365760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3749039"/>
            <a:ext cx="3438144" cy="292608"/>
          </a:xfrm>
          <a:prstGeom prst="rect">
            <a:avLst/>
          </a:prstGeom>
          <a:noFill/>
        </p:spPr>
        <p:txBody>
          <a:bodyPr wrap="square" lIns="0" tIns="0" rIns="0" bIns="0">
            <a:spAutoFit/>
          </a:bodyPr>
          <a:lstStyle/>
          <a:p>
            <a:pPr algn="l"/>
            <a:r>
              <a:rPr lang="en-US" sz="1300" b="1" i="0" noProof="1">
                <a:solidFill>
                  <a:srgbClr val="F1F5F9"/>
                </a:solidFill>
                <a:latin typeface="Calibri"/>
              </a:rPr>
              <a:t>6  Emit Posture</a:t>
            </a:r>
          </a:p>
        </p:txBody>
      </p:sp>
      <p:sp>
        <p:nvSpPr>
          <p:cNvPr id="32" name="TextBox 31"/>
          <p:cNvSpPr txBox="1"/>
          <p:nvPr/>
        </p:nvSpPr>
        <p:spPr>
          <a:xfrm>
            <a:off x="8366760" y="4133087"/>
            <a:ext cx="3438144" cy="1664208"/>
          </a:xfrm>
          <a:prstGeom prst="rect">
            <a:avLst/>
          </a:prstGeom>
          <a:noFill/>
        </p:spPr>
        <p:txBody>
          <a:bodyPr wrap="square" lIns="0" tIns="0" rIns="0" bIns="0">
            <a:spAutoFit/>
          </a:bodyPr>
          <a:lstStyle/>
          <a:p>
            <a:pPr algn="l"/>
            <a:r>
              <a:rPr lang="en-US" sz="1100" b="0" i="0" noProof="1">
                <a:solidFill>
                  <a:srgbClr val="94A3B8"/>
                </a:solidFill>
                <a:latin typeface="Calibri"/>
              </a:rPr>
              <a:t>safety_posture {level, flags}.
Host assistant honors it.
AgeBand never touches the model
or the reply path.</a:t>
            </a:r>
          </a:p>
        </p:txBody>
      </p:sp>
      <p:sp>
        <p:nvSpPr>
          <p:cNvPr id="33" name="Rectangle 32"/>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35" name="TextBox 34"/>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6 / 16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Two Ideas That Make It Credible</a:t>
            </a:r>
          </a:p>
        </p:txBody>
      </p:sp>
      <p:sp>
        <p:nvSpPr>
          <p:cNvPr id="4" name="Rounded Rectangle 3"/>
          <p:cNvSpPr/>
          <p:nvPr/>
        </p:nvSpPr>
        <p:spPr>
          <a:xfrm>
            <a:off x="411480" y="1298448"/>
            <a:ext cx="5577840" cy="4828032"/>
          </a:xfrm>
          <a:prstGeom prst="roundRect">
            <a:avLst/>
          </a:prstGeom>
          <a:solidFill>
            <a:srgbClr val="2A1C00"/>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389888"/>
            <a:ext cx="36576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lter.png"/>
          <p:cNvPicPr>
            <a:picLocks noChangeAspect="1"/>
          </p:cNvPicPr>
          <p:nvPr/>
        </p:nvPicPr>
        <p:blipFill>
          <a:blip r:embed="rId3"/>
          <a:stretch>
            <a:fillRect/>
          </a:stretch>
        </p:blipFill>
        <p:spPr>
          <a:xfrm>
            <a:off x="638251" y="1433779"/>
            <a:ext cx="277977" cy="277977"/>
          </a:xfrm>
          <a:prstGeom prst="rect">
            <a:avLst/>
          </a:prstGeom>
        </p:spPr>
      </p:pic>
      <p:sp>
        <p:nvSpPr>
          <p:cNvPr id="7" name="TextBox 6"/>
          <p:cNvSpPr txBox="1"/>
          <p:nvPr/>
        </p:nvSpPr>
        <p:spPr>
          <a:xfrm>
            <a:off x="1024128" y="1389888"/>
            <a:ext cx="4782312" cy="384048"/>
          </a:xfrm>
          <a:prstGeom prst="rect">
            <a:avLst/>
          </a:prstGeom>
          <a:noFill/>
        </p:spPr>
        <p:txBody>
          <a:bodyPr wrap="square" lIns="0" tIns="0" rIns="0" bIns="0">
            <a:spAutoFit/>
          </a:bodyPr>
          <a:lstStyle/>
          <a:p>
            <a:pPr algn="l"/>
            <a:r>
              <a:rPr lang="en-US" sz="1500" b="1" i="0" noProof="1">
                <a:solidFill>
                  <a:srgbClr val="F59E0B"/>
                </a:solidFill>
                <a:latin typeface="Calibri"/>
              </a:rPr>
              <a:t>Idea 1 — Cheap Gate + Tripwire</a:t>
            </a:r>
          </a:p>
        </p:txBody>
      </p:sp>
      <p:sp>
        <p:nvSpPr>
          <p:cNvPr id="8" name="TextBox 7"/>
          <p:cNvSpPr txBox="1"/>
          <p:nvPr/>
        </p:nvSpPr>
        <p:spPr>
          <a:xfrm>
            <a:off x="594360" y="1773936"/>
            <a:ext cx="5212080" cy="329184"/>
          </a:xfrm>
          <a:prstGeom prst="rect">
            <a:avLst/>
          </a:prstGeom>
          <a:noFill/>
        </p:spPr>
        <p:txBody>
          <a:bodyPr wrap="square" lIns="0" tIns="0" rIns="0" bIns="0">
            <a:spAutoFit/>
          </a:bodyPr>
          <a:lstStyle/>
          <a:p>
            <a:pPr algn="l"/>
            <a:r>
              <a:rPr lang="en-US" sz="1200" b="0" i="1" noProof="1">
                <a:solidFill>
                  <a:srgbClr val="FCD34D"/>
                </a:solidFill>
                <a:latin typeface="Calibri"/>
              </a:rPr>
              <a:t>Makes 'always-on' affordable</a:t>
            </a:r>
          </a:p>
        </p:txBody>
      </p:sp>
      <p:sp>
        <p:nvSpPr>
          <p:cNvPr id="9" name="TextBox 8"/>
          <p:cNvSpPr txBox="1"/>
          <p:nvPr/>
        </p:nvSpPr>
        <p:spPr>
          <a:xfrm>
            <a:off x="594360" y="2212848"/>
            <a:ext cx="5212080" cy="292608"/>
          </a:xfrm>
          <a:prstGeom prst="rect">
            <a:avLst/>
          </a:prstGeom>
          <a:noFill/>
        </p:spPr>
        <p:txBody>
          <a:bodyPr wrap="square" lIns="0" tIns="0" rIns="0" bIns="0">
            <a:spAutoFit/>
          </a:bodyPr>
          <a:lstStyle/>
          <a:p>
            <a:pPr algn="l"/>
            <a:r>
              <a:rPr lang="en-US" sz="1200" b="1" i="0" noProof="1">
                <a:solidFill>
                  <a:srgbClr val="FCD34D"/>
                </a:solidFill>
                <a:latin typeface="Calibri"/>
              </a:rPr>
              <a:t>→ Every turn hits the gate first.</a:t>
            </a:r>
          </a:p>
        </p:txBody>
      </p:sp>
      <p:sp>
        <p:nvSpPr>
          <p:cNvPr id="10" name="TextBox 9"/>
          <p:cNvSpPr txBox="1"/>
          <p:nvPr/>
        </p:nvSpPr>
        <p:spPr>
          <a:xfrm>
            <a:off x="594360" y="2487168"/>
            <a:ext cx="5212080" cy="822960"/>
          </a:xfrm>
          <a:prstGeom prst="rect">
            <a:avLst/>
          </a:prstGeom>
          <a:noFill/>
        </p:spPr>
        <p:txBody>
          <a:bodyPr wrap="square" lIns="0" tIns="0" rIns="0" bIns="0">
            <a:spAutoFit/>
          </a:bodyPr>
          <a:lstStyle/>
          <a:p>
            <a:pPr algn="l"/>
            <a:r>
              <a:rPr lang="en-US" sz="1100" b="0" i="0" noProof="1">
                <a:solidFill>
                  <a:srgbClr val="94A3B8"/>
                </a:solidFill>
                <a:latin typeface="Calibri"/>
              </a:rPr>
              <a:t>   The gate is a fast state check — NOT an LLM call.</a:t>
            </a:r>
          </a:p>
        </p:txBody>
      </p:sp>
      <p:sp>
        <p:nvSpPr>
          <p:cNvPr id="11" name="TextBox 10"/>
          <p:cNvSpPr txBox="1"/>
          <p:nvPr/>
        </p:nvSpPr>
        <p:spPr>
          <a:xfrm>
            <a:off x="594360" y="3401568"/>
            <a:ext cx="5212080" cy="292608"/>
          </a:xfrm>
          <a:prstGeom prst="rect">
            <a:avLst/>
          </a:prstGeom>
          <a:noFill/>
        </p:spPr>
        <p:txBody>
          <a:bodyPr wrap="square" lIns="0" tIns="0" rIns="0" bIns="0">
            <a:spAutoFit/>
          </a:bodyPr>
          <a:lstStyle/>
          <a:p>
            <a:pPr algn="l"/>
            <a:r>
              <a:rPr lang="en-US" sz="1200" b="1" i="0" noProof="1">
                <a:solidFill>
                  <a:srgbClr val="FCD34D"/>
                </a:solidFill>
                <a:latin typeface="Calibri"/>
              </a:rPr>
              <a:t>→ Settled sessions skip inference.</a:t>
            </a:r>
          </a:p>
        </p:txBody>
      </p:sp>
      <p:sp>
        <p:nvSpPr>
          <p:cNvPr id="12" name="TextBox 11"/>
          <p:cNvSpPr txBox="1"/>
          <p:nvPr/>
        </p:nvSpPr>
        <p:spPr>
          <a:xfrm>
            <a:off x="594360" y="3675887"/>
            <a:ext cx="5212080" cy="822960"/>
          </a:xfrm>
          <a:prstGeom prst="rect">
            <a:avLst/>
          </a:prstGeom>
          <a:noFill/>
        </p:spPr>
        <p:txBody>
          <a:bodyPr wrap="square" lIns="0" tIns="0" rIns="0" bIns="0">
            <a:spAutoFit/>
          </a:bodyPr>
          <a:lstStyle/>
          <a:p>
            <a:pPr algn="l"/>
            <a:r>
              <a:rPr lang="en-US" sz="1100" b="0" i="0" noProof="1">
                <a:solidFill>
                  <a:srgbClr val="94A3B8"/>
                </a:solidFill>
                <a:latin typeface="Calibri"/>
              </a:rPr>
              <a:t>   Once band + confidence are high, later turns reuse the
posture without running the model at all.</a:t>
            </a:r>
          </a:p>
        </p:txBody>
      </p:sp>
      <p:sp>
        <p:nvSpPr>
          <p:cNvPr id="13" name="TextBox 12"/>
          <p:cNvSpPr txBox="1"/>
          <p:nvPr/>
        </p:nvSpPr>
        <p:spPr>
          <a:xfrm>
            <a:off x="594360" y="4590288"/>
            <a:ext cx="5212080" cy="292608"/>
          </a:xfrm>
          <a:prstGeom prst="rect">
            <a:avLst/>
          </a:prstGeom>
          <a:noFill/>
        </p:spPr>
        <p:txBody>
          <a:bodyPr wrap="square" lIns="0" tIns="0" rIns="0" bIns="0">
            <a:spAutoFit/>
          </a:bodyPr>
          <a:lstStyle/>
          <a:p>
            <a:pPr algn="l"/>
            <a:r>
              <a:rPr lang="en-US" sz="1200" b="1" i="0" noProof="1">
                <a:solidFill>
                  <a:srgbClr val="FCD34D"/>
                </a:solidFill>
                <a:latin typeface="Calibri"/>
              </a:rPr>
              <a:t>→ The tripwire catches device handoffs.</a:t>
            </a:r>
          </a:p>
        </p:txBody>
      </p:sp>
      <p:sp>
        <p:nvSpPr>
          <p:cNvPr id="14" name="TextBox 13"/>
          <p:cNvSpPr txBox="1"/>
          <p:nvPr/>
        </p:nvSpPr>
        <p:spPr>
          <a:xfrm>
            <a:off x="594360" y="4864607"/>
            <a:ext cx="5212080" cy="822960"/>
          </a:xfrm>
          <a:prstGeom prst="rect">
            <a:avLst/>
          </a:prstGeom>
          <a:noFill/>
        </p:spPr>
        <p:txBody>
          <a:bodyPr wrap="square" lIns="0" tIns="0" rIns="0" bIns="0">
            <a:spAutoFit/>
          </a:bodyPr>
          <a:lstStyle/>
          <a:p>
            <a:pPr algn="l"/>
            <a:r>
              <a:rPr lang="en-US" sz="1100" b="0" i="0" noProof="1">
                <a:solidFill>
                  <a:srgbClr val="94A3B8"/>
                </a:solidFill>
                <a:latin typeface="Calibri"/>
              </a:rPr>
              <a:t>   An always-on heuristic scan runs even on settled
sessions. Contradicting cues — style shift, child
topics on an 'adult' session — force re-analysis.
Handles the phone-handoff case mid-conversation.</a:t>
            </a:r>
          </a:p>
        </p:txBody>
      </p:sp>
      <p:sp>
        <p:nvSpPr>
          <p:cNvPr id="15" name="Rounded Rectangle 14"/>
          <p:cNvSpPr/>
          <p:nvPr/>
        </p:nvSpPr>
        <p:spPr>
          <a:xfrm>
            <a:off x="6199632" y="1298448"/>
            <a:ext cx="5577840" cy="4828032"/>
          </a:xfrm>
          <a:prstGeom prst="roundRect">
            <a:avLst/>
          </a:prstGeom>
          <a:solidFill>
            <a:srgbClr val="3F3FA0"/>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82512" y="1389888"/>
            <a:ext cx="365760" cy="3657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arget.png"/>
          <p:cNvPicPr>
            <a:picLocks noChangeAspect="1"/>
          </p:cNvPicPr>
          <p:nvPr/>
        </p:nvPicPr>
        <p:blipFill>
          <a:blip r:embed="rId4"/>
          <a:stretch>
            <a:fillRect/>
          </a:stretch>
        </p:blipFill>
        <p:spPr>
          <a:xfrm>
            <a:off x="6426403" y="1433779"/>
            <a:ext cx="277977" cy="277977"/>
          </a:xfrm>
          <a:prstGeom prst="rect">
            <a:avLst/>
          </a:prstGeom>
        </p:spPr>
      </p:pic>
      <p:sp>
        <p:nvSpPr>
          <p:cNvPr id="18" name="TextBox 17"/>
          <p:cNvSpPr txBox="1"/>
          <p:nvPr/>
        </p:nvSpPr>
        <p:spPr>
          <a:xfrm>
            <a:off x="6812280" y="1389888"/>
            <a:ext cx="4782312" cy="384048"/>
          </a:xfrm>
          <a:prstGeom prst="rect">
            <a:avLst/>
          </a:prstGeom>
          <a:noFill/>
        </p:spPr>
        <p:txBody>
          <a:bodyPr wrap="square" lIns="0" tIns="0" rIns="0" bIns="0">
            <a:spAutoFit/>
          </a:bodyPr>
          <a:lstStyle/>
          <a:p>
            <a:pPr algn="l"/>
            <a:r>
              <a:rPr lang="en-US" sz="1500" b="1" i="0" noProof="1">
                <a:solidFill>
                  <a:srgbClr val="A5B4FC"/>
                </a:solidFill>
                <a:latin typeface="Calibri"/>
              </a:rPr>
              <a:t>Idea 2 — Grounded Confidence</a:t>
            </a:r>
          </a:p>
        </p:txBody>
      </p:sp>
      <p:sp>
        <p:nvSpPr>
          <p:cNvPr id="19" name="TextBox 18"/>
          <p:cNvSpPr txBox="1"/>
          <p:nvPr/>
        </p:nvSpPr>
        <p:spPr>
          <a:xfrm>
            <a:off x="6382512" y="1773936"/>
            <a:ext cx="5212080" cy="329184"/>
          </a:xfrm>
          <a:prstGeom prst="rect">
            <a:avLst/>
          </a:prstGeom>
          <a:noFill/>
        </p:spPr>
        <p:txBody>
          <a:bodyPr wrap="square" lIns="0" tIns="0" rIns="0" bIns="0">
            <a:spAutoFit/>
          </a:bodyPr>
          <a:lstStyle/>
          <a:p>
            <a:pPr algn="l"/>
            <a:r>
              <a:rPr lang="en-US" sz="1200" b="0" i="1" noProof="1">
                <a:solidFill>
                  <a:srgbClr val="94A3B8"/>
                </a:solidFill>
                <a:latin typeface="Calibri"/>
              </a:rPr>
              <a:t>Not the model's self-reported number</a:t>
            </a:r>
          </a:p>
        </p:txBody>
      </p:sp>
      <p:sp>
        <p:nvSpPr>
          <p:cNvPr id="20" name="TextBox 19"/>
          <p:cNvSpPr txBox="1"/>
          <p:nvPr/>
        </p:nvSpPr>
        <p:spPr>
          <a:xfrm>
            <a:off x="6382512" y="2212848"/>
            <a:ext cx="5212080" cy="292608"/>
          </a:xfrm>
          <a:prstGeom prst="rect">
            <a:avLst/>
          </a:prstGeom>
          <a:noFill/>
        </p:spPr>
        <p:txBody>
          <a:bodyPr wrap="square" lIns="0" tIns="0" rIns="0" bIns="0">
            <a:spAutoFit/>
          </a:bodyPr>
          <a:lstStyle/>
          <a:p>
            <a:pPr algn="l"/>
            <a:r>
              <a:rPr lang="en-US" sz="1200" b="1" i="0" noProof="1">
                <a:solidFill>
                  <a:srgbClr val="A5B4FC"/>
                </a:solidFill>
                <a:latin typeface="Calibri"/>
              </a:rPr>
              <a:t>→ LLM confidence scores are uncalibrated.</a:t>
            </a:r>
          </a:p>
        </p:txBody>
      </p:sp>
      <p:sp>
        <p:nvSpPr>
          <p:cNvPr id="21" name="TextBox 20"/>
          <p:cNvSpPr txBox="1"/>
          <p:nvPr/>
        </p:nvSpPr>
        <p:spPr>
          <a:xfrm>
            <a:off x="6382512" y="2487168"/>
            <a:ext cx="5212080" cy="822960"/>
          </a:xfrm>
          <a:prstGeom prst="rect">
            <a:avLst/>
          </a:prstGeom>
          <a:noFill/>
        </p:spPr>
        <p:txBody>
          <a:bodyPr wrap="square" lIns="0" tIns="0" rIns="0" bIns="0">
            <a:spAutoFit/>
          </a:bodyPr>
          <a:lstStyle/>
          <a:p>
            <a:pPr algn="l"/>
            <a:r>
              <a:rPr lang="en-US" sz="1100" b="0" i="0" noProof="1">
                <a:solidFill>
                  <a:srgbClr val="94A3B8"/>
                </a:solidFill>
                <a:latin typeface="Calibri"/>
              </a:rPr>
              <a:t>   A model that says '0.9' has no reliable relationship
to real-world accuracy. Don't let it drive safety.</a:t>
            </a:r>
          </a:p>
        </p:txBody>
      </p:sp>
      <p:sp>
        <p:nvSpPr>
          <p:cNvPr id="22" name="TextBox 21"/>
          <p:cNvSpPr txBox="1"/>
          <p:nvPr/>
        </p:nvSpPr>
        <p:spPr>
          <a:xfrm>
            <a:off x="6382512" y="3401568"/>
            <a:ext cx="5212080" cy="292608"/>
          </a:xfrm>
          <a:prstGeom prst="rect">
            <a:avLst/>
          </a:prstGeom>
          <a:noFill/>
        </p:spPr>
        <p:txBody>
          <a:bodyPr wrap="square" lIns="0" tIns="0" rIns="0" bIns="0">
            <a:spAutoFit/>
          </a:bodyPr>
          <a:lstStyle/>
          <a:p>
            <a:pPr algn="l"/>
            <a:r>
              <a:rPr lang="en-US" sz="1200" b="1" i="0" noProof="1">
                <a:solidFill>
                  <a:srgbClr val="A5B4FC"/>
                </a:solidFill>
                <a:latin typeface="Calibri"/>
              </a:rPr>
              <a:t>→ Confidence is computed from evidence.</a:t>
            </a:r>
          </a:p>
        </p:txBody>
      </p:sp>
      <p:sp>
        <p:nvSpPr>
          <p:cNvPr id="23" name="TextBox 22"/>
          <p:cNvSpPr txBox="1"/>
          <p:nvPr/>
        </p:nvSpPr>
        <p:spPr>
          <a:xfrm>
            <a:off x="6382512" y="3675887"/>
            <a:ext cx="5212080" cy="822960"/>
          </a:xfrm>
          <a:prstGeom prst="rect">
            <a:avLst/>
          </a:prstGeom>
          <a:noFill/>
        </p:spPr>
        <p:txBody>
          <a:bodyPr wrap="square" lIns="0" tIns="0" rIns="0" bIns="0">
            <a:spAutoFit/>
          </a:bodyPr>
          <a:lstStyle/>
          <a:p>
            <a:pPr algn="l"/>
            <a:r>
              <a:rPr lang="en-US" sz="1100" b="0" i="0" noProof="1">
                <a:solidFill>
                  <a:srgbClr val="94A3B8"/>
                </a:solidFill>
                <a:latin typeface="Calibri"/>
              </a:rPr>
              <a:t>   Countable, grounded facts: how many corroborating
cues, how strong are they, is an explicit disclosure
present? The LLM contributes only a small, bounded
adjustment — it cannot override the evidence count.</a:t>
            </a:r>
          </a:p>
        </p:txBody>
      </p:sp>
      <p:sp>
        <p:nvSpPr>
          <p:cNvPr id="24" name="TextBox 23"/>
          <p:cNvSpPr txBox="1"/>
          <p:nvPr/>
        </p:nvSpPr>
        <p:spPr>
          <a:xfrm>
            <a:off x="6382512" y="4590288"/>
            <a:ext cx="5212080" cy="292608"/>
          </a:xfrm>
          <a:prstGeom prst="rect">
            <a:avLst/>
          </a:prstGeom>
          <a:noFill/>
        </p:spPr>
        <p:txBody>
          <a:bodyPr wrap="square" lIns="0" tIns="0" rIns="0" bIns="0">
            <a:spAutoFit/>
          </a:bodyPr>
          <a:lstStyle/>
          <a:p>
            <a:pPr algn="l"/>
            <a:r>
              <a:rPr lang="en-US" sz="1200" b="1" i="0" noProof="1">
                <a:solidFill>
                  <a:srgbClr val="A5B4FC"/>
                </a:solidFill>
                <a:latin typeface="Calibri"/>
              </a:rPr>
              <a:t>→ This means the number means something.</a:t>
            </a:r>
          </a:p>
        </p:txBody>
      </p:sp>
      <p:sp>
        <p:nvSpPr>
          <p:cNvPr id="25" name="TextBox 24"/>
          <p:cNvSpPr txBox="1"/>
          <p:nvPr/>
        </p:nvSpPr>
        <p:spPr>
          <a:xfrm>
            <a:off x="6382512" y="4864607"/>
            <a:ext cx="5212080" cy="822960"/>
          </a:xfrm>
          <a:prstGeom prst="rect">
            <a:avLst/>
          </a:prstGeom>
          <a:noFill/>
        </p:spPr>
        <p:txBody>
          <a:bodyPr wrap="square" lIns="0" tIns="0" rIns="0" bIns="0">
            <a:spAutoFit/>
          </a:bodyPr>
          <a:lstStyle/>
          <a:p>
            <a:pPr algn="l"/>
            <a:r>
              <a:rPr lang="en-US" sz="1100" b="0" i="0" noProof="1">
                <a:solidFill>
                  <a:srgbClr val="94A3B8"/>
                </a:solidFill>
                <a:latin typeface="Calibri"/>
              </a:rPr>
              <a:t>   The confidence that drives protection is auditable.
A trust-and-safety reviewer can see exactly why the
system was or wasn't confident — and so can a regulator.</a:t>
            </a:r>
          </a:p>
        </p:txBody>
      </p:sp>
      <p:sp>
        <p:nvSpPr>
          <p:cNvPr id="26" name="Rectangle 25"/>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28" name="TextBox 27"/>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7 / 16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Graduated Policy + Safety Posture</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The model estimates. The policy decides. The host enforces.</a:t>
            </a:r>
          </a:p>
        </p:txBody>
      </p:sp>
      <p:sp>
        <p:nvSpPr>
          <p:cNvPr id="5" name="Rounded Rectangle 4"/>
          <p:cNvSpPr/>
          <p:nvPr/>
        </p:nvSpPr>
        <p:spPr>
          <a:xfrm>
            <a:off x="11430000" y="228600"/>
            <a:ext cx="438912" cy="438912"/>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hield.png"/>
          <p:cNvPicPr>
            <a:picLocks noChangeAspect="1"/>
          </p:cNvPicPr>
          <p:nvPr/>
        </p:nvPicPr>
        <p:blipFill>
          <a:blip r:embed="rId3"/>
          <a:stretch>
            <a:fillRect/>
          </a:stretch>
        </p:blipFill>
        <p:spPr>
          <a:xfrm>
            <a:off x="11482669" y="281269"/>
            <a:ext cx="333573" cy="333573"/>
          </a:xfrm>
          <a:prstGeom prst="rect">
            <a:avLst/>
          </a:prstGeom>
        </p:spPr>
      </p:pic>
      <p:sp>
        <p:nvSpPr>
          <p:cNvPr id="7" name="Rectangle 6"/>
          <p:cNvSpPr/>
          <p:nvPr/>
        </p:nvSpPr>
        <p:spPr>
          <a:xfrm>
            <a:off x="411480" y="1298448"/>
            <a:ext cx="6949440" cy="4828032"/>
          </a:xfrm>
          <a:prstGeom prst="rect">
            <a:avLst/>
          </a:prstGeom>
          <a:solidFill>
            <a:srgbClr val="16163A"/>
          </a:solidFill>
          <a:ln w="12700">
            <a:solidFill>
              <a:srgbClr val="2D2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298448"/>
            <a:ext cx="6949440" cy="384048"/>
          </a:xfrm>
          <a:prstGeom prst="rect">
            <a:avLst/>
          </a:prstGeom>
          <a:solidFill>
            <a:srgbClr val="3F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371600"/>
            <a:ext cx="6675120" cy="292608"/>
          </a:xfrm>
          <a:prstGeom prst="rect">
            <a:avLst/>
          </a:prstGeom>
          <a:noFill/>
        </p:spPr>
        <p:txBody>
          <a:bodyPr wrap="square" lIns="0" tIns="0" rIns="0" bIns="0">
            <a:spAutoFit/>
          </a:bodyPr>
          <a:lstStyle/>
          <a:p>
            <a:pPr algn="l"/>
            <a:r>
              <a:rPr lang="en-US" sz="1300" b="1" i="0" noProof="1">
                <a:solidFill>
                  <a:srgbClr val="A5B4FC"/>
                </a:solidFill>
                <a:latin typeface="Calibri"/>
              </a:rPr>
              <a:t>Band × Confidence  →  safety_posture</a:t>
            </a:r>
          </a:p>
        </p:txBody>
      </p:sp>
      <p:sp>
        <p:nvSpPr>
          <p:cNvPr id="10" name="Rectangle 9"/>
          <p:cNvSpPr/>
          <p:nvPr/>
        </p:nvSpPr>
        <p:spPr>
          <a:xfrm>
            <a:off x="411480" y="1719072"/>
            <a:ext cx="6949440" cy="274320"/>
          </a:xfrm>
          <a:prstGeom prst="rect">
            <a:avLst/>
          </a:prstGeom>
          <a:solidFill>
            <a:srgbClr val="3F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1208" y="1764792"/>
            <a:ext cx="1554480" cy="201168"/>
          </a:xfrm>
          <a:prstGeom prst="rect">
            <a:avLst/>
          </a:prstGeom>
          <a:noFill/>
        </p:spPr>
        <p:txBody>
          <a:bodyPr wrap="square" lIns="0" tIns="0" rIns="0" bIns="0">
            <a:spAutoFit/>
          </a:bodyPr>
          <a:lstStyle/>
          <a:p>
            <a:pPr algn="l"/>
            <a:r>
              <a:rPr lang="en-US" sz="1100" b="1" i="0" noProof="1">
                <a:solidFill>
                  <a:srgbClr val="94A3B8"/>
                </a:solidFill>
                <a:latin typeface="Calibri"/>
              </a:rPr>
              <a:t>Band</a:t>
            </a:r>
          </a:p>
        </p:txBody>
      </p:sp>
      <p:sp>
        <p:nvSpPr>
          <p:cNvPr id="12" name="TextBox 11"/>
          <p:cNvSpPr txBox="1"/>
          <p:nvPr/>
        </p:nvSpPr>
        <p:spPr>
          <a:xfrm>
            <a:off x="2167128" y="1764792"/>
            <a:ext cx="1005839" cy="201168"/>
          </a:xfrm>
          <a:prstGeom prst="rect">
            <a:avLst/>
          </a:prstGeom>
          <a:noFill/>
        </p:spPr>
        <p:txBody>
          <a:bodyPr wrap="square" lIns="0" tIns="0" rIns="0" bIns="0">
            <a:spAutoFit/>
          </a:bodyPr>
          <a:lstStyle/>
          <a:p>
            <a:pPr algn="l"/>
            <a:r>
              <a:rPr lang="en-US" sz="1100" b="1" i="0" noProof="1">
                <a:solidFill>
                  <a:srgbClr val="94A3B8"/>
                </a:solidFill>
                <a:latin typeface="Calibri"/>
              </a:rPr>
              <a:t>Confidence</a:t>
            </a:r>
          </a:p>
        </p:txBody>
      </p:sp>
      <p:sp>
        <p:nvSpPr>
          <p:cNvPr id="13" name="TextBox 12"/>
          <p:cNvSpPr txBox="1"/>
          <p:nvPr/>
        </p:nvSpPr>
        <p:spPr>
          <a:xfrm>
            <a:off x="3264408" y="1764792"/>
            <a:ext cx="3986784" cy="201168"/>
          </a:xfrm>
          <a:prstGeom prst="rect">
            <a:avLst/>
          </a:prstGeom>
          <a:noFill/>
        </p:spPr>
        <p:txBody>
          <a:bodyPr wrap="square" lIns="0" tIns="0" rIns="0" bIns="0">
            <a:spAutoFit/>
          </a:bodyPr>
          <a:lstStyle/>
          <a:p>
            <a:pPr algn="l"/>
            <a:r>
              <a:rPr lang="en-US" sz="1100" b="1" i="0" noProof="1">
                <a:solidFill>
                  <a:srgbClr val="94A3B8"/>
                </a:solidFill>
                <a:latin typeface="Calibri"/>
              </a:rPr>
              <a:t>Action</a:t>
            </a:r>
          </a:p>
        </p:txBody>
      </p:sp>
      <p:sp>
        <p:nvSpPr>
          <p:cNvPr id="14" name="Rectangle 13"/>
          <p:cNvSpPr/>
          <p:nvPr/>
        </p:nvSpPr>
        <p:spPr>
          <a:xfrm>
            <a:off x="411480" y="2029967"/>
            <a:ext cx="6949440" cy="475488"/>
          </a:xfrm>
          <a:prstGeom prst="rect">
            <a:avLst/>
          </a:prstGeom>
          <a:solidFill>
            <a:srgbClr val="16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2029967"/>
            <a:ext cx="6949440" cy="9144"/>
          </a:xfrm>
          <a:prstGeom prst="rect">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 y="2130551"/>
            <a:ext cx="1554480" cy="274320"/>
          </a:xfrm>
          <a:prstGeom prst="rect">
            <a:avLst/>
          </a:prstGeom>
          <a:noFill/>
        </p:spPr>
        <p:txBody>
          <a:bodyPr wrap="square" lIns="0" tIns="0" rIns="0" bIns="0">
            <a:spAutoFit/>
          </a:bodyPr>
          <a:lstStyle/>
          <a:p>
            <a:pPr algn="l"/>
            <a:r>
              <a:rPr lang="en-US" sz="1100" b="1" i="0" noProof="1">
                <a:solidFill>
                  <a:srgbClr val="94A3B8"/>
                </a:solidFill>
                <a:latin typeface="Calibri"/>
              </a:rPr>
              <a:t>unknown</a:t>
            </a:r>
          </a:p>
        </p:txBody>
      </p:sp>
      <p:sp>
        <p:nvSpPr>
          <p:cNvPr id="17" name="TextBox 16"/>
          <p:cNvSpPr txBox="1"/>
          <p:nvPr/>
        </p:nvSpPr>
        <p:spPr>
          <a:xfrm>
            <a:off x="2167128" y="2130551"/>
            <a:ext cx="1005839" cy="274320"/>
          </a:xfrm>
          <a:prstGeom prst="rect">
            <a:avLst/>
          </a:prstGeom>
          <a:noFill/>
        </p:spPr>
        <p:txBody>
          <a:bodyPr wrap="square" lIns="0" tIns="0" rIns="0" bIns="0">
            <a:spAutoFit/>
          </a:bodyPr>
          <a:lstStyle/>
          <a:p>
            <a:pPr algn="l"/>
            <a:r>
              <a:rPr lang="en-US" sz="1100" b="0" i="0" noProof="1">
                <a:solidFill>
                  <a:srgbClr val="94A3B8"/>
                </a:solidFill>
                <a:latin typeface="Calibri"/>
              </a:rPr>
              <a:t>any</a:t>
            </a:r>
          </a:p>
        </p:txBody>
      </p:sp>
      <p:sp>
        <p:nvSpPr>
          <p:cNvPr id="18" name="TextBox 17"/>
          <p:cNvSpPr txBox="1"/>
          <p:nvPr/>
        </p:nvSpPr>
        <p:spPr>
          <a:xfrm>
            <a:off x="3264408" y="2130551"/>
            <a:ext cx="3986784" cy="274320"/>
          </a:xfrm>
          <a:prstGeom prst="rect">
            <a:avLst/>
          </a:prstGeom>
          <a:noFill/>
        </p:spPr>
        <p:txBody>
          <a:bodyPr wrap="square" lIns="0" tIns="0" rIns="0" bIns="0">
            <a:spAutoFit/>
          </a:bodyPr>
          <a:lstStyle/>
          <a:p>
            <a:pPr algn="l"/>
            <a:r>
              <a:rPr lang="en-US" sz="1100" b="0" i="0" noProof="1">
                <a:solidFill>
                  <a:srgbClr val="F1F5F9"/>
                </a:solidFill>
                <a:latin typeface="Calibri"/>
              </a:rPr>
              <a:t>Default safe — universally-safe behavior, no inference yet</a:t>
            </a:r>
          </a:p>
        </p:txBody>
      </p:sp>
      <p:sp>
        <p:nvSpPr>
          <p:cNvPr id="19" name="Rectangle 18"/>
          <p:cNvSpPr/>
          <p:nvPr/>
        </p:nvSpPr>
        <p:spPr>
          <a:xfrm>
            <a:off x="411480" y="2505456"/>
            <a:ext cx="6949440" cy="475488"/>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1480" y="2505456"/>
            <a:ext cx="6949440" cy="9144"/>
          </a:xfrm>
          <a:prstGeom prst="rect">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 y="2606039"/>
            <a:ext cx="1554480" cy="274320"/>
          </a:xfrm>
          <a:prstGeom prst="rect">
            <a:avLst/>
          </a:prstGeom>
          <a:noFill/>
        </p:spPr>
        <p:txBody>
          <a:bodyPr wrap="square" lIns="0" tIns="0" rIns="0" bIns="0">
            <a:spAutoFit/>
          </a:bodyPr>
          <a:lstStyle/>
          <a:p>
            <a:pPr algn="l"/>
            <a:r>
              <a:rPr lang="en-US" sz="1100" b="1" i="0" noProof="1">
                <a:solidFill>
                  <a:srgbClr val="E84242"/>
                </a:solidFill>
                <a:latin typeface="Calibri"/>
              </a:rPr>
              <a:t>likely-child</a:t>
            </a:r>
          </a:p>
        </p:txBody>
      </p:sp>
      <p:sp>
        <p:nvSpPr>
          <p:cNvPr id="22" name="TextBox 21"/>
          <p:cNvSpPr txBox="1"/>
          <p:nvPr/>
        </p:nvSpPr>
        <p:spPr>
          <a:xfrm>
            <a:off x="2167128" y="2606039"/>
            <a:ext cx="1005839" cy="274320"/>
          </a:xfrm>
          <a:prstGeom prst="rect">
            <a:avLst/>
          </a:prstGeom>
          <a:noFill/>
        </p:spPr>
        <p:txBody>
          <a:bodyPr wrap="square" lIns="0" tIns="0" rIns="0" bIns="0">
            <a:spAutoFit/>
          </a:bodyPr>
          <a:lstStyle/>
          <a:p>
            <a:pPr algn="l"/>
            <a:r>
              <a:rPr lang="en-US" sz="1100" b="0" i="0" noProof="1">
                <a:solidFill>
                  <a:srgbClr val="94A3B8"/>
                </a:solidFill>
                <a:latin typeface="Calibri"/>
              </a:rPr>
              <a:t>low</a:t>
            </a:r>
          </a:p>
        </p:txBody>
      </p:sp>
      <p:sp>
        <p:nvSpPr>
          <p:cNvPr id="23" name="TextBox 22"/>
          <p:cNvSpPr txBox="1"/>
          <p:nvPr/>
        </p:nvSpPr>
        <p:spPr>
          <a:xfrm>
            <a:off x="3264408" y="2606039"/>
            <a:ext cx="3986784" cy="274320"/>
          </a:xfrm>
          <a:prstGeom prst="rect">
            <a:avLst/>
          </a:prstGeom>
          <a:noFill/>
        </p:spPr>
        <p:txBody>
          <a:bodyPr wrap="square" lIns="0" tIns="0" rIns="0" bIns="0">
            <a:spAutoFit/>
          </a:bodyPr>
          <a:lstStyle/>
          <a:p>
            <a:pPr algn="l"/>
            <a:r>
              <a:rPr lang="en-US" sz="1100" b="0" i="0" noProof="1">
                <a:solidFill>
                  <a:srgbClr val="F1F5F9"/>
                </a:solidFill>
                <a:latin typeface="Calibri"/>
              </a:rPr>
              <a:t>Tighten content filters slightly, log for review</a:t>
            </a:r>
          </a:p>
        </p:txBody>
      </p:sp>
      <p:sp>
        <p:nvSpPr>
          <p:cNvPr id="24" name="Rectangle 23"/>
          <p:cNvSpPr/>
          <p:nvPr/>
        </p:nvSpPr>
        <p:spPr>
          <a:xfrm>
            <a:off x="411480" y="2980944"/>
            <a:ext cx="6949440" cy="475488"/>
          </a:xfrm>
          <a:prstGeom prst="rect">
            <a:avLst/>
          </a:prstGeom>
          <a:solidFill>
            <a:srgbClr val="16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11480" y="2980944"/>
            <a:ext cx="6949440" cy="9144"/>
          </a:xfrm>
          <a:prstGeom prst="rect">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1208" y="3081527"/>
            <a:ext cx="1554480" cy="274320"/>
          </a:xfrm>
          <a:prstGeom prst="rect">
            <a:avLst/>
          </a:prstGeom>
          <a:noFill/>
        </p:spPr>
        <p:txBody>
          <a:bodyPr wrap="square" lIns="0" tIns="0" rIns="0" bIns="0">
            <a:spAutoFit/>
          </a:bodyPr>
          <a:lstStyle/>
          <a:p>
            <a:pPr algn="l"/>
            <a:r>
              <a:rPr lang="en-US" sz="1100" b="1" i="0" noProof="1">
                <a:solidFill>
                  <a:srgbClr val="E84242"/>
                </a:solidFill>
                <a:latin typeface="Calibri"/>
              </a:rPr>
              <a:t>likely-child</a:t>
            </a:r>
          </a:p>
        </p:txBody>
      </p:sp>
      <p:sp>
        <p:nvSpPr>
          <p:cNvPr id="27" name="TextBox 26"/>
          <p:cNvSpPr txBox="1"/>
          <p:nvPr/>
        </p:nvSpPr>
        <p:spPr>
          <a:xfrm>
            <a:off x="2167128" y="3081527"/>
            <a:ext cx="1005839" cy="274320"/>
          </a:xfrm>
          <a:prstGeom prst="rect">
            <a:avLst/>
          </a:prstGeom>
          <a:noFill/>
        </p:spPr>
        <p:txBody>
          <a:bodyPr wrap="square" lIns="0" tIns="0" rIns="0" bIns="0">
            <a:spAutoFit/>
          </a:bodyPr>
          <a:lstStyle/>
          <a:p>
            <a:pPr algn="l"/>
            <a:r>
              <a:rPr lang="en-US" sz="1100" b="0" i="0" noProof="1">
                <a:solidFill>
                  <a:srgbClr val="F59E0B"/>
                </a:solidFill>
                <a:latin typeface="Calibri"/>
              </a:rPr>
              <a:t>medium</a:t>
            </a:r>
          </a:p>
        </p:txBody>
      </p:sp>
      <p:sp>
        <p:nvSpPr>
          <p:cNvPr id="28" name="TextBox 27"/>
          <p:cNvSpPr txBox="1"/>
          <p:nvPr/>
        </p:nvSpPr>
        <p:spPr>
          <a:xfrm>
            <a:off x="3264408" y="3081527"/>
            <a:ext cx="3986784" cy="274320"/>
          </a:xfrm>
          <a:prstGeom prst="rect">
            <a:avLst/>
          </a:prstGeom>
          <a:noFill/>
        </p:spPr>
        <p:txBody>
          <a:bodyPr wrap="square" lIns="0" tIns="0" rIns="0" bIns="0">
            <a:spAutoFit/>
          </a:bodyPr>
          <a:lstStyle/>
          <a:p>
            <a:pPr algn="l"/>
            <a:r>
              <a:rPr lang="en-US" sz="1100" b="0" i="0" noProof="1">
                <a:solidFill>
                  <a:srgbClr val="F1F5F9"/>
                </a:solidFill>
                <a:latin typeface="Calibri"/>
              </a:rPr>
              <a:t>Restrict mature features, adjust tone profile</a:t>
            </a:r>
          </a:p>
        </p:txBody>
      </p:sp>
      <p:sp>
        <p:nvSpPr>
          <p:cNvPr id="29" name="Rectangle 28"/>
          <p:cNvSpPr/>
          <p:nvPr/>
        </p:nvSpPr>
        <p:spPr>
          <a:xfrm>
            <a:off x="411480" y="3456432"/>
            <a:ext cx="6949440" cy="475488"/>
          </a:xfrm>
          <a:prstGeom prst="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11480" y="3456432"/>
            <a:ext cx="6949440" cy="9144"/>
          </a:xfrm>
          <a:prstGeom prst="rect">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1208" y="3557015"/>
            <a:ext cx="1554480" cy="274320"/>
          </a:xfrm>
          <a:prstGeom prst="rect">
            <a:avLst/>
          </a:prstGeom>
          <a:noFill/>
        </p:spPr>
        <p:txBody>
          <a:bodyPr wrap="square" lIns="0" tIns="0" rIns="0" bIns="0">
            <a:spAutoFit/>
          </a:bodyPr>
          <a:lstStyle/>
          <a:p>
            <a:pPr algn="l"/>
            <a:r>
              <a:rPr lang="en-US" sz="1100" b="1" i="0" noProof="1">
                <a:solidFill>
                  <a:srgbClr val="E84242"/>
                </a:solidFill>
                <a:latin typeface="Calibri"/>
              </a:rPr>
              <a:t>likely-child</a:t>
            </a:r>
          </a:p>
        </p:txBody>
      </p:sp>
      <p:sp>
        <p:nvSpPr>
          <p:cNvPr id="32" name="TextBox 31"/>
          <p:cNvSpPr txBox="1"/>
          <p:nvPr/>
        </p:nvSpPr>
        <p:spPr>
          <a:xfrm>
            <a:off x="2167128" y="3557015"/>
            <a:ext cx="1005839" cy="274320"/>
          </a:xfrm>
          <a:prstGeom prst="rect">
            <a:avLst/>
          </a:prstGeom>
          <a:noFill/>
        </p:spPr>
        <p:txBody>
          <a:bodyPr wrap="square" lIns="0" tIns="0" rIns="0" bIns="0">
            <a:spAutoFit/>
          </a:bodyPr>
          <a:lstStyle/>
          <a:p>
            <a:pPr algn="l"/>
            <a:r>
              <a:rPr lang="en-US" sz="1100" b="0" i="0" noProof="1">
                <a:solidFill>
                  <a:srgbClr val="E84242"/>
                </a:solidFill>
                <a:latin typeface="Calibri"/>
              </a:rPr>
              <a:t>high</a:t>
            </a:r>
          </a:p>
        </p:txBody>
      </p:sp>
      <p:sp>
        <p:nvSpPr>
          <p:cNvPr id="33" name="TextBox 32"/>
          <p:cNvSpPr txBox="1"/>
          <p:nvPr/>
        </p:nvSpPr>
        <p:spPr>
          <a:xfrm>
            <a:off x="3264408" y="3557015"/>
            <a:ext cx="3986784" cy="274320"/>
          </a:xfrm>
          <a:prstGeom prst="rect">
            <a:avLst/>
          </a:prstGeom>
          <a:noFill/>
        </p:spPr>
        <p:txBody>
          <a:bodyPr wrap="square" lIns="0" tIns="0" rIns="0" bIns="0">
            <a:spAutoFit/>
          </a:bodyPr>
          <a:lstStyle/>
          <a:p>
            <a:pPr algn="l"/>
            <a:r>
              <a:rPr lang="en-US" sz="1100" b="0" i="0" noProof="1">
                <a:solidFill>
                  <a:srgbClr val="E84242"/>
                </a:solidFill>
                <a:latin typeface="Calibri"/>
              </a:rPr>
              <a:t>→ STEP-UP: confirm age, restrict, or hand off</a:t>
            </a:r>
          </a:p>
        </p:txBody>
      </p:sp>
      <p:sp>
        <p:nvSpPr>
          <p:cNvPr id="34" name="Rectangle 33"/>
          <p:cNvSpPr/>
          <p:nvPr/>
        </p:nvSpPr>
        <p:spPr>
          <a:xfrm>
            <a:off x="411480" y="3931920"/>
            <a:ext cx="6949440" cy="475488"/>
          </a:xfrm>
          <a:prstGeom prst="rect">
            <a:avLst/>
          </a:prstGeom>
          <a:solidFill>
            <a:srgbClr val="16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11480" y="3931920"/>
            <a:ext cx="6949440" cy="9144"/>
          </a:xfrm>
          <a:prstGeom prst="rect">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1208" y="4032504"/>
            <a:ext cx="1554480" cy="274320"/>
          </a:xfrm>
          <a:prstGeom prst="rect">
            <a:avLst/>
          </a:prstGeom>
          <a:noFill/>
        </p:spPr>
        <p:txBody>
          <a:bodyPr wrap="square" lIns="0" tIns="0" rIns="0" bIns="0">
            <a:spAutoFit/>
          </a:bodyPr>
          <a:lstStyle/>
          <a:p>
            <a:pPr algn="l"/>
            <a:r>
              <a:rPr lang="en-US" sz="1100" b="1" i="0" noProof="1">
                <a:solidFill>
                  <a:srgbClr val="F59E0B"/>
                </a:solidFill>
                <a:latin typeface="Calibri"/>
              </a:rPr>
              <a:t>likely-teen</a:t>
            </a:r>
          </a:p>
        </p:txBody>
      </p:sp>
      <p:sp>
        <p:nvSpPr>
          <p:cNvPr id="37" name="TextBox 36"/>
          <p:cNvSpPr txBox="1"/>
          <p:nvPr/>
        </p:nvSpPr>
        <p:spPr>
          <a:xfrm>
            <a:off x="2167128" y="4032504"/>
            <a:ext cx="1005839" cy="274320"/>
          </a:xfrm>
          <a:prstGeom prst="rect">
            <a:avLst/>
          </a:prstGeom>
          <a:noFill/>
        </p:spPr>
        <p:txBody>
          <a:bodyPr wrap="square" lIns="0" tIns="0" rIns="0" bIns="0">
            <a:spAutoFit/>
          </a:bodyPr>
          <a:lstStyle/>
          <a:p>
            <a:pPr algn="l"/>
            <a:r>
              <a:rPr lang="en-US" sz="1100" b="0" i="0" noProof="1">
                <a:solidFill>
                  <a:srgbClr val="94A3B8"/>
                </a:solidFill>
                <a:latin typeface="Calibri"/>
              </a:rPr>
              <a:t>low</a:t>
            </a:r>
          </a:p>
        </p:txBody>
      </p:sp>
      <p:sp>
        <p:nvSpPr>
          <p:cNvPr id="38" name="TextBox 37"/>
          <p:cNvSpPr txBox="1"/>
          <p:nvPr/>
        </p:nvSpPr>
        <p:spPr>
          <a:xfrm>
            <a:off x="3264408" y="4032504"/>
            <a:ext cx="3986784" cy="274320"/>
          </a:xfrm>
          <a:prstGeom prst="rect">
            <a:avLst/>
          </a:prstGeom>
          <a:noFill/>
        </p:spPr>
        <p:txBody>
          <a:bodyPr wrap="square" lIns="0" tIns="0" rIns="0" bIns="0">
            <a:spAutoFit/>
          </a:bodyPr>
          <a:lstStyle/>
          <a:p>
            <a:pPr algn="l"/>
            <a:r>
              <a:rPr lang="en-US" sz="1100" b="0" i="0" noProof="1">
                <a:solidFill>
                  <a:srgbClr val="F1F5F9"/>
                </a:solidFill>
                <a:latin typeface="Calibri"/>
              </a:rPr>
              <a:t>Tighten filters lightly — ask vs restrict</a:t>
            </a:r>
          </a:p>
        </p:txBody>
      </p:sp>
      <p:sp>
        <p:nvSpPr>
          <p:cNvPr id="39" name="Rectangle 38"/>
          <p:cNvSpPr/>
          <p:nvPr/>
        </p:nvSpPr>
        <p:spPr>
          <a:xfrm>
            <a:off x="411480" y="4407408"/>
            <a:ext cx="6949440" cy="475488"/>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11480" y="4407408"/>
            <a:ext cx="6949440" cy="9144"/>
          </a:xfrm>
          <a:prstGeom prst="rect">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21208" y="4507992"/>
            <a:ext cx="1554480" cy="274320"/>
          </a:xfrm>
          <a:prstGeom prst="rect">
            <a:avLst/>
          </a:prstGeom>
          <a:noFill/>
        </p:spPr>
        <p:txBody>
          <a:bodyPr wrap="square" lIns="0" tIns="0" rIns="0" bIns="0">
            <a:spAutoFit/>
          </a:bodyPr>
          <a:lstStyle/>
          <a:p>
            <a:pPr algn="l"/>
            <a:r>
              <a:rPr lang="en-US" sz="1100" b="1" i="0" noProof="1">
                <a:solidFill>
                  <a:srgbClr val="F59E0B"/>
                </a:solidFill>
                <a:latin typeface="Calibri"/>
              </a:rPr>
              <a:t>likely-teen</a:t>
            </a:r>
          </a:p>
        </p:txBody>
      </p:sp>
      <p:sp>
        <p:nvSpPr>
          <p:cNvPr id="42" name="TextBox 41"/>
          <p:cNvSpPr txBox="1"/>
          <p:nvPr/>
        </p:nvSpPr>
        <p:spPr>
          <a:xfrm>
            <a:off x="2167128" y="4507992"/>
            <a:ext cx="1005839" cy="274320"/>
          </a:xfrm>
          <a:prstGeom prst="rect">
            <a:avLst/>
          </a:prstGeom>
          <a:noFill/>
        </p:spPr>
        <p:txBody>
          <a:bodyPr wrap="square" lIns="0" tIns="0" rIns="0" bIns="0">
            <a:spAutoFit/>
          </a:bodyPr>
          <a:lstStyle/>
          <a:p>
            <a:pPr algn="l"/>
            <a:r>
              <a:rPr lang="en-US" sz="1100" b="0" i="0" noProof="1">
                <a:solidFill>
                  <a:srgbClr val="E84242"/>
                </a:solidFill>
                <a:latin typeface="Calibri"/>
              </a:rPr>
              <a:t>high</a:t>
            </a:r>
          </a:p>
        </p:txBody>
      </p:sp>
      <p:sp>
        <p:nvSpPr>
          <p:cNvPr id="43" name="TextBox 42"/>
          <p:cNvSpPr txBox="1"/>
          <p:nvPr/>
        </p:nvSpPr>
        <p:spPr>
          <a:xfrm>
            <a:off x="3264408" y="4507992"/>
            <a:ext cx="3986784" cy="274320"/>
          </a:xfrm>
          <a:prstGeom prst="rect">
            <a:avLst/>
          </a:prstGeom>
          <a:noFill/>
        </p:spPr>
        <p:txBody>
          <a:bodyPr wrap="square" lIns="0" tIns="0" rIns="0" bIns="0">
            <a:spAutoFit/>
          </a:bodyPr>
          <a:lstStyle/>
          <a:p>
            <a:pPr algn="l"/>
            <a:r>
              <a:rPr lang="en-US" sz="1100" b="0" i="0" noProof="1">
                <a:solidFill>
                  <a:srgbClr val="F1F5F9"/>
                </a:solidFill>
                <a:latin typeface="Calibri"/>
              </a:rPr>
              <a:t>Restrict age-sensitive features, prompt confirmation</a:t>
            </a:r>
          </a:p>
        </p:txBody>
      </p:sp>
      <p:sp>
        <p:nvSpPr>
          <p:cNvPr id="44" name="Rectangle 43"/>
          <p:cNvSpPr/>
          <p:nvPr/>
        </p:nvSpPr>
        <p:spPr>
          <a:xfrm>
            <a:off x="411480" y="4882896"/>
            <a:ext cx="6949440" cy="475488"/>
          </a:xfrm>
          <a:prstGeom prst="rect">
            <a:avLst/>
          </a:prstGeom>
          <a:solidFill>
            <a:srgbClr val="16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11480" y="4882896"/>
            <a:ext cx="6949440" cy="9144"/>
          </a:xfrm>
          <a:prstGeom prst="rect">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21208" y="4983480"/>
            <a:ext cx="1554480" cy="274320"/>
          </a:xfrm>
          <a:prstGeom prst="rect">
            <a:avLst/>
          </a:prstGeom>
          <a:noFill/>
        </p:spPr>
        <p:txBody>
          <a:bodyPr wrap="square" lIns="0" tIns="0" rIns="0" bIns="0">
            <a:spAutoFit/>
          </a:bodyPr>
          <a:lstStyle/>
          <a:p>
            <a:pPr algn="l"/>
            <a:r>
              <a:rPr lang="en-US" sz="1100" b="1" i="0" noProof="1">
                <a:solidFill>
                  <a:srgbClr val="10B981"/>
                </a:solidFill>
                <a:latin typeface="Calibri"/>
              </a:rPr>
              <a:t>likely-adult</a:t>
            </a:r>
          </a:p>
        </p:txBody>
      </p:sp>
      <p:sp>
        <p:nvSpPr>
          <p:cNvPr id="47" name="TextBox 46"/>
          <p:cNvSpPr txBox="1"/>
          <p:nvPr/>
        </p:nvSpPr>
        <p:spPr>
          <a:xfrm>
            <a:off x="2167128" y="4983480"/>
            <a:ext cx="1005839" cy="274320"/>
          </a:xfrm>
          <a:prstGeom prst="rect">
            <a:avLst/>
          </a:prstGeom>
          <a:noFill/>
        </p:spPr>
        <p:txBody>
          <a:bodyPr wrap="square" lIns="0" tIns="0" rIns="0" bIns="0">
            <a:spAutoFit/>
          </a:bodyPr>
          <a:lstStyle/>
          <a:p>
            <a:pPr algn="l"/>
            <a:r>
              <a:rPr lang="en-US" sz="1100" b="0" i="0" noProof="1">
                <a:solidFill>
                  <a:srgbClr val="E84242"/>
                </a:solidFill>
                <a:latin typeface="Calibri"/>
              </a:rPr>
              <a:t>high</a:t>
            </a:r>
          </a:p>
        </p:txBody>
      </p:sp>
      <p:sp>
        <p:nvSpPr>
          <p:cNvPr id="48" name="TextBox 47"/>
          <p:cNvSpPr txBox="1"/>
          <p:nvPr/>
        </p:nvSpPr>
        <p:spPr>
          <a:xfrm>
            <a:off x="3264408" y="4983480"/>
            <a:ext cx="3986784" cy="274320"/>
          </a:xfrm>
          <a:prstGeom prst="rect">
            <a:avLst/>
          </a:prstGeom>
          <a:noFill/>
        </p:spPr>
        <p:txBody>
          <a:bodyPr wrap="square" lIns="0" tIns="0" rIns="0" bIns="0">
            <a:spAutoFit/>
          </a:bodyPr>
          <a:lstStyle/>
          <a:p>
            <a:pPr algn="l"/>
            <a:r>
              <a:rPr lang="en-US" sz="1100" b="0" i="0" noProof="1">
                <a:solidFill>
                  <a:srgbClr val="F1F5F9"/>
                </a:solidFill>
                <a:latin typeface="Calibri"/>
              </a:rPr>
              <a:t>Full features — posture relaxes (still monitors)</a:t>
            </a:r>
          </a:p>
        </p:txBody>
      </p:sp>
      <p:sp>
        <p:nvSpPr>
          <p:cNvPr id="49" name="Rounded Rectangle 48"/>
          <p:cNvSpPr/>
          <p:nvPr/>
        </p:nvSpPr>
        <p:spPr>
          <a:xfrm>
            <a:off x="7516368" y="1298448"/>
            <a:ext cx="4617720" cy="2331720"/>
          </a:xfrm>
          <a:prstGeom prst="round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653528" y="1389888"/>
            <a:ext cx="4343400" cy="347472"/>
          </a:xfrm>
          <a:prstGeom prst="rect">
            <a:avLst/>
          </a:prstGeom>
          <a:noFill/>
        </p:spPr>
        <p:txBody>
          <a:bodyPr wrap="square" lIns="0" tIns="0" rIns="0" bIns="0">
            <a:spAutoFit/>
          </a:bodyPr>
          <a:lstStyle/>
          <a:p>
            <a:pPr algn="l"/>
            <a:r>
              <a:rPr lang="en-US" sz="1400" b="1" i="0" noProof="1">
                <a:solidFill>
                  <a:srgbClr val="FCA5A5"/>
                </a:solidFill>
                <a:latin typeface="Calibri"/>
              </a:rPr>
              <a:t>Step-Up — The Real Backstop</a:t>
            </a:r>
          </a:p>
        </p:txBody>
      </p:sp>
      <p:sp>
        <p:nvSpPr>
          <p:cNvPr id="51" name="TextBox 50"/>
          <p:cNvSpPr txBox="1"/>
          <p:nvPr/>
        </p:nvSpPr>
        <p:spPr>
          <a:xfrm>
            <a:off x="7653528" y="1828800"/>
            <a:ext cx="4315968" cy="475488"/>
          </a:xfrm>
          <a:prstGeom prst="rect">
            <a:avLst/>
          </a:prstGeom>
          <a:noFill/>
        </p:spPr>
        <p:txBody>
          <a:bodyPr wrap="square" lIns="0" tIns="0" rIns="0" bIns="0">
            <a:spAutoFit/>
          </a:bodyPr>
          <a:lstStyle/>
          <a:p>
            <a:pPr algn="l"/>
            <a:r>
              <a:rPr lang="en-US" sz="1100" b="0" i="0" noProof="1">
                <a:solidFill>
                  <a:srgbClr val="F1F5F9"/>
                </a:solidFill>
                <a:latin typeface="Calibri"/>
              </a:rPr>
              <a:t>• Only for high-impact + high-confidence</a:t>
            </a:r>
          </a:p>
        </p:txBody>
      </p:sp>
      <p:sp>
        <p:nvSpPr>
          <p:cNvPr id="52" name="TextBox 51"/>
          <p:cNvSpPr txBox="1"/>
          <p:nvPr/>
        </p:nvSpPr>
        <p:spPr>
          <a:xfrm>
            <a:off x="7653528" y="2267712"/>
            <a:ext cx="4315968" cy="475488"/>
          </a:xfrm>
          <a:prstGeom prst="rect">
            <a:avLst/>
          </a:prstGeom>
          <a:noFill/>
        </p:spPr>
        <p:txBody>
          <a:bodyPr wrap="square" lIns="0" tIns="0" rIns="0" bIns="0">
            <a:spAutoFit/>
          </a:bodyPr>
          <a:lstStyle/>
          <a:p>
            <a:pPr algn="l"/>
            <a:r>
              <a:rPr lang="en-US" sz="1100" b="0" i="0" noProof="1">
                <a:solidFill>
                  <a:srgbClr val="F1F5F9"/>
                </a:solidFill>
                <a:latin typeface="Calibri"/>
              </a:rPr>
              <a:t>• SYNC: blocks that one reply until new
  posture applies. Everything else: async.</a:t>
            </a:r>
          </a:p>
        </p:txBody>
      </p:sp>
      <p:sp>
        <p:nvSpPr>
          <p:cNvPr id="53" name="TextBox 52"/>
          <p:cNvSpPr txBox="1"/>
          <p:nvPr/>
        </p:nvSpPr>
        <p:spPr>
          <a:xfrm>
            <a:off x="7653528" y="2706624"/>
            <a:ext cx="4315968" cy="475488"/>
          </a:xfrm>
          <a:prstGeom prst="rect">
            <a:avLst/>
          </a:prstGeom>
          <a:noFill/>
        </p:spPr>
        <p:txBody>
          <a:bodyPr wrap="square" lIns="0" tIns="0" rIns="0" bIns="0">
            <a:spAutoFit/>
          </a:bodyPr>
          <a:lstStyle/>
          <a:p>
            <a:pPr algn="l"/>
            <a:r>
              <a:rPr lang="en-US" sz="1100" b="0" i="0" noProof="1">
                <a:solidFill>
                  <a:srgbClr val="F1F5F9"/>
                </a:solidFill>
                <a:latin typeface="Calibri"/>
              </a:rPr>
              <a:t>• Asks to confirm age, restricts feature,
  or hands off to human review.</a:t>
            </a:r>
          </a:p>
        </p:txBody>
      </p:sp>
      <p:sp>
        <p:nvSpPr>
          <p:cNvPr id="54" name="TextBox 53"/>
          <p:cNvSpPr txBox="1"/>
          <p:nvPr/>
        </p:nvSpPr>
        <p:spPr>
          <a:xfrm>
            <a:off x="7653528" y="3145536"/>
            <a:ext cx="4315968" cy="475488"/>
          </a:xfrm>
          <a:prstGeom prst="rect">
            <a:avLst/>
          </a:prstGeom>
          <a:noFill/>
        </p:spPr>
        <p:txBody>
          <a:bodyPr wrap="square" lIns="0" tIns="0" rIns="0" bIns="0">
            <a:spAutoFit/>
          </a:bodyPr>
          <a:lstStyle/>
          <a:p>
            <a:pPr algn="l"/>
            <a:r>
              <a:rPr lang="en-US" sz="1100" b="0" i="0" noProof="1">
                <a:solidFill>
                  <a:srgbClr val="F1F5F9"/>
                </a:solidFill>
                <a:latin typeface="Calibri"/>
              </a:rPr>
              <a:t>• Explicit confirmation ALWAYS overrides
  the inference. Ground truth wins.</a:t>
            </a:r>
          </a:p>
        </p:txBody>
      </p:sp>
      <p:sp>
        <p:nvSpPr>
          <p:cNvPr id="55" name="Rounded Rectangle 54"/>
          <p:cNvSpPr/>
          <p:nvPr/>
        </p:nvSpPr>
        <p:spPr>
          <a:xfrm>
            <a:off x="7516368" y="3767328"/>
            <a:ext cx="4617720" cy="2359152"/>
          </a:xfrm>
          <a:prstGeom prst="roundRect">
            <a:avLst/>
          </a:prstGeom>
          <a:solidFill>
            <a:srgbClr val="04221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653528" y="3858768"/>
            <a:ext cx="4343400" cy="347472"/>
          </a:xfrm>
          <a:prstGeom prst="rect">
            <a:avLst/>
          </a:prstGeom>
          <a:noFill/>
        </p:spPr>
        <p:txBody>
          <a:bodyPr wrap="square" lIns="0" tIns="0" rIns="0" bIns="0">
            <a:spAutoFit/>
          </a:bodyPr>
          <a:lstStyle/>
          <a:p>
            <a:pPr algn="l"/>
            <a:r>
              <a:rPr lang="en-US" sz="1400" b="1" i="0" noProof="1">
                <a:solidFill>
                  <a:srgbClr val="6EE7B7"/>
                </a:solidFill>
                <a:latin typeface="Calibri"/>
              </a:rPr>
              <a:t>safety_posture Contract</a:t>
            </a:r>
          </a:p>
        </p:txBody>
      </p:sp>
      <p:sp>
        <p:nvSpPr>
          <p:cNvPr id="57" name="TextBox 56"/>
          <p:cNvSpPr txBox="1"/>
          <p:nvPr/>
        </p:nvSpPr>
        <p:spPr>
          <a:xfrm>
            <a:off x="7653528" y="4251960"/>
            <a:ext cx="4315968" cy="475488"/>
          </a:xfrm>
          <a:prstGeom prst="rect">
            <a:avLst/>
          </a:prstGeom>
          <a:noFill/>
        </p:spPr>
        <p:txBody>
          <a:bodyPr wrap="square" lIns="0" tIns="0" rIns="0" bIns="0">
            <a:spAutoFit/>
          </a:bodyPr>
          <a:lstStyle/>
          <a:p>
            <a:pPr algn="l"/>
            <a:r>
              <a:rPr lang="en-US" sz="1100" b="0" i="0" noProof="1">
                <a:solidFill>
                  <a:srgbClr val="F1F5F9"/>
                </a:solidFill>
                <a:latin typeface="Calibri"/>
              </a:rPr>
              <a:t>• {level, flags} — content filter level,
  feature allow/deny, tone profile</a:t>
            </a:r>
          </a:p>
        </p:txBody>
      </p:sp>
      <p:sp>
        <p:nvSpPr>
          <p:cNvPr id="58" name="TextBox 57"/>
          <p:cNvSpPr txBox="1"/>
          <p:nvPr/>
        </p:nvSpPr>
        <p:spPr>
          <a:xfrm>
            <a:off x="7653528" y="4690872"/>
            <a:ext cx="4315968" cy="475488"/>
          </a:xfrm>
          <a:prstGeom prst="rect">
            <a:avLst/>
          </a:prstGeom>
          <a:noFill/>
        </p:spPr>
        <p:txBody>
          <a:bodyPr wrap="square" lIns="0" tIns="0" rIns="0" bIns="0">
            <a:spAutoFit/>
          </a:bodyPr>
          <a:lstStyle/>
          <a:p>
            <a:pPr algn="l"/>
            <a:r>
              <a:rPr lang="en-US" sz="1100" b="0" i="0" noProof="1">
                <a:solidFill>
                  <a:srgbClr val="F1F5F9"/>
                </a:solidFill>
                <a:latin typeface="Calibri"/>
              </a:rPr>
              <a:t>• HOST assistant honors it — AgeBand
  never touches the model or reply.</a:t>
            </a:r>
          </a:p>
        </p:txBody>
      </p:sp>
      <p:sp>
        <p:nvSpPr>
          <p:cNvPr id="59" name="TextBox 58"/>
          <p:cNvSpPr txBox="1"/>
          <p:nvPr/>
        </p:nvSpPr>
        <p:spPr>
          <a:xfrm>
            <a:off x="7653528" y="5129784"/>
            <a:ext cx="4315968" cy="475488"/>
          </a:xfrm>
          <a:prstGeom prst="rect">
            <a:avLst/>
          </a:prstGeom>
          <a:noFill/>
        </p:spPr>
        <p:txBody>
          <a:bodyPr wrap="square" lIns="0" tIns="0" rIns="0" bIns="0">
            <a:spAutoFit/>
          </a:bodyPr>
          <a:lstStyle/>
          <a:p>
            <a:pPr algn="l"/>
            <a:r>
              <a:rPr lang="en-US" sz="1100" b="0" i="0" noProof="1">
                <a:solidFill>
                  <a:srgbClr val="F1F5F9"/>
                </a:solidFill>
                <a:latin typeface="Calibri"/>
              </a:rPr>
              <a:t>• Proportional and reversible.</a:t>
            </a:r>
          </a:p>
        </p:txBody>
      </p:sp>
      <p:sp>
        <p:nvSpPr>
          <p:cNvPr id="60" name="TextBox 59"/>
          <p:cNvSpPr txBox="1"/>
          <p:nvPr/>
        </p:nvSpPr>
        <p:spPr>
          <a:xfrm>
            <a:off x="7653528" y="5568696"/>
            <a:ext cx="4315968" cy="475488"/>
          </a:xfrm>
          <a:prstGeom prst="rect">
            <a:avLst/>
          </a:prstGeom>
          <a:noFill/>
        </p:spPr>
        <p:txBody>
          <a:bodyPr wrap="square" lIns="0" tIns="0" rIns="0" bIns="0">
            <a:spAutoFit/>
          </a:bodyPr>
          <a:lstStyle/>
          <a:p>
            <a:pPr algn="l"/>
            <a:r>
              <a:rPr lang="en-US" sz="1100" b="0" i="0" noProof="1">
                <a:solidFill>
                  <a:srgbClr val="F1F5F9"/>
                </a:solidFill>
                <a:latin typeface="Calibri"/>
              </a:rPr>
              <a:t>• inferred bands: ephemeral
  confirmed age: may persist vs account</a:t>
            </a:r>
          </a:p>
        </p:txBody>
      </p:sp>
      <p:sp>
        <p:nvSpPr>
          <p:cNvPr id="61" name="Rectangle 60"/>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63" name="TextBox 62"/>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8 /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jpg"/>
          <p:cNvPicPr>
            <a:picLocks noChangeAspect="1"/>
          </p:cNvPicPr>
          <p:nvPr/>
        </p:nvPicPr>
        <p:blipFill>
          <a:blip r:embed="rId3"/>
          <a:stretch>
            <a:fillRect/>
          </a:stretch>
        </p:blipFill>
        <p:spPr>
          <a:xfrm>
            <a:off x="8732520" y="237744"/>
            <a:ext cx="3200400" cy="1005840"/>
          </a:xfrm>
          <a:prstGeom prst="rect">
            <a:avLst/>
          </a:prstGeom>
        </p:spPr>
      </p:pic>
      <p:sp>
        <p:nvSpPr>
          <p:cNvPr id="4" name="Rounded Rectangle 3"/>
          <p:cNvSpPr/>
          <p:nvPr/>
        </p:nvSpPr>
        <p:spPr>
          <a:xfrm>
            <a:off x="8732520" y="237744"/>
            <a:ext cx="3200400" cy="1005840"/>
          </a:xfrm>
          <a:prstGeom prst="roundRect">
            <a:avLst/>
          </a:prstGeom>
          <a:no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1252728"/>
            <a:ext cx="3200400" cy="91440"/>
          </a:xfrm>
          <a:prstGeom prst="rect">
            <a:avLst/>
          </a:prstGeom>
          <a:noFill/>
        </p:spPr>
        <p:txBody>
          <a:bodyPr wrap="square" lIns="0" tIns="0" rIns="0" bIns="0">
            <a:spAutoFit/>
          </a:bodyPr>
          <a:lstStyle/>
          <a:p>
            <a:pPr algn="ctr"/>
            <a:r>
              <a:rPr lang="en-US" sz="700" b="0" i="0" noProof="1">
                <a:solidFill>
                  <a:srgbClr val="94A3B8"/>
                </a:solidFill>
                <a:latin typeface="Calibri"/>
              </a:rPr>
              <a:t>AMD Instinct MI300X  ·  ROCm  ·  vLLM</a:t>
            </a:r>
          </a:p>
        </p:txBody>
      </p:sp>
      <p:sp>
        <p:nvSpPr>
          <p:cNvPr id="6" name="Rectangle 5"/>
          <p:cNvSpPr/>
          <p:nvPr/>
        </p:nvSpPr>
        <p:spPr>
          <a:xfrm>
            <a:off x="411480" y="256032"/>
            <a:ext cx="11365992"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347472"/>
            <a:ext cx="11365992" cy="960120"/>
          </a:xfrm>
          <a:prstGeom prst="rect">
            <a:avLst/>
          </a:prstGeom>
          <a:noFill/>
        </p:spPr>
        <p:txBody>
          <a:bodyPr wrap="square" lIns="0" tIns="0" rIns="0" bIns="0">
            <a:spAutoFit/>
          </a:bodyPr>
          <a:lstStyle/>
          <a:p>
            <a:pPr algn="l"/>
            <a:r>
              <a:rPr lang="en-US" sz="3800" b="1" i="0" noProof="1">
                <a:solidFill>
                  <a:srgbClr val="F59E0B"/>
                </a:solidFill>
                <a:latin typeface="Calibri"/>
              </a:rPr>
              <a:t>★  Why It REQUIRES AMD</a:t>
            </a:r>
          </a:p>
        </p:txBody>
      </p:sp>
      <p:sp>
        <p:nvSpPr>
          <p:cNvPr id="8" name="Rounded Rectangle 7"/>
          <p:cNvSpPr/>
          <p:nvPr/>
        </p:nvSpPr>
        <p:spPr>
          <a:xfrm>
            <a:off x="411480" y="1353312"/>
            <a:ext cx="11365992" cy="1234440"/>
          </a:xfrm>
          <a:prstGeom prst="roundRect">
            <a:avLst/>
          </a:prstGeom>
          <a:solidFill>
            <a:srgbClr val="04223A"/>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247120" y="1389888"/>
            <a:ext cx="438912" cy="43891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ock.png"/>
          <p:cNvPicPr>
            <a:picLocks noChangeAspect="1"/>
          </p:cNvPicPr>
          <p:nvPr/>
        </p:nvPicPr>
        <p:blipFill>
          <a:blip r:embed="rId4"/>
          <a:stretch>
            <a:fillRect/>
          </a:stretch>
        </p:blipFill>
        <p:spPr>
          <a:xfrm>
            <a:off x="11299789" y="1442557"/>
            <a:ext cx="333573" cy="333573"/>
          </a:xfrm>
          <a:prstGeom prst="rect">
            <a:avLst/>
          </a:prstGeom>
        </p:spPr>
      </p:pic>
      <p:sp>
        <p:nvSpPr>
          <p:cNvPr id="11" name="TextBox 10"/>
          <p:cNvSpPr txBox="1"/>
          <p:nvPr/>
        </p:nvSpPr>
        <p:spPr>
          <a:xfrm>
            <a:off x="621792" y="1444752"/>
            <a:ext cx="10533888" cy="640080"/>
          </a:xfrm>
          <a:prstGeom prst="rect">
            <a:avLst/>
          </a:prstGeom>
          <a:noFill/>
        </p:spPr>
        <p:txBody>
          <a:bodyPr wrap="square" lIns="0" tIns="0" rIns="0" bIns="0">
            <a:spAutoFit/>
          </a:bodyPr>
          <a:lstStyle/>
          <a:p>
            <a:pPr algn="l"/>
            <a:r>
              <a:rPr lang="en-US" sz="1600" b="0" i="1" noProof="1">
                <a:solidFill>
                  <a:srgbClr val="7DD3FC"/>
                </a:solidFill>
                <a:latin typeface="Calibri"/>
              </a:rPr>
              <a:t>"Inferring whether a user is a minor from their private messages is the most sensitive attribute you could compute from the most sensitive data a product holds.</a:t>
            </a:r>
          </a:p>
        </p:txBody>
      </p:sp>
      <p:sp>
        <p:nvSpPr>
          <p:cNvPr id="12" name="TextBox 11"/>
          <p:cNvSpPr txBox="1"/>
          <p:nvPr/>
        </p:nvSpPr>
        <p:spPr>
          <a:xfrm>
            <a:off x="621792" y="2029968"/>
            <a:ext cx="10533888" cy="457200"/>
          </a:xfrm>
          <a:prstGeom prst="rect">
            <a:avLst/>
          </a:prstGeom>
          <a:noFill/>
        </p:spPr>
        <p:txBody>
          <a:bodyPr wrap="square" lIns="0" tIns="0" rIns="0" bIns="0">
            <a:spAutoFit/>
          </a:bodyPr>
          <a:lstStyle/>
          <a:p>
            <a:pPr algn="l"/>
            <a:r>
              <a:rPr lang="en-US" sz="1600" b="1" i="1" noProof="1">
                <a:solidFill>
                  <a:srgbClr val="7DD3FC"/>
                </a:solidFill>
                <a:latin typeface="Calibri"/>
              </a:rPr>
              <a:t>It legally and ethically cannot go to a third-party API."</a:t>
            </a:r>
          </a:p>
        </p:txBody>
      </p:sp>
      <p:sp>
        <p:nvSpPr>
          <p:cNvPr id="13" name="Rounded Rectangle 12"/>
          <p:cNvSpPr/>
          <p:nvPr/>
        </p:nvSpPr>
        <p:spPr>
          <a:xfrm>
            <a:off x="411480" y="2670048"/>
            <a:ext cx="11365992" cy="457200"/>
          </a:xfrm>
          <a:prstGeom prst="roundRect">
            <a:avLst/>
          </a:prstGeom>
          <a:solidFill>
            <a:srgbClr val="2A1C0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 y="2724912"/>
            <a:ext cx="10972800" cy="347472"/>
          </a:xfrm>
          <a:prstGeom prst="rect">
            <a:avLst/>
          </a:prstGeom>
          <a:noFill/>
        </p:spPr>
        <p:txBody>
          <a:bodyPr wrap="square" lIns="0" tIns="0" rIns="0" bIns="0">
            <a:spAutoFit/>
          </a:bodyPr>
          <a:lstStyle/>
          <a:p>
            <a:pPr algn="ctr"/>
            <a:r>
              <a:rPr lang="en-US" sz="1500" b="1" i="0" noProof="1">
                <a:solidFill>
                  <a:srgbClr val="F59E0B"/>
                </a:solidFill>
                <a:latin typeface="Calibri"/>
              </a:rPr>
              <a:t>Self-hosting isn't a compute story.  It's the entire reason this can exist.</a:t>
            </a:r>
          </a:p>
        </p:txBody>
      </p:sp>
      <p:sp>
        <p:nvSpPr>
          <p:cNvPr id="15" name="Rounded Rectangle 14"/>
          <p:cNvSpPr/>
          <p:nvPr/>
        </p:nvSpPr>
        <p:spPr>
          <a:xfrm>
            <a:off x="411480" y="3291840"/>
            <a:ext cx="3474720" cy="2834640"/>
          </a:xfrm>
          <a:prstGeom prst="roundRect">
            <a:avLst/>
          </a:prstGeom>
          <a:solidFill>
            <a:srgbClr val="16163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383280"/>
            <a:ext cx="3200400" cy="329184"/>
          </a:xfrm>
          <a:prstGeom prst="rect">
            <a:avLst/>
          </a:prstGeom>
          <a:noFill/>
        </p:spPr>
        <p:txBody>
          <a:bodyPr wrap="square" lIns="0" tIns="0" rIns="0" bIns="0">
            <a:spAutoFit/>
          </a:bodyPr>
          <a:lstStyle/>
          <a:p>
            <a:pPr algn="l"/>
            <a:r>
              <a:rPr lang="en-US" sz="1400" b="1" i="0" noProof="1">
                <a:solidFill>
                  <a:srgbClr val="0EA5E9"/>
                </a:solidFill>
                <a:latin typeface="Calibri"/>
              </a:rPr>
              <a:t>The Argument</a:t>
            </a:r>
          </a:p>
        </p:txBody>
      </p:sp>
      <p:sp>
        <p:nvSpPr>
          <p:cNvPr id="17" name="TextBox 16"/>
          <p:cNvSpPr txBox="1"/>
          <p:nvPr/>
        </p:nvSpPr>
        <p:spPr>
          <a:xfrm>
            <a:off x="548640" y="37947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Private messages are GDPR / COPPA
  regulated data.</a:t>
            </a:r>
          </a:p>
        </p:txBody>
      </p:sp>
      <p:sp>
        <p:nvSpPr>
          <p:cNvPr id="18" name="TextBox 17"/>
          <p:cNvSpPr txBox="1"/>
          <p:nvPr/>
        </p:nvSpPr>
        <p:spPr>
          <a:xfrm>
            <a:off x="548640" y="42519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Inferring 'likely a minor' = sensitive
  attribute under EU AI Act.</a:t>
            </a:r>
          </a:p>
        </p:txBody>
      </p:sp>
      <p:sp>
        <p:nvSpPr>
          <p:cNvPr id="19" name="TextBox 18"/>
          <p:cNvSpPr txBox="1"/>
          <p:nvPr/>
        </p:nvSpPr>
        <p:spPr>
          <a:xfrm>
            <a:off x="548640" y="47091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No legal basis to send that inference
  to a hosted inference API.</a:t>
            </a:r>
          </a:p>
        </p:txBody>
      </p:sp>
      <p:sp>
        <p:nvSpPr>
          <p:cNvPr id="20" name="TextBox 19"/>
          <p:cNvSpPr txBox="1"/>
          <p:nvPr/>
        </p:nvSpPr>
        <p:spPr>
          <a:xfrm>
            <a:off x="548640" y="51663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Operator's own hardware = stays inside
  the operator's data boundary.</a:t>
            </a:r>
          </a:p>
        </p:txBody>
      </p:sp>
      <p:sp>
        <p:nvSpPr>
          <p:cNvPr id="21" name="TextBox 20"/>
          <p:cNvSpPr txBox="1"/>
          <p:nvPr/>
        </p:nvSpPr>
        <p:spPr>
          <a:xfrm>
            <a:off x="548640" y="56235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NOT a device story — server-side,
  in the operator's datacenter.</a:t>
            </a:r>
          </a:p>
        </p:txBody>
      </p:sp>
      <p:sp>
        <p:nvSpPr>
          <p:cNvPr id="22" name="Rounded Rectangle 21"/>
          <p:cNvSpPr/>
          <p:nvPr/>
        </p:nvSpPr>
        <p:spPr>
          <a:xfrm>
            <a:off x="4023360" y="3291840"/>
            <a:ext cx="3474720" cy="2834640"/>
          </a:xfrm>
          <a:prstGeom prst="roundRect">
            <a:avLst/>
          </a:prstGeom>
          <a:solidFill>
            <a:srgbClr val="1616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60520" y="3383280"/>
            <a:ext cx="3200400" cy="329184"/>
          </a:xfrm>
          <a:prstGeom prst="rect">
            <a:avLst/>
          </a:prstGeom>
          <a:noFill/>
        </p:spPr>
        <p:txBody>
          <a:bodyPr wrap="square" lIns="0" tIns="0" rIns="0" bIns="0">
            <a:spAutoFit/>
          </a:bodyPr>
          <a:lstStyle/>
          <a:p>
            <a:pPr algn="l"/>
            <a:r>
              <a:rPr lang="en-US" sz="1400" b="1" i="0" noProof="1">
                <a:solidFill>
                  <a:srgbClr val="F59E0B"/>
                </a:solidFill>
                <a:latin typeface="Calibri"/>
              </a:rPr>
              <a:t>The Stack</a:t>
            </a:r>
          </a:p>
        </p:txBody>
      </p:sp>
      <p:sp>
        <p:nvSpPr>
          <p:cNvPr id="24" name="Rectangle 23"/>
          <p:cNvSpPr/>
          <p:nvPr/>
        </p:nvSpPr>
        <p:spPr>
          <a:xfrm>
            <a:off x="4133088" y="3794760"/>
            <a:ext cx="3255263" cy="402336"/>
          </a:xfrm>
          <a:prstGeom prst="rect">
            <a:avLst/>
          </a:prstGeom>
          <a:solidFill>
            <a:srgbClr val="2A1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87952" y="3858768"/>
            <a:ext cx="1554480" cy="256032"/>
          </a:xfrm>
          <a:prstGeom prst="rect">
            <a:avLst/>
          </a:prstGeom>
          <a:noFill/>
        </p:spPr>
        <p:txBody>
          <a:bodyPr wrap="square" lIns="0" tIns="0" rIns="0" bIns="0">
            <a:spAutoFit/>
          </a:bodyPr>
          <a:lstStyle/>
          <a:p>
            <a:pPr algn="l"/>
            <a:r>
              <a:rPr lang="en-US" sz="1000" b="0" i="0" noProof="1">
                <a:solidFill>
                  <a:srgbClr val="94A3B8"/>
                </a:solidFill>
                <a:latin typeface="Calibri"/>
              </a:rPr>
              <a:t>Open-weight model</a:t>
            </a:r>
          </a:p>
        </p:txBody>
      </p:sp>
      <p:sp>
        <p:nvSpPr>
          <p:cNvPr id="26" name="TextBox 25"/>
          <p:cNvSpPr txBox="1"/>
          <p:nvPr/>
        </p:nvSpPr>
        <p:spPr>
          <a:xfrm>
            <a:off x="5797296" y="3858768"/>
            <a:ext cx="1536192" cy="256032"/>
          </a:xfrm>
          <a:prstGeom prst="rect">
            <a:avLst/>
          </a:prstGeom>
          <a:noFill/>
        </p:spPr>
        <p:txBody>
          <a:bodyPr wrap="square" lIns="0" tIns="0" rIns="0" bIns="0">
            <a:spAutoFit/>
          </a:bodyPr>
          <a:lstStyle/>
          <a:p>
            <a:pPr algn="l"/>
            <a:r>
              <a:rPr lang="en-US" sz="1000" b="1" i="0" noProof="1">
                <a:solidFill>
                  <a:srgbClr val="F1F5F9"/>
                </a:solidFill>
                <a:latin typeface="Calibri"/>
              </a:rPr>
              <a:t>Gemma 3: 4B + 27B</a:t>
            </a:r>
          </a:p>
        </p:txBody>
      </p:sp>
      <p:sp>
        <p:nvSpPr>
          <p:cNvPr id="27" name="Rectangle 26"/>
          <p:cNvSpPr/>
          <p:nvPr/>
        </p:nvSpPr>
        <p:spPr>
          <a:xfrm>
            <a:off x="4133088" y="4251960"/>
            <a:ext cx="3255263" cy="402336"/>
          </a:xfrm>
          <a:prstGeom prst="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87952" y="4315968"/>
            <a:ext cx="1554480" cy="256032"/>
          </a:xfrm>
          <a:prstGeom prst="rect">
            <a:avLst/>
          </a:prstGeom>
          <a:noFill/>
        </p:spPr>
        <p:txBody>
          <a:bodyPr wrap="square" lIns="0" tIns="0" rIns="0" bIns="0">
            <a:spAutoFit/>
          </a:bodyPr>
          <a:lstStyle/>
          <a:p>
            <a:pPr algn="l"/>
            <a:r>
              <a:rPr lang="en-US" sz="1000" b="0" i="0" noProof="1">
                <a:solidFill>
                  <a:srgbClr val="94A3B8"/>
                </a:solidFill>
                <a:latin typeface="Calibri"/>
              </a:rPr>
              <a:t>GPU (192 GB HBM3)</a:t>
            </a:r>
          </a:p>
        </p:txBody>
      </p:sp>
      <p:sp>
        <p:nvSpPr>
          <p:cNvPr id="29" name="TextBox 28"/>
          <p:cNvSpPr txBox="1"/>
          <p:nvPr/>
        </p:nvSpPr>
        <p:spPr>
          <a:xfrm>
            <a:off x="5797296" y="4315968"/>
            <a:ext cx="1536192" cy="256032"/>
          </a:xfrm>
          <a:prstGeom prst="rect">
            <a:avLst/>
          </a:prstGeom>
          <a:noFill/>
        </p:spPr>
        <p:txBody>
          <a:bodyPr wrap="square" lIns="0" tIns="0" rIns="0" bIns="0">
            <a:spAutoFit/>
          </a:bodyPr>
          <a:lstStyle/>
          <a:p>
            <a:pPr algn="l"/>
            <a:r>
              <a:rPr lang="en-US" sz="1000" b="1" i="0" noProof="1">
                <a:solidFill>
                  <a:srgbClr val="F1F5F9"/>
                </a:solidFill>
                <a:latin typeface="Calibri"/>
              </a:rPr>
              <a:t>AMD Instinct MI300X</a:t>
            </a:r>
          </a:p>
        </p:txBody>
      </p:sp>
      <p:sp>
        <p:nvSpPr>
          <p:cNvPr id="30" name="Rectangle 29"/>
          <p:cNvSpPr/>
          <p:nvPr/>
        </p:nvSpPr>
        <p:spPr>
          <a:xfrm>
            <a:off x="4133088" y="4709160"/>
            <a:ext cx="3255263" cy="402336"/>
          </a:xfrm>
          <a:prstGeom prst="rect">
            <a:avLst/>
          </a:prstGeom>
          <a:solidFill>
            <a:srgbClr val="04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87952" y="4773168"/>
            <a:ext cx="1554480" cy="256032"/>
          </a:xfrm>
          <a:prstGeom prst="rect">
            <a:avLst/>
          </a:prstGeom>
          <a:noFill/>
        </p:spPr>
        <p:txBody>
          <a:bodyPr wrap="square" lIns="0" tIns="0" rIns="0" bIns="0">
            <a:spAutoFit/>
          </a:bodyPr>
          <a:lstStyle/>
          <a:p>
            <a:pPr algn="l"/>
            <a:r>
              <a:rPr lang="en-US" sz="1000" b="0" i="0" noProof="1">
                <a:solidFill>
                  <a:srgbClr val="94A3B8"/>
                </a:solidFill>
                <a:latin typeface="Calibri"/>
              </a:rPr>
              <a:t>Inference server</a:t>
            </a:r>
          </a:p>
        </p:txBody>
      </p:sp>
      <p:sp>
        <p:nvSpPr>
          <p:cNvPr id="32" name="TextBox 31"/>
          <p:cNvSpPr txBox="1"/>
          <p:nvPr/>
        </p:nvSpPr>
        <p:spPr>
          <a:xfrm>
            <a:off x="5797296" y="4773168"/>
            <a:ext cx="1536192" cy="256032"/>
          </a:xfrm>
          <a:prstGeom prst="rect">
            <a:avLst/>
          </a:prstGeom>
          <a:noFill/>
        </p:spPr>
        <p:txBody>
          <a:bodyPr wrap="square" lIns="0" tIns="0" rIns="0" bIns="0">
            <a:spAutoFit/>
          </a:bodyPr>
          <a:lstStyle/>
          <a:p>
            <a:pPr algn="l"/>
            <a:r>
              <a:rPr lang="en-US" sz="1000" b="1" i="0" noProof="1">
                <a:solidFill>
                  <a:srgbClr val="F1F5F9"/>
                </a:solidFill>
                <a:latin typeface="Calibri"/>
              </a:rPr>
              <a:t>vLLM (ROCm 6.x)</a:t>
            </a:r>
          </a:p>
        </p:txBody>
      </p:sp>
      <p:sp>
        <p:nvSpPr>
          <p:cNvPr id="33" name="Rectangle 32"/>
          <p:cNvSpPr/>
          <p:nvPr/>
        </p:nvSpPr>
        <p:spPr>
          <a:xfrm>
            <a:off x="4133088" y="5166360"/>
            <a:ext cx="3255263" cy="402336"/>
          </a:xfrm>
          <a:prstGeom prst="rect">
            <a:avLst/>
          </a:prstGeom>
          <a:solidFill>
            <a:srgbClr val="3F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187952" y="5230368"/>
            <a:ext cx="1554480" cy="256032"/>
          </a:xfrm>
          <a:prstGeom prst="rect">
            <a:avLst/>
          </a:prstGeom>
          <a:noFill/>
        </p:spPr>
        <p:txBody>
          <a:bodyPr wrap="square" lIns="0" tIns="0" rIns="0" bIns="0">
            <a:spAutoFit/>
          </a:bodyPr>
          <a:lstStyle/>
          <a:p>
            <a:pPr algn="l"/>
            <a:r>
              <a:rPr lang="en-US" sz="1000" b="0" i="0" noProof="1">
                <a:solidFill>
                  <a:srgbClr val="94A3B8"/>
                </a:solidFill>
                <a:latin typeface="Calibri"/>
              </a:rPr>
              <a:t>API interface</a:t>
            </a:r>
          </a:p>
        </p:txBody>
      </p:sp>
      <p:sp>
        <p:nvSpPr>
          <p:cNvPr id="35" name="TextBox 34"/>
          <p:cNvSpPr txBox="1"/>
          <p:nvPr/>
        </p:nvSpPr>
        <p:spPr>
          <a:xfrm>
            <a:off x="5797296" y="5230368"/>
            <a:ext cx="1536192" cy="256032"/>
          </a:xfrm>
          <a:prstGeom prst="rect">
            <a:avLst/>
          </a:prstGeom>
          <a:noFill/>
        </p:spPr>
        <p:txBody>
          <a:bodyPr wrap="square" lIns="0" tIns="0" rIns="0" bIns="0">
            <a:spAutoFit/>
          </a:bodyPr>
          <a:lstStyle/>
          <a:p>
            <a:pPr algn="l"/>
            <a:r>
              <a:rPr lang="en-US" sz="1000" b="1" i="0" noProof="1">
                <a:solidFill>
                  <a:srgbClr val="F1F5F9"/>
                </a:solidFill>
                <a:latin typeface="Calibri"/>
              </a:rPr>
              <a:t>OpenAI-compatible endpoint</a:t>
            </a:r>
          </a:p>
        </p:txBody>
      </p:sp>
      <p:sp>
        <p:nvSpPr>
          <p:cNvPr id="36" name="Rectangle 35"/>
          <p:cNvSpPr/>
          <p:nvPr/>
        </p:nvSpPr>
        <p:spPr>
          <a:xfrm>
            <a:off x="4133088" y="5623560"/>
            <a:ext cx="3255263" cy="402336"/>
          </a:xfrm>
          <a:prstGeom prst="rect">
            <a:avLst/>
          </a:prstGeom>
          <a:solidFill>
            <a:srgbClr val="2A1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87952" y="5687568"/>
            <a:ext cx="1554480" cy="256032"/>
          </a:xfrm>
          <a:prstGeom prst="rect">
            <a:avLst/>
          </a:prstGeom>
          <a:noFill/>
        </p:spPr>
        <p:txBody>
          <a:bodyPr wrap="square" lIns="0" tIns="0" rIns="0" bIns="0">
            <a:spAutoFit/>
          </a:bodyPr>
          <a:lstStyle/>
          <a:p>
            <a:pPr algn="l"/>
            <a:r>
              <a:rPr lang="en-US" sz="1000" b="0" i="0" noProof="1">
                <a:solidFill>
                  <a:srgbClr val="94A3B8"/>
                </a:solidFill>
                <a:latin typeface="Calibri"/>
              </a:rPr>
              <a:t>Hackathon fallback</a:t>
            </a:r>
          </a:p>
        </p:txBody>
      </p:sp>
      <p:sp>
        <p:nvSpPr>
          <p:cNvPr id="38" name="TextBox 37"/>
          <p:cNvSpPr txBox="1"/>
          <p:nvPr/>
        </p:nvSpPr>
        <p:spPr>
          <a:xfrm>
            <a:off x="5797296" y="5687568"/>
            <a:ext cx="1536192" cy="256032"/>
          </a:xfrm>
          <a:prstGeom prst="rect">
            <a:avLst/>
          </a:prstGeom>
          <a:noFill/>
        </p:spPr>
        <p:txBody>
          <a:bodyPr wrap="square" lIns="0" tIns="0" rIns="0" bIns="0">
            <a:spAutoFit/>
          </a:bodyPr>
          <a:lstStyle/>
          <a:p>
            <a:pPr algn="l"/>
            <a:r>
              <a:rPr lang="en-US" sz="1000" b="1" i="0" noProof="1">
                <a:solidFill>
                  <a:srgbClr val="F1F5F9"/>
                </a:solidFill>
                <a:latin typeface="Calibri"/>
              </a:rPr>
              <a:t>Fireworks AI (AMD-hosted)</a:t>
            </a:r>
          </a:p>
        </p:txBody>
      </p:sp>
      <p:sp>
        <p:nvSpPr>
          <p:cNvPr id="39" name="Rounded Rectangle 38"/>
          <p:cNvSpPr/>
          <p:nvPr/>
        </p:nvSpPr>
        <p:spPr>
          <a:xfrm>
            <a:off x="7635240" y="3291840"/>
            <a:ext cx="3474720" cy="2834640"/>
          </a:xfrm>
          <a:prstGeom prst="roundRect">
            <a:avLst/>
          </a:prstGeom>
          <a:solidFill>
            <a:srgbClr val="16163A"/>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72400" y="3383280"/>
            <a:ext cx="3200400" cy="329184"/>
          </a:xfrm>
          <a:prstGeom prst="rect">
            <a:avLst/>
          </a:prstGeom>
          <a:noFill/>
        </p:spPr>
        <p:txBody>
          <a:bodyPr wrap="square" lIns="0" tIns="0" rIns="0" bIns="0">
            <a:spAutoFit/>
          </a:bodyPr>
          <a:lstStyle/>
          <a:p>
            <a:pPr algn="l"/>
            <a:r>
              <a:rPr lang="en-US" sz="1400" b="1" i="0" noProof="1">
                <a:solidFill>
                  <a:srgbClr val="FCA5A5"/>
                </a:solidFill>
                <a:latin typeface="Calibri"/>
              </a:rPr>
              <a:t>Measured on the MI300X</a:t>
            </a:r>
          </a:p>
        </p:txBody>
      </p:sp>
      <p:sp>
        <p:nvSpPr>
          <p:cNvPr id="41" name="TextBox 40"/>
          <p:cNvSpPr txBox="1"/>
          <p:nvPr/>
        </p:nvSpPr>
        <p:spPr>
          <a:xfrm>
            <a:off x="7772400" y="37947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Both delegates on ONE GPU: 4B extract
  + 27B estimate in 192 GB HBM3.</a:t>
            </a:r>
          </a:p>
        </p:txBody>
      </p:sp>
      <p:sp>
        <p:nvSpPr>
          <p:cNvPr id="42" name="TextBox 41"/>
          <p:cNvSpPr txBox="1"/>
          <p:nvPr/>
        </p:nvSpPr>
        <p:spPr>
          <a:xfrm>
            <a:off x="7772400" y="42519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Roster replay: [N] sessions/GPU ·
  p95 gate→posture [ms] · [tok/s].</a:t>
            </a:r>
          </a:p>
        </p:txBody>
      </p:sp>
      <p:sp>
        <p:nvSpPr>
          <p:cNvPr id="43" name="TextBox 42"/>
          <p:cNvSpPr txBox="1"/>
          <p:nvPr/>
        </p:nvSpPr>
        <p:spPr>
          <a:xfrm>
            <a:off x="7772400" y="47091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Cost: $[ ] per 1,000 moderated turns
  vs $[ ] via hosted APIs.</a:t>
            </a:r>
          </a:p>
        </p:txBody>
      </p:sp>
      <p:sp>
        <p:nvSpPr>
          <p:cNvPr id="44" name="TextBox 43"/>
          <p:cNvSpPr txBox="1"/>
          <p:nvPr/>
        </p:nvSpPr>
        <p:spPr>
          <a:xfrm>
            <a:off x="7772400" y="51663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Always-on: every concurrent chat fires
  the gate — the GPU is the unit of scale.</a:t>
            </a:r>
          </a:p>
        </p:txBody>
      </p:sp>
      <p:sp>
        <p:nvSpPr>
          <p:cNvPr id="45" name="TextBox 44"/>
          <p:cNvSpPr txBox="1"/>
          <p:nvPr/>
        </p:nvSpPr>
        <p:spPr>
          <a:xfrm>
            <a:off x="7772400" y="5623560"/>
            <a:ext cx="3200400" cy="457200"/>
          </a:xfrm>
          <a:prstGeom prst="rect">
            <a:avLst/>
          </a:prstGeom>
          <a:noFill/>
        </p:spPr>
        <p:txBody>
          <a:bodyPr wrap="square" lIns="0" tIns="0" rIns="0" bIns="0">
            <a:spAutoFit/>
          </a:bodyPr>
          <a:lstStyle/>
          <a:p>
            <a:pPr algn="l"/>
            <a:r>
              <a:rPr lang="en-US" sz="1100" b="0" i="0" noProof="1">
                <a:solidFill>
                  <a:srgbClr val="F1F5F9"/>
                </a:solidFill>
                <a:latin typeface="Calibri"/>
              </a:rPr>
              <a:t>• Open stack: ROCm + vLLM, auditable —
  Fireworks (AMD-hosted) as fallback.</a:t>
            </a:r>
          </a:p>
        </p:txBody>
      </p:sp>
      <p:sp>
        <p:nvSpPr>
          <p:cNvPr id="46" name="Rectangle 45"/>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48" name="TextBox 47"/>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9 / 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Integration Architecture</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Everything sensitive stays inside the operator boundary</a:t>
            </a:r>
          </a:p>
        </p:txBody>
      </p:sp>
      <p:sp>
        <p:nvSpPr>
          <p:cNvPr id="5" name="Rounded Rectangle 4"/>
          <p:cNvSpPr/>
          <p:nvPr/>
        </p:nvSpPr>
        <p:spPr>
          <a:xfrm>
            <a:off x="411480" y="1298448"/>
            <a:ext cx="8961120" cy="4828032"/>
          </a:xfrm>
          <a:prstGeom prst="roundRect">
            <a:avLst/>
          </a:prstGeom>
          <a:solidFill>
            <a:srgbClr val="04223A"/>
          </a:solidFill>
          <a:ln w="317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371600"/>
            <a:ext cx="5486400" cy="329184"/>
          </a:xfrm>
          <a:prstGeom prst="rect">
            <a:avLst/>
          </a:prstGeom>
          <a:noFill/>
        </p:spPr>
        <p:txBody>
          <a:bodyPr wrap="square" lIns="0" tIns="0" rIns="0" bIns="0">
            <a:spAutoFit/>
          </a:bodyPr>
          <a:lstStyle/>
          <a:p>
            <a:pPr algn="l"/>
            <a:r>
              <a:rPr lang="en-US" sz="1200" b="1" i="0" noProof="1">
                <a:solidFill>
                  <a:srgbClr val="0EA5E9"/>
                </a:solidFill>
                <a:latin typeface="Calibri"/>
              </a:rPr>
              <a:t>Operator Boundary (On-Prem / AMD)</a:t>
            </a:r>
          </a:p>
        </p:txBody>
      </p:sp>
      <p:sp>
        <p:nvSpPr>
          <p:cNvPr id="7" name="Rounded Rectangle 6"/>
          <p:cNvSpPr/>
          <p:nvPr/>
        </p:nvSpPr>
        <p:spPr>
          <a:xfrm>
            <a:off x="594360" y="1783080"/>
            <a:ext cx="3200400" cy="1417320"/>
          </a:xfrm>
          <a:prstGeom prst="roundRect">
            <a:avLst/>
          </a:prstGeom>
          <a:solidFill>
            <a:srgbClr val="2A0808"/>
          </a:solidFill>
          <a:ln w="2540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856231"/>
            <a:ext cx="2889504" cy="292608"/>
          </a:xfrm>
          <a:prstGeom prst="rect">
            <a:avLst/>
          </a:prstGeom>
          <a:noFill/>
        </p:spPr>
        <p:txBody>
          <a:bodyPr wrap="square" lIns="0" tIns="0" rIns="0" bIns="0">
            <a:spAutoFit/>
          </a:bodyPr>
          <a:lstStyle/>
          <a:p>
            <a:pPr algn="l"/>
            <a:r>
              <a:rPr lang="en-US" sz="1200" b="1" i="0" noProof="1">
                <a:solidFill>
                  <a:srgbClr val="FCA5A5"/>
                </a:solidFill>
                <a:latin typeface="Calibri"/>
              </a:rPr>
              <a:t>AMD Serving Layer</a:t>
            </a:r>
          </a:p>
        </p:txBody>
      </p:sp>
      <p:sp>
        <p:nvSpPr>
          <p:cNvPr id="9" name="Rectangle 8"/>
          <p:cNvSpPr/>
          <p:nvPr/>
        </p:nvSpPr>
        <p:spPr>
          <a:xfrm>
            <a:off x="749808" y="2194560"/>
            <a:ext cx="585216" cy="475488"/>
          </a:xfrm>
          <a:prstGeom prst="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59" y="2286000"/>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87551" y="2286000"/>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152143" y="2286000"/>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59" y="2450592"/>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87551" y="2450592"/>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52143" y="2450592"/>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44752" y="2194560"/>
            <a:ext cx="2231136" cy="868680"/>
          </a:xfrm>
          <a:prstGeom prst="rect">
            <a:avLst/>
          </a:prstGeom>
          <a:noFill/>
        </p:spPr>
        <p:txBody>
          <a:bodyPr wrap="square" lIns="0" tIns="0" rIns="0" bIns="0">
            <a:spAutoFit/>
          </a:bodyPr>
          <a:lstStyle/>
          <a:p>
            <a:pPr algn="l"/>
            <a:r>
              <a:rPr lang="en-US" sz="1000" b="0" i="0" noProof="1">
                <a:solidFill>
                  <a:srgbClr val="F1F5F9"/>
                </a:solidFill>
                <a:latin typeface="Calibri"/>
              </a:rPr>
              <a:t>Open-weight LLM
(Gemma 3: 4B + 27B)
ROCm  ·  vLLM
OpenAI-compat endpoint</a:t>
            </a:r>
          </a:p>
        </p:txBody>
      </p:sp>
      <p:sp>
        <p:nvSpPr>
          <p:cNvPr id="17" name="Rounded Rectangle 16"/>
          <p:cNvSpPr/>
          <p:nvPr/>
        </p:nvSpPr>
        <p:spPr>
          <a:xfrm>
            <a:off x="594360" y="3337560"/>
            <a:ext cx="1417320" cy="621792"/>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 y="3493008"/>
            <a:ext cx="1307592" cy="329184"/>
          </a:xfrm>
          <a:prstGeom prst="rect">
            <a:avLst/>
          </a:prstGeom>
          <a:noFill/>
        </p:spPr>
        <p:txBody>
          <a:bodyPr wrap="square" lIns="0" tIns="0" rIns="0" bIns="0">
            <a:spAutoFit/>
          </a:bodyPr>
          <a:lstStyle/>
          <a:p>
            <a:pPr algn="ctr"/>
            <a:r>
              <a:rPr lang="en-US" sz="1100" b="1" i="0" noProof="1">
                <a:solidFill>
                  <a:srgbClr val="F1F5F9"/>
                </a:solidFill>
                <a:latin typeface="Calibri"/>
              </a:rPr>
              <a:t>Cheap Gate</a:t>
            </a:r>
          </a:p>
        </p:txBody>
      </p:sp>
      <p:sp>
        <p:nvSpPr>
          <p:cNvPr id="19" name="Rounded Rectangle 18"/>
          <p:cNvSpPr/>
          <p:nvPr/>
        </p:nvSpPr>
        <p:spPr>
          <a:xfrm>
            <a:off x="2121408" y="3337560"/>
            <a:ext cx="1417320" cy="621792"/>
          </a:xfrm>
          <a:prstGeom prst="roundRect">
            <a:avLst/>
          </a:prstGeom>
          <a:solidFill>
            <a:srgbClr val="1E103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3493008"/>
            <a:ext cx="1307592" cy="329184"/>
          </a:xfrm>
          <a:prstGeom prst="rect">
            <a:avLst/>
          </a:prstGeom>
          <a:noFill/>
        </p:spPr>
        <p:txBody>
          <a:bodyPr wrap="square" lIns="0" tIns="0" rIns="0" bIns="0">
            <a:spAutoFit/>
          </a:bodyPr>
          <a:lstStyle/>
          <a:p>
            <a:pPr algn="ctr"/>
            <a:r>
              <a:rPr lang="en-US" sz="1100" b="1" i="0" noProof="1">
                <a:solidFill>
                  <a:srgbClr val="F1F5F9"/>
                </a:solidFill>
                <a:latin typeface="Calibri"/>
              </a:rPr>
              <a:t>Extractor</a:t>
            </a:r>
          </a:p>
        </p:txBody>
      </p:sp>
      <p:sp>
        <p:nvSpPr>
          <p:cNvPr id="21" name="Rounded Rectangle 20"/>
          <p:cNvSpPr/>
          <p:nvPr/>
        </p:nvSpPr>
        <p:spPr>
          <a:xfrm>
            <a:off x="3657600" y="3337560"/>
            <a:ext cx="1417320" cy="621792"/>
          </a:xfrm>
          <a:prstGeom prst="roundRect">
            <a:avLst/>
          </a:prstGeom>
          <a:solidFill>
            <a:srgbClr val="16163A"/>
          </a:solidFill>
          <a:ln w="19050">
            <a:solidFill>
              <a:srgbClr val="2D2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12463" y="3493008"/>
            <a:ext cx="1307592" cy="329184"/>
          </a:xfrm>
          <a:prstGeom prst="rect">
            <a:avLst/>
          </a:prstGeom>
          <a:noFill/>
        </p:spPr>
        <p:txBody>
          <a:bodyPr wrap="square" lIns="0" tIns="0" rIns="0" bIns="0">
            <a:spAutoFit/>
          </a:bodyPr>
          <a:lstStyle/>
          <a:p>
            <a:pPr algn="ctr"/>
            <a:r>
              <a:rPr lang="en-US" sz="1100" b="1" i="0" noProof="1">
                <a:solidFill>
                  <a:srgbClr val="F1F5F9"/>
                </a:solidFill>
                <a:latin typeface="Calibri"/>
              </a:rPr>
              <a:t>Evidence</a:t>
            </a:r>
          </a:p>
        </p:txBody>
      </p:sp>
      <p:sp>
        <p:nvSpPr>
          <p:cNvPr id="23" name="Rounded Rectangle 22"/>
          <p:cNvSpPr/>
          <p:nvPr/>
        </p:nvSpPr>
        <p:spPr>
          <a:xfrm>
            <a:off x="5193792" y="3337560"/>
            <a:ext cx="1417320" cy="621792"/>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48655" y="3493008"/>
            <a:ext cx="1307592" cy="329184"/>
          </a:xfrm>
          <a:prstGeom prst="rect">
            <a:avLst/>
          </a:prstGeom>
          <a:noFill/>
        </p:spPr>
        <p:txBody>
          <a:bodyPr wrap="square" lIns="0" tIns="0" rIns="0" bIns="0">
            <a:spAutoFit/>
          </a:bodyPr>
          <a:lstStyle/>
          <a:p>
            <a:pPr algn="ctr"/>
            <a:r>
              <a:rPr lang="en-US" sz="1100" b="1" i="0" noProof="1">
                <a:solidFill>
                  <a:srgbClr val="F1F5F9"/>
                </a:solidFill>
                <a:latin typeface="Calibri"/>
              </a:rPr>
              <a:t>Estimator</a:t>
            </a:r>
          </a:p>
        </p:txBody>
      </p:sp>
      <p:sp>
        <p:nvSpPr>
          <p:cNvPr id="25" name="Rounded Rectangle 24"/>
          <p:cNvSpPr/>
          <p:nvPr/>
        </p:nvSpPr>
        <p:spPr>
          <a:xfrm>
            <a:off x="594360" y="4114800"/>
            <a:ext cx="2194560" cy="621792"/>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 y="4270248"/>
            <a:ext cx="2084831" cy="329184"/>
          </a:xfrm>
          <a:prstGeom prst="rect">
            <a:avLst/>
          </a:prstGeom>
          <a:noFill/>
        </p:spPr>
        <p:txBody>
          <a:bodyPr wrap="square" lIns="0" tIns="0" rIns="0" bIns="0">
            <a:spAutoFit/>
          </a:bodyPr>
          <a:lstStyle/>
          <a:p>
            <a:pPr algn="ctr"/>
            <a:r>
              <a:rPr lang="en-US" sz="1100" b="1" i="0" noProof="1">
                <a:solidFill>
                  <a:srgbClr val="F1F5F9"/>
                </a:solidFill>
                <a:latin typeface="Calibri"/>
              </a:rPr>
              <a:t>Policy Engine</a:t>
            </a:r>
          </a:p>
        </p:txBody>
      </p:sp>
      <p:sp>
        <p:nvSpPr>
          <p:cNvPr id="27" name="Rounded Rectangle 26"/>
          <p:cNvSpPr/>
          <p:nvPr/>
        </p:nvSpPr>
        <p:spPr>
          <a:xfrm>
            <a:off x="2898648" y="4114800"/>
            <a:ext cx="1417320" cy="621792"/>
          </a:xfrm>
          <a:prstGeom prst="round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53512" y="4270248"/>
            <a:ext cx="1307592" cy="329184"/>
          </a:xfrm>
          <a:prstGeom prst="rect">
            <a:avLst/>
          </a:prstGeom>
          <a:noFill/>
        </p:spPr>
        <p:txBody>
          <a:bodyPr wrap="square" lIns="0" tIns="0" rIns="0" bIns="0">
            <a:spAutoFit/>
          </a:bodyPr>
          <a:lstStyle/>
          <a:p>
            <a:pPr algn="ctr"/>
            <a:r>
              <a:rPr lang="en-US" sz="1100" b="1" i="0" noProof="1">
                <a:solidFill>
                  <a:srgbClr val="F1F5F9"/>
                </a:solidFill>
                <a:latin typeface="Calibri"/>
              </a:rPr>
              <a:t>Step-Up</a:t>
            </a:r>
          </a:p>
        </p:txBody>
      </p:sp>
      <p:cxnSp>
        <p:nvCxnSpPr>
          <p:cNvPr id="29" name="Connector 28"/>
          <p:cNvCxnSpPr/>
          <p:nvPr/>
        </p:nvCxnSpPr>
        <p:spPr>
          <a:xfrm>
            <a:off x="2011680" y="3657600"/>
            <a:ext cx="109728" cy="0"/>
          </a:xfrm>
          <a:prstGeom prst="line">
            <a:avLst/>
          </a:prstGeom>
          <a:ln w="15240">
            <a:solidFill>
              <a:srgbClr val="F59E0B"/>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38728" y="3657600"/>
            <a:ext cx="118872" cy="0"/>
          </a:xfrm>
          <a:prstGeom prst="line">
            <a:avLst/>
          </a:prstGeom>
          <a:ln w="15240">
            <a:solidFill>
              <a:srgbClr val="F59E0B"/>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074920" y="3657600"/>
            <a:ext cx="118872" cy="0"/>
          </a:xfrm>
          <a:prstGeom prst="line">
            <a:avLst/>
          </a:prstGeom>
          <a:ln w="15240">
            <a:solidFill>
              <a:srgbClr val="F59E0B"/>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88920" y="4425696"/>
            <a:ext cx="109728" cy="0"/>
          </a:xfrm>
          <a:prstGeom prst="line">
            <a:avLst/>
          </a:prstGeom>
          <a:ln w="15240">
            <a:solidFill>
              <a:srgbClr val="E84242"/>
            </a:solidFill>
            <a:tailEnd type="arrow"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748272" y="1847088"/>
            <a:ext cx="2377440" cy="1389888"/>
          </a:xfrm>
          <a:prstGeom prst="roundRect">
            <a:avLst/>
          </a:prstGeom>
          <a:solidFill>
            <a:srgbClr val="04223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03720" y="1920240"/>
            <a:ext cx="502920" cy="256032"/>
          </a:xfrm>
          <a:prstGeom prst="rect">
            <a:avLst/>
          </a:prstGeom>
          <a:noFill/>
        </p:spPr>
        <p:txBody>
          <a:bodyPr wrap="square" lIns="0" tIns="0" rIns="0" bIns="0">
            <a:spAutoFit/>
          </a:bodyPr>
          <a:lstStyle/>
          <a:p>
            <a:pPr algn="l"/>
            <a:r>
              <a:rPr lang="en-US" sz="1100" b="1" i="0" noProof="1">
                <a:solidFill>
                  <a:srgbClr val="0EA5E9"/>
                </a:solidFill>
                <a:latin typeface="Calibri"/>
              </a:rPr>
              <a:t>MCP</a:t>
            </a:r>
          </a:p>
        </p:txBody>
      </p:sp>
      <p:sp>
        <p:nvSpPr>
          <p:cNvPr id="35" name="TextBox 34"/>
          <p:cNvSpPr txBox="1"/>
          <p:nvPr/>
        </p:nvSpPr>
        <p:spPr>
          <a:xfrm>
            <a:off x="6903720" y="2212848"/>
            <a:ext cx="2048256" cy="502920"/>
          </a:xfrm>
          <a:prstGeom prst="rect">
            <a:avLst/>
          </a:prstGeom>
          <a:noFill/>
        </p:spPr>
        <p:txBody>
          <a:bodyPr wrap="square" lIns="0" tIns="0" rIns="0" bIns="0">
            <a:spAutoFit/>
          </a:bodyPr>
          <a:lstStyle/>
          <a:p>
            <a:pPr algn="l"/>
            <a:r>
              <a:rPr lang="en-US" sz="1000" b="0" i="0" noProof="1">
                <a:solidFill>
                  <a:srgbClr val="94A3B8"/>
                </a:solidFill>
                <a:latin typeface="Calibri"/>
              </a:rPr>
              <a:t>Policy config
(trusted / signed)</a:t>
            </a:r>
          </a:p>
        </p:txBody>
      </p:sp>
      <p:sp>
        <p:nvSpPr>
          <p:cNvPr id="36" name="Rounded Rectangle 35"/>
          <p:cNvSpPr/>
          <p:nvPr/>
        </p:nvSpPr>
        <p:spPr>
          <a:xfrm>
            <a:off x="6748272" y="3383280"/>
            <a:ext cx="2377440" cy="621792"/>
          </a:xfrm>
          <a:prstGeom prst="roundRect">
            <a:avLst/>
          </a:prstGeom>
          <a:solidFill>
            <a:srgbClr val="04221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76288" y="3547872"/>
            <a:ext cx="2148840" cy="310896"/>
          </a:xfrm>
          <a:prstGeom prst="rect">
            <a:avLst/>
          </a:prstGeom>
          <a:noFill/>
        </p:spPr>
        <p:txBody>
          <a:bodyPr wrap="square" lIns="0" tIns="0" rIns="0" bIns="0">
            <a:spAutoFit/>
          </a:bodyPr>
          <a:lstStyle/>
          <a:p>
            <a:pPr algn="l"/>
            <a:r>
              <a:rPr lang="en-US" sz="1100" b="1" i="0" noProof="1">
                <a:solidFill>
                  <a:srgbClr val="6EE7B7"/>
                </a:solidFill>
                <a:latin typeface="Calibri"/>
              </a:rPr>
              <a:t>safety_posture →</a:t>
            </a:r>
          </a:p>
        </p:txBody>
      </p:sp>
      <p:cxnSp>
        <p:nvCxnSpPr>
          <p:cNvPr id="38" name="Connector 37"/>
          <p:cNvCxnSpPr/>
          <p:nvPr/>
        </p:nvCxnSpPr>
        <p:spPr>
          <a:xfrm>
            <a:off x="6629400" y="3694176"/>
            <a:ext cx="118872" cy="0"/>
          </a:xfrm>
          <a:prstGeom prst="line">
            <a:avLst/>
          </a:prstGeom>
          <a:ln w="19050">
            <a:solidFill>
              <a:srgbClr val="10B981"/>
            </a:solidFill>
            <a:tailEnd type="arrow"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509760" y="1298448"/>
            <a:ext cx="2542032" cy="4828032"/>
          </a:xfrm>
          <a:prstGeom prst="roundRect">
            <a:avLst/>
          </a:prstGeom>
          <a:solidFill>
            <a:srgbClr val="16163A"/>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46920" y="1389888"/>
            <a:ext cx="2286000" cy="329184"/>
          </a:xfrm>
          <a:prstGeom prst="rect">
            <a:avLst/>
          </a:prstGeom>
          <a:noFill/>
        </p:spPr>
        <p:txBody>
          <a:bodyPr wrap="square" lIns="0" tIns="0" rIns="0" bIns="0">
            <a:spAutoFit/>
          </a:bodyPr>
          <a:lstStyle/>
          <a:p>
            <a:pPr algn="l"/>
            <a:r>
              <a:rPr lang="en-US" sz="1300" b="1" i="0" noProof="1">
                <a:solidFill>
                  <a:srgbClr val="A5B4FC"/>
                </a:solidFill>
                <a:latin typeface="Calibri"/>
              </a:rPr>
              <a:t>Host Assistant</a:t>
            </a:r>
          </a:p>
        </p:txBody>
      </p:sp>
      <p:sp>
        <p:nvSpPr>
          <p:cNvPr id="41" name="TextBox 40"/>
          <p:cNvSpPr txBox="1"/>
          <p:nvPr/>
        </p:nvSpPr>
        <p:spPr>
          <a:xfrm>
            <a:off x="9646920" y="1700784"/>
            <a:ext cx="2286000" cy="274320"/>
          </a:xfrm>
          <a:prstGeom prst="rect">
            <a:avLst/>
          </a:prstGeom>
          <a:noFill/>
        </p:spPr>
        <p:txBody>
          <a:bodyPr wrap="square" lIns="0" tIns="0" rIns="0" bIns="0">
            <a:spAutoFit/>
          </a:bodyPr>
          <a:lstStyle/>
          <a:p>
            <a:pPr algn="l"/>
            <a:r>
              <a:rPr lang="en-US" sz="1000" b="0" i="1" noProof="1">
                <a:solidFill>
                  <a:srgbClr val="94A3B8"/>
                </a:solidFill>
                <a:latin typeface="Calibri"/>
              </a:rPr>
              <a:t>(outside boundary)</a:t>
            </a:r>
          </a:p>
        </p:txBody>
      </p:sp>
      <p:sp>
        <p:nvSpPr>
          <p:cNvPr id="42" name="TextBox 41"/>
          <p:cNvSpPr txBox="1"/>
          <p:nvPr/>
        </p:nvSpPr>
        <p:spPr>
          <a:xfrm>
            <a:off x="9692640" y="2057400"/>
            <a:ext cx="2240280" cy="2194560"/>
          </a:xfrm>
          <a:prstGeom prst="rect">
            <a:avLst/>
          </a:prstGeom>
          <a:noFill/>
        </p:spPr>
        <p:txBody>
          <a:bodyPr wrap="square" lIns="0" tIns="0" rIns="0" bIns="0">
            <a:spAutoFit/>
          </a:bodyPr>
          <a:lstStyle/>
          <a:p>
            <a:pPr algn="l"/>
            <a:r>
              <a:rPr lang="en-US" sz="1100" b="0" i="0" noProof="1">
                <a:solidFill>
                  <a:srgbClr val="F1F5F9"/>
                </a:solidFill>
                <a:latin typeface="Calibri"/>
              </a:rPr>
              <a:t>Honors
safety_posture
Emits reply
to user
Never
modified
by AgeBand</a:t>
            </a:r>
          </a:p>
        </p:txBody>
      </p:sp>
      <p:cxnSp>
        <p:nvCxnSpPr>
          <p:cNvPr id="43" name="Connector 42"/>
          <p:cNvCxnSpPr/>
          <p:nvPr/>
        </p:nvCxnSpPr>
        <p:spPr>
          <a:xfrm>
            <a:off x="9372600" y="3200400"/>
            <a:ext cx="137160" cy="0"/>
          </a:xfrm>
          <a:prstGeom prst="line">
            <a:avLst/>
          </a:prstGeom>
          <a:ln w="19050">
            <a:solidFill>
              <a:srgbClr val="10B981"/>
            </a:solidFill>
            <a:tailEnd type="arrow"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509760" y="4663440"/>
            <a:ext cx="2542032" cy="1188720"/>
          </a:xfrm>
          <a:prstGeom prst="roundRect">
            <a:avLst/>
          </a:prstGeom>
          <a:solidFill>
            <a:srgbClr val="3F3FA0"/>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692640" y="4983480"/>
            <a:ext cx="2240280" cy="347472"/>
          </a:xfrm>
          <a:prstGeom prst="rect">
            <a:avLst/>
          </a:prstGeom>
          <a:noFill/>
        </p:spPr>
        <p:txBody>
          <a:bodyPr wrap="square" lIns="0" tIns="0" rIns="0" bIns="0">
            <a:spAutoFit/>
          </a:bodyPr>
          <a:lstStyle/>
          <a:p>
            <a:pPr algn="ctr"/>
            <a:r>
              <a:rPr lang="en-US" sz="1200" b="1" i="0" noProof="1">
                <a:solidFill>
                  <a:srgbClr val="A5B4FC"/>
                </a:solidFill>
                <a:latin typeface="Calibri"/>
              </a:rPr>
              <a:t>User  ↕ turns</a:t>
            </a:r>
          </a:p>
        </p:txBody>
      </p:sp>
      <p:sp>
        <p:nvSpPr>
          <p:cNvPr id="46" name="Rectangle 45"/>
          <p:cNvSpPr/>
          <p:nvPr/>
        </p:nvSpPr>
        <p:spPr>
          <a:xfrm>
            <a:off x="457200" y="4773168"/>
            <a:ext cx="201168" cy="14630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3232" y="4773168"/>
            <a:ext cx="1828800" cy="182880"/>
          </a:xfrm>
          <a:prstGeom prst="rect">
            <a:avLst/>
          </a:prstGeom>
          <a:noFill/>
        </p:spPr>
        <p:txBody>
          <a:bodyPr wrap="square" lIns="0" tIns="0" rIns="0" bIns="0">
            <a:spAutoFit/>
          </a:bodyPr>
          <a:lstStyle/>
          <a:p>
            <a:pPr algn="l"/>
            <a:r>
              <a:rPr lang="en-US" sz="900" b="0" i="0" noProof="1">
                <a:solidFill>
                  <a:srgbClr val="94A3B8"/>
                </a:solidFill>
                <a:latin typeface="Calibri"/>
              </a:rPr>
              <a:t>Operator boundary</a:t>
            </a:r>
          </a:p>
        </p:txBody>
      </p:sp>
      <p:sp>
        <p:nvSpPr>
          <p:cNvPr id="48" name="Rectangle 47"/>
          <p:cNvSpPr/>
          <p:nvPr/>
        </p:nvSpPr>
        <p:spPr>
          <a:xfrm>
            <a:off x="2688336" y="4773168"/>
            <a:ext cx="201168" cy="146304"/>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44368" y="4773168"/>
            <a:ext cx="1828800" cy="182880"/>
          </a:xfrm>
          <a:prstGeom prst="rect">
            <a:avLst/>
          </a:prstGeom>
          <a:noFill/>
        </p:spPr>
        <p:txBody>
          <a:bodyPr wrap="square" lIns="0" tIns="0" rIns="0" bIns="0">
            <a:spAutoFit/>
          </a:bodyPr>
          <a:lstStyle/>
          <a:p>
            <a:pPr algn="l"/>
            <a:r>
              <a:rPr lang="en-US" sz="900" b="0" i="0" noProof="1">
                <a:solidFill>
                  <a:srgbClr val="94A3B8"/>
                </a:solidFill>
                <a:latin typeface="Calibri"/>
              </a:rPr>
              <a:t>AMD serving</a:t>
            </a:r>
          </a:p>
        </p:txBody>
      </p:sp>
      <p:sp>
        <p:nvSpPr>
          <p:cNvPr id="50" name="Rectangle 49"/>
          <p:cNvSpPr/>
          <p:nvPr/>
        </p:nvSpPr>
        <p:spPr>
          <a:xfrm>
            <a:off x="4919472" y="4773168"/>
            <a:ext cx="201168" cy="14630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175504" y="4773168"/>
            <a:ext cx="1828800" cy="182880"/>
          </a:xfrm>
          <a:prstGeom prst="rect">
            <a:avLst/>
          </a:prstGeom>
          <a:noFill/>
        </p:spPr>
        <p:txBody>
          <a:bodyPr wrap="square" lIns="0" tIns="0" rIns="0" bIns="0">
            <a:spAutoFit/>
          </a:bodyPr>
          <a:lstStyle/>
          <a:p>
            <a:pPr algn="l"/>
            <a:r>
              <a:rPr lang="en-US" sz="900" b="0" i="0" noProof="1">
                <a:solidFill>
                  <a:srgbClr val="94A3B8"/>
                </a:solidFill>
                <a:latin typeface="Calibri"/>
              </a:rPr>
              <a:t>MCP interface</a:t>
            </a:r>
          </a:p>
        </p:txBody>
      </p:sp>
      <p:sp>
        <p:nvSpPr>
          <p:cNvPr id="52" name="Rectangle 51"/>
          <p:cNvSpPr/>
          <p:nvPr/>
        </p:nvSpPr>
        <p:spPr>
          <a:xfrm>
            <a:off x="7150608" y="4773168"/>
            <a:ext cx="201168" cy="14630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06640" y="4773168"/>
            <a:ext cx="1828800" cy="182880"/>
          </a:xfrm>
          <a:prstGeom prst="rect">
            <a:avLst/>
          </a:prstGeom>
          <a:noFill/>
        </p:spPr>
        <p:txBody>
          <a:bodyPr wrap="square" lIns="0" tIns="0" rIns="0" bIns="0">
            <a:spAutoFit/>
          </a:bodyPr>
          <a:lstStyle/>
          <a:p>
            <a:pPr algn="l"/>
            <a:r>
              <a:rPr lang="en-US" sz="900" b="0" i="0" noProof="1">
                <a:solidFill>
                  <a:srgbClr val="94A3B8"/>
                </a:solidFill>
                <a:latin typeface="Calibri"/>
              </a:rPr>
              <a:t>Posture output</a:t>
            </a:r>
          </a:p>
        </p:txBody>
      </p:sp>
      <p:sp>
        <p:nvSpPr>
          <p:cNvPr id="54" name="Rectangle 53"/>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56" name="TextBox 55"/>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10 / 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Agent Architecture — Planner-Supervisor Pattern</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Planner picks the route · det. guards decide outcome — fail closed · async by default</a:t>
            </a:r>
          </a:p>
        </p:txBody>
      </p:sp>
      <p:sp>
        <p:nvSpPr>
          <p:cNvPr id="5" name="Rounded Rectangle 4"/>
          <p:cNvSpPr/>
          <p:nvPr/>
        </p:nvSpPr>
        <p:spPr>
          <a:xfrm>
            <a:off x="457200" y="1353312"/>
            <a:ext cx="4526280" cy="914400"/>
          </a:xfrm>
          <a:prstGeom prst="roundRect">
            <a:avLst/>
          </a:prstGeom>
          <a:solidFill>
            <a:srgbClr val="1E103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2064" y="1444752"/>
            <a:ext cx="4416552" cy="329184"/>
          </a:xfrm>
          <a:prstGeom prst="rect">
            <a:avLst/>
          </a:prstGeom>
          <a:noFill/>
        </p:spPr>
        <p:txBody>
          <a:bodyPr wrap="square" lIns="0" tIns="0" rIns="0" bIns="0">
            <a:spAutoFit/>
          </a:bodyPr>
          <a:lstStyle/>
          <a:p>
            <a:pPr algn="ctr"/>
            <a:r>
              <a:rPr lang="en-US" sz="1100" b="1" i="0" noProof="1">
                <a:solidFill>
                  <a:srgbClr val="F1F5F9"/>
                </a:solidFill>
                <a:latin typeface="Calibri"/>
              </a:rPr>
              <a:t>Turn Hook  +  Planner Agent  [LLM]</a:t>
            </a:r>
          </a:p>
        </p:txBody>
      </p:sp>
      <p:sp>
        <p:nvSpPr>
          <p:cNvPr id="7" name="TextBox 6"/>
          <p:cNvSpPr txBox="1"/>
          <p:nvPr/>
        </p:nvSpPr>
        <p:spPr>
          <a:xfrm>
            <a:off x="512064" y="1773936"/>
            <a:ext cx="4416552" cy="457200"/>
          </a:xfrm>
          <a:prstGeom prst="rect">
            <a:avLst/>
          </a:prstGeom>
          <a:noFill/>
        </p:spPr>
        <p:txBody>
          <a:bodyPr wrap="square" lIns="0" tIns="0" rIns="0" bIns="0">
            <a:spAutoFit/>
          </a:bodyPr>
          <a:lstStyle/>
          <a:p>
            <a:pPr algn="ctr"/>
            <a:r>
              <a:rPr lang="en-US" sz="900" b="0" i="0" noProof="1">
                <a:solidFill>
                  <a:srgbClr val="94A3B8"/>
                </a:solidFill>
                <a:latin typeface="Calibri"/>
              </a:rPr>
              <a:t>Agent(output_type=RouteDecision): settled | incremental | full | urgent
Async fork · NOT in reply path · Loads AgeBandContext</a:t>
            </a:r>
          </a:p>
        </p:txBody>
      </p:sp>
      <p:sp>
        <p:nvSpPr>
          <p:cNvPr id="8" name="Rounded Rectangle 7"/>
          <p:cNvSpPr/>
          <p:nvPr/>
        </p:nvSpPr>
        <p:spPr>
          <a:xfrm>
            <a:off x="457200" y="2359152"/>
            <a:ext cx="4526280" cy="914400"/>
          </a:xfrm>
          <a:prstGeom prst="roundRect">
            <a:avLst/>
          </a:prstGeom>
          <a:solidFill>
            <a:srgbClr val="1E103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2064" y="2450592"/>
            <a:ext cx="4416552" cy="329184"/>
          </a:xfrm>
          <a:prstGeom prst="rect">
            <a:avLst/>
          </a:prstGeom>
          <a:noFill/>
        </p:spPr>
        <p:txBody>
          <a:bodyPr wrap="square" lIns="0" tIns="0" rIns="0" bIns="0">
            <a:spAutoFit/>
          </a:bodyPr>
          <a:lstStyle/>
          <a:p>
            <a:pPr algn="ctr"/>
            <a:r>
              <a:rPr lang="en-US" sz="1100" b="1" i="0" noProof="1">
                <a:solidFill>
                  <a:srgbClr val="F1F5F9"/>
                </a:solidFill>
                <a:latin typeface="Calibri"/>
              </a:rPr>
              <a:t>signal_extractor  [LLM]   [route: incr / full]</a:t>
            </a:r>
          </a:p>
        </p:txBody>
      </p:sp>
      <p:sp>
        <p:nvSpPr>
          <p:cNvPr id="10" name="TextBox 9"/>
          <p:cNvSpPr txBox="1"/>
          <p:nvPr/>
        </p:nvSpPr>
        <p:spPr>
          <a:xfrm>
            <a:off x="512064" y="2779776"/>
            <a:ext cx="4416552" cy="457200"/>
          </a:xfrm>
          <a:prstGeom prst="rect">
            <a:avLst/>
          </a:prstGeom>
          <a:noFill/>
        </p:spPr>
        <p:txBody>
          <a:bodyPr wrap="square" lIns="0" tIns="0" rIns="0" bIns="0">
            <a:spAutoFit/>
          </a:bodyPr>
          <a:lstStyle/>
          <a:p>
            <a:pPr algn="ctr"/>
            <a:r>
              <a:rPr lang="en-US" sz="900" b="0" i="0" noProof="1">
                <a:solidFill>
                  <a:srgbClr val="94A3B8"/>
                </a:solidFill>
                <a:latin typeface="Calibri"/>
              </a:rPr>
              <a:t>Agent(output_type=SignalSet) — skipped on route=settled
vocab · topics · explicit disclosure · style · reading-level = tool</a:t>
            </a:r>
          </a:p>
        </p:txBody>
      </p:sp>
      <p:cxnSp>
        <p:nvCxnSpPr>
          <p:cNvPr id="11" name="Connector 10"/>
          <p:cNvCxnSpPr/>
          <p:nvPr/>
        </p:nvCxnSpPr>
        <p:spPr>
          <a:xfrm>
            <a:off x="2720340" y="2267712"/>
            <a:ext cx="0" cy="91440"/>
          </a:xfrm>
          <a:prstGeom prst="line">
            <a:avLst/>
          </a:prstGeom>
          <a:ln w="19050">
            <a:solidFill>
              <a:srgbClr val="8B5CF6"/>
            </a:solidFill>
            <a:tailEnd type="arrow"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7200" y="3364992"/>
            <a:ext cx="4526280" cy="914400"/>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2064" y="3456432"/>
            <a:ext cx="4416552" cy="329184"/>
          </a:xfrm>
          <a:prstGeom prst="rect">
            <a:avLst/>
          </a:prstGeom>
          <a:noFill/>
        </p:spPr>
        <p:txBody>
          <a:bodyPr wrap="square" lIns="0" tIns="0" rIns="0" bIns="0">
            <a:spAutoFit/>
          </a:bodyPr>
          <a:lstStyle/>
          <a:p>
            <a:pPr algn="ctr"/>
            <a:r>
              <a:rPr lang="en-US" sz="1100" b="1" i="0" noProof="1">
                <a:solidFill>
                  <a:srgbClr val="F1F5F9"/>
                </a:solidFill>
                <a:latin typeface="Calibri"/>
              </a:rPr>
              <a:t>update_evidence()  +  observe  [tool]</a:t>
            </a:r>
          </a:p>
        </p:txBody>
      </p:sp>
      <p:sp>
        <p:nvSpPr>
          <p:cNvPr id="14" name="TextBox 13"/>
          <p:cNvSpPr txBox="1"/>
          <p:nvPr/>
        </p:nvSpPr>
        <p:spPr>
          <a:xfrm>
            <a:off x="512064" y="3785616"/>
            <a:ext cx="4416552" cy="457200"/>
          </a:xfrm>
          <a:prstGeom prst="rect">
            <a:avLst/>
          </a:prstGeom>
          <a:noFill/>
        </p:spPr>
        <p:txBody>
          <a:bodyPr wrap="square" lIns="0" tIns="0" rIns="0" bIns="0">
            <a:spAutoFit/>
          </a:bodyPr>
          <a:lstStyle/>
          <a:p>
            <a:pPr algn="ctr"/>
            <a:r>
              <a:rPr lang="en-US" sz="900" b="0" i="0" noProof="1">
                <a:solidFill>
                  <a:srgbClr val="94A3B8"/>
                </a:solidFill>
                <a:latin typeface="Calibri"/>
              </a:rPr>
              <a:t>Deterministic · session-scoped · ephemeral
Accumulates cues · tracks corroboration · tripwire scan · never persists</a:t>
            </a:r>
          </a:p>
        </p:txBody>
      </p:sp>
      <p:cxnSp>
        <p:nvCxnSpPr>
          <p:cNvPr id="15" name="Connector 14"/>
          <p:cNvCxnSpPr/>
          <p:nvPr/>
        </p:nvCxnSpPr>
        <p:spPr>
          <a:xfrm>
            <a:off x="2720340" y="3273552"/>
            <a:ext cx="0" cy="91440"/>
          </a:xfrm>
          <a:prstGeom prst="line">
            <a:avLst/>
          </a:prstGeom>
          <a:ln w="19050">
            <a:solidFill>
              <a:srgbClr val="6366F1"/>
            </a:solidFill>
            <a:tailEnd type="arrow"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7200" y="4370832"/>
            <a:ext cx="4526280" cy="914400"/>
          </a:xfrm>
          <a:prstGeom prst="roundRect">
            <a:avLst/>
          </a:prstGeom>
          <a:solidFill>
            <a:srgbClr val="1E103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2064" y="4462272"/>
            <a:ext cx="4416552" cy="329184"/>
          </a:xfrm>
          <a:prstGeom prst="rect">
            <a:avLst/>
          </a:prstGeom>
          <a:noFill/>
        </p:spPr>
        <p:txBody>
          <a:bodyPr wrap="square" lIns="0" tIns="0" rIns="0" bIns="0">
            <a:spAutoFit/>
          </a:bodyPr>
          <a:lstStyle/>
          <a:p>
            <a:pPr algn="ctr"/>
            <a:r>
              <a:rPr lang="en-US" sz="1100" b="1" i="0" noProof="1">
                <a:solidFill>
                  <a:srgbClr val="F1F5F9"/>
                </a:solidFill>
                <a:latin typeface="Calibri"/>
              </a:rPr>
              <a:t>ageband_estimator  [LLM]   [route: full only]</a:t>
            </a:r>
          </a:p>
        </p:txBody>
      </p:sp>
      <p:sp>
        <p:nvSpPr>
          <p:cNvPr id="18" name="TextBox 17"/>
          <p:cNvSpPr txBox="1"/>
          <p:nvPr/>
        </p:nvSpPr>
        <p:spPr>
          <a:xfrm>
            <a:off x="512064" y="4791456"/>
            <a:ext cx="4416552" cy="457200"/>
          </a:xfrm>
          <a:prstGeom prst="rect">
            <a:avLst/>
          </a:prstGeom>
          <a:noFill/>
        </p:spPr>
        <p:txBody>
          <a:bodyPr wrap="square" lIns="0" tIns="0" rIns="0" bIns="0">
            <a:spAutoFit/>
          </a:bodyPr>
          <a:lstStyle/>
          <a:p>
            <a:pPr algn="ctr"/>
            <a:r>
              <a:rPr lang="en-US" sz="900" b="0" i="0" noProof="1">
                <a:solidFill>
                  <a:srgbClr val="94A3B8"/>
                </a:solidFill>
                <a:latin typeface="Calibri"/>
              </a:rPr>
              <a:t>Agent(output_type=AgeBandEstimate) — skipped on settled / incremental
Band + cited cues · flags evasion · confidence = deterministic</a:t>
            </a:r>
          </a:p>
        </p:txBody>
      </p:sp>
      <p:cxnSp>
        <p:nvCxnSpPr>
          <p:cNvPr id="19" name="Connector 18"/>
          <p:cNvCxnSpPr/>
          <p:nvPr/>
        </p:nvCxnSpPr>
        <p:spPr>
          <a:xfrm>
            <a:off x="2720340" y="4279392"/>
            <a:ext cx="0" cy="91440"/>
          </a:xfrm>
          <a:prstGeom prst="line">
            <a:avLst/>
          </a:prstGeom>
          <a:ln w="19050">
            <a:solidFill>
              <a:srgbClr val="8B5CF6"/>
            </a:solidFill>
            <a:tailEnd type="arrow"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5376672"/>
            <a:ext cx="4526280" cy="914400"/>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2064" y="5468112"/>
            <a:ext cx="4416552" cy="329184"/>
          </a:xfrm>
          <a:prstGeom prst="rect">
            <a:avLst/>
          </a:prstGeom>
          <a:noFill/>
        </p:spPr>
        <p:txBody>
          <a:bodyPr wrap="square" lIns="0" tIns="0" rIns="0" bIns="0">
            <a:spAutoFit/>
          </a:bodyPr>
          <a:lstStyle/>
          <a:p>
            <a:pPr algn="ctr"/>
            <a:r>
              <a:rPr lang="en-US" sz="1100" b="1" i="0" noProof="1">
                <a:solidFill>
                  <a:srgbClr val="F1F5F9"/>
                </a:solidFill>
                <a:latin typeface="Calibri"/>
              </a:rPr>
              <a:t>Det. Guards: policy_gate() + emit_posture  [tool]</a:t>
            </a:r>
          </a:p>
        </p:txBody>
      </p:sp>
      <p:sp>
        <p:nvSpPr>
          <p:cNvPr id="22" name="TextBox 21"/>
          <p:cNvSpPr txBox="1"/>
          <p:nvPr/>
        </p:nvSpPr>
        <p:spPr>
          <a:xfrm>
            <a:off x="512064" y="5797296"/>
            <a:ext cx="4416552" cy="457200"/>
          </a:xfrm>
          <a:prstGeom prst="rect">
            <a:avLst/>
          </a:prstGeom>
          <a:noFill/>
        </p:spPr>
        <p:txBody>
          <a:bodyPr wrap="square" lIns="0" tIns="0" rIns="0" bIns="0">
            <a:spAutoFit/>
          </a:bodyPr>
          <a:lstStyle/>
          <a:p>
            <a:pPr algn="ctr"/>
            <a:r>
              <a:rPr lang="en-US" sz="900" b="0" i="0" noProof="1">
                <a:solidFill>
                  <a:srgbClr val="94A3B8"/>
                </a:solidFill>
                <a:latin typeface="Calibri"/>
              </a:rPr>
              <a:t>(band, conf) → apply / step_up / none   [fail closed — NOT LLM]
Emit safety_posture {level, flags} → host honors it</a:t>
            </a:r>
          </a:p>
        </p:txBody>
      </p:sp>
      <p:cxnSp>
        <p:nvCxnSpPr>
          <p:cNvPr id="23" name="Connector 22"/>
          <p:cNvCxnSpPr/>
          <p:nvPr/>
        </p:nvCxnSpPr>
        <p:spPr>
          <a:xfrm>
            <a:off x="2720340" y="5285232"/>
            <a:ext cx="0" cy="91440"/>
          </a:xfrm>
          <a:prstGeom prst="line">
            <a:avLst/>
          </a:prstGeom>
          <a:ln w="19050">
            <a:solidFill>
              <a:srgbClr val="6366F1"/>
            </a:solidFill>
            <a:tailEnd type="arrow"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239512" y="1353312"/>
            <a:ext cx="3840480" cy="1828800"/>
          </a:xfrm>
          <a:prstGeom prst="roundRect">
            <a:avLst/>
          </a:prstGeom>
          <a:solidFill>
            <a:srgbClr val="04223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67528" y="1426464"/>
            <a:ext cx="3584448" cy="292608"/>
          </a:xfrm>
          <a:prstGeom prst="rect">
            <a:avLst/>
          </a:prstGeom>
          <a:noFill/>
        </p:spPr>
        <p:txBody>
          <a:bodyPr wrap="square" lIns="0" tIns="0" rIns="0" bIns="0">
            <a:spAutoFit/>
          </a:bodyPr>
          <a:lstStyle/>
          <a:p>
            <a:pPr algn="l"/>
            <a:r>
              <a:rPr lang="en-US" sz="1200" b="1" i="0" noProof="1">
                <a:solidFill>
                  <a:srgbClr val="0EA5E9"/>
                </a:solidFill>
                <a:latin typeface="Calibri"/>
              </a:rPr>
              <a:t>AMD Model Serving</a:t>
            </a:r>
          </a:p>
        </p:txBody>
      </p:sp>
      <p:sp>
        <p:nvSpPr>
          <p:cNvPr id="26" name="Rectangle 25"/>
          <p:cNvSpPr/>
          <p:nvPr/>
        </p:nvSpPr>
        <p:spPr>
          <a:xfrm>
            <a:off x="5367528" y="1792224"/>
            <a:ext cx="585216" cy="475488"/>
          </a:xfrm>
          <a:prstGeom prst="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40680" y="1883664"/>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605272" y="1883664"/>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769864" y="1883664"/>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40680" y="2048256"/>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605272" y="2048256"/>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769864" y="2048256"/>
            <a:ext cx="109728" cy="10972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62472" y="1810512"/>
            <a:ext cx="2834640" cy="658368"/>
          </a:xfrm>
          <a:prstGeom prst="rect">
            <a:avLst/>
          </a:prstGeom>
          <a:noFill/>
        </p:spPr>
        <p:txBody>
          <a:bodyPr wrap="square" lIns="0" tIns="0" rIns="0" bIns="0">
            <a:spAutoFit/>
          </a:bodyPr>
          <a:lstStyle/>
          <a:p>
            <a:pPr algn="l"/>
            <a:r>
              <a:rPr lang="en-US" sz="1000" b="0" i="0" noProof="1">
                <a:solidFill>
                  <a:srgbClr val="F1F5F9"/>
                </a:solidFill>
                <a:latin typeface="Calibri"/>
              </a:rPr>
              <a:t>Gemma 3 4B + 27B
ROCm + vLLM
OpenAI-compatible API</a:t>
            </a:r>
          </a:p>
        </p:txBody>
      </p:sp>
      <p:sp>
        <p:nvSpPr>
          <p:cNvPr id="34" name="TextBox 33"/>
          <p:cNvSpPr txBox="1"/>
          <p:nvPr/>
        </p:nvSpPr>
        <p:spPr>
          <a:xfrm>
            <a:off x="5367528" y="2834640"/>
            <a:ext cx="3584448" cy="256032"/>
          </a:xfrm>
          <a:prstGeom prst="rect">
            <a:avLst/>
          </a:prstGeom>
          <a:noFill/>
        </p:spPr>
        <p:txBody>
          <a:bodyPr wrap="square" lIns="0" tIns="0" rIns="0" bIns="0">
            <a:spAutoFit/>
          </a:bodyPr>
          <a:lstStyle/>
          <a:p>
            <a:pPr algn="ctr"/>
            <a:r>
              <a:rPr lang="en-US" sz="900" b="0" i="1" noProof="1">
                <a:solidFill>
                  <a:srgbClr val="94A3B8"/>
                </a:solidFill>
                <a:latin typeface="Calibri"/>
              </a:rPr>
              <a:t>↑ serves phases 1, 2 &amp; 4 (all LLM calls)</a:t>
            </a:r>
          </a:p>
        </p:txBody>
      </p:sp>
      <p:cxnSp>
        <p:nvCxnSpPr>
          <p:cNvPr id="35" name="Connector 34"/>
          <p:cNvCxnSpPr/>
          <p:nvPr/>
        </p:nvCxnSpPr>
        <p:spPr>
          <a:xfrm>
            <a:off x="4983480" y="1810512"/>
            <a:ext cx="256032" cy="0"/>
          </a:xfrm>
          <a:prstGeom prst="line">
            <a:avLst/>
          </a:prstGeom>
          <a:ln w="19050">
            <a:solidFill>
              <a:srgbClr val="0EA5E9"/>
            </a:solidFill>
            <a:tailEnd type="arrow"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239512" y="4370832"/>
            <a:ext cx="3840480" cy="1097280"/>
          </a:xfrm>
          <a:prstGeom prst="round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367528" y="4443984"/>
            <a:ext cx="3584448" cy="274320"/>
          </a:xfrm>
          <a:prstGeom prst="rect">
            <a:avLst/>
          </a:prstGeom>
          <a:noFill/>
        </p:spPr>
        <p:txBody>
          <a:bodyPr wrap="square" lIns="0" tIns="0" rIns="0" bIns="0">
            <a:spAutoFit/>
          </a:bodyPr>
          <a:lstStyle/>
          <a:p>
            <a:pPr algn="l"/>
            <a:r>
              <a:rPr lang="en-US" sz="1200" b="1" i="0" noProof="1">
                <a:solidFill>
                  <a:srgbClr val="FCA5A5"/>
                </a:solidFill>
                <a:latin typeface="Calibri"/>
              </a:rPr>
              <a:t>step_up  [sync · det. guard triggered]</a:t>
            </a:r>
          </a:p>
        </p:txBody>
      </p:sp>
      <p:sp>
        <p:nvSpPr>
          <p:cNvPr id="38" name="TextBox 37"/>
          <p:cNvSpPr txBox="1"/>
          <p:nvPr/>
        </p:nvSpPr>
        <p:spPr>
          <a:xfrm>
            <a:off x="5367528" y="4754880"/>
            <a:ext cx="3584448" cy="621792"/>
          </a:xfrm>
          <a:prstGeom prst="rect">
            <a:avLst/>
          </a:prstGeom>
          <a:noFill/>
        </p:spPr>
        <p:txBody>
          <a:bodyPr wrap="square" lIns="0" tIns="0" rIns="0" bIns="0">
            <a:spAutoFit/>
          </a:bodyPr>
          <a:lstStyle/>
          <a:p>
            <a:pPr algn="l"/>
            <a:r>
              <a:rPr lang="en-US" sz="1000" b="0" i="0" noProof="1">
                <a:solidFill>
                  <a:srgbClr val="F1F5F9"/>
                </a:solidFill>
                <a:latin typeface="Calibri"/>
              </a:rPr>
              <a:t>Triggered by policy_gate (high band + high conf)
Blocks that one reply · ask confirm-age · restrict
Never a silent hard-block — always prompts</a:t>
            </a:r>
          </a:p>
        </p:txBody>
      </p:sp>
      <p:sp>
        <p:nvSpPr>
          <p:cNvPr id="39" name="Rounded Rectangle 38"/>
          <p:cNvSpPr/>
          <p:nvPr/>
        </p:nvSpPr>
        <p:spPr>
          <a:xfrm>
            <a:off x="5239512" y="5596128"/>
            <a:ext cx="3840480" cy="731520"/>
          </a:xfrm>
          <a:prstGeom prst="roundRect">
            <a:avLst/>
          </a:prstGeom>
          <a:solidFill>
            <a:srgbClr val="1616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367528" y="5669280"/>
            <a:ext cx="3584448" cy="256032"/>
          </a:xfrm>
          <a:prstGeom prst="rect">
            <a:avLst/>
          </a:prstGeom>
          <a:noFill/>
        </p:spPr>
        <p:txBody>
          <a:bodyPr wrap="square" lIns="0" tIns="0" rIns="0" bIns="0">
            <a:spAutoFit/>
          </a:bodyPr>
          <a:lstStyle/>
          <a:p>
            <a:pPr algn="l"/>
            <a:r>
              <a:rPr lang="en-US" sz="1100" b="1" i="0" noProof="1">
                <a:solidFill>
                  <a:srgbClr val="6EE7B7"/>
                </a:solidFill>
                <a:latin typeface="Calibri"/>
              </a:rPr>
              <a:t>confirmation  →  override</a:t>
            </a:r>
          </a:p>
        </p:txBody>
      </p:sp>
      <p:sp>
        <p:nvSpPr>
          <p:cNvPr id="41" name="TextBox 40"/>
          <p:cNvSpPr txBox="1"/>
          <p:nvPr/>
        </p:nvSpPr>
        <p:spPr>
          <a:xfrm>
            <a:off x="5367528" y="5943600"/>
            <a:ext cx="3584448" cy="292608"/>
          </a:xfrm>
          <a:prstGeom prst="rect">
            <a:avLst/>
          </a:prstGeom>
          <a:noFill/>
        </p:spPr>
        <p:txBody>
          <a:bodyPr wrap="square" lIns="0" tIns="0" rIns="0" bIns="0">
            <a:spAutoFit/>
          </a:bodyPr>
          <a:lstStyle/>
          <a:p>
            <a:pPr algn="l"/>
            <a:r>
              <a:rPr lang="en-US" sz="900" b="0" i="0" noProof="1">
                <a:solidFill>
                  <a:srgbClr val="94A3B8"/>
                </a:solidFill>
                <a:latin typeface="Calibri"/>
              </a:rPr>
              <a:t>CONFIRMED age overrides inference  ·  only confirmed may persist</a:t>
            </a:r>
          </a:p>
        </p:txBody>
      </p:sp>
      <p:sp>
        <p:nvSpPr>
          <p:cNvPr id="42" name="TextBox 41"/>
          <p:cNvSpPr txBox="1"/>
          <p:nvPr/>
        </p:nvSpPr>
        <p:spPr>
          <a:xfrm>
            <a:off x="9262872" y="1353312"/>
            <a:ext cx="2286000" cy="256032"/>
          </a:xfrm>
          <a:prstGeom prst="rect">
            <a:avLst/>
          </a:prstGeom>
          <a:noFill/>
        </p:spPr>
        <p:txBody>
          <a:bodyPr wrap="square" lIns="0" tIns="0" rIns="0" bIns="0">
            <a:spAutoFit/>
          </a:bodyPr>
          <a:lstStyle/>
          <a:p>
            <a:pPr algn="l"/>
            <a:r>
              <a:rPr lang="en-US" sz="1000" b="1" i="0" noProof="1">
                <a:solidFill>
                  <a:srgbClr val="94A3B8"/>
                </a:solidFill>
                <a:latin typeface="Calibri"/>
              </a:rPr>
              <a:t>Legend</a:t>
            </a:r>
          </a:p>
        </p:txBody>
      </p:sp>
      <p:sp>
        <p:nvSpPr>
          <p:cNvPr id="43" name="Rectangle 42"/>
          <p:cNvSpPr/>
          <p:nvPr/>
        </p:nvSpPr>
        <p:spPr>
          <a:xfrm>
            <a:off x="9262872" y="1645920"/>
            <a:ext cx="182880" cy="15544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500615" y="1645920"/>
            <a:ext cx="2011680" cy="182880"/>
          </a:xfrm>
          <a:prstGeom prst="rect">
            <a:avLst/>
          </a:prstGeom>
          <a:noFill/>
        </p:spPr>
        <p:txBody>
          <a:bodyPr wrap="square" lIns="0" tIns="0" rIns="0" bIns="0">
            <a:spAutoFit/>
          </a:bodyPr>
          <a:lstStyle/>
          <a:p>
            <a:pPr algn="l"/>
            <a:r>
              <a:rPr lang="en-US" sz="900" b="0" i="0" noProof="1">
                <a:solidFill>
                  <a:srgbClr val="94A3B8"/>
                </a:solidFill>
                <a:latin typeface="Calibri"/>
              </a:rPr>
              <a:t>LLM agent / Planner</a:t>
            </a:r>
          </a:p>
        </p:txBody>
      </p:sp>
      <p:sp>
        <p:nvSpPr>
          <p:cNvPr id="45" name="Rectangle 44"/>
          <p:cNvSpPr/>
          <p:nvPr/>
        </p:nvSpPr>
        <p:spPr>
          <a:xfrm>
            <a:off x="9262872" y="1901952"/>
            <a:ext cx="182880" cy="155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00615" y="1901952"/>
            <a:ext cx="2011680" cy="182880"/>
          </a:xfrm>
          <a:prstGeom prst="rect">
            <a:avLst/>
          </a:prstGeom>
          <a:noFill/>
        </p:spPr>
        <p:txBody>
          <a:bodyPr wrap="square" lIns="0" tIns="0" rIns="0" bIns="0">
            <a:spAutoFit/>
          </a:bodyPr>
          <a:lstStyle/>
          <a:p>
            <a:pPr algn="l"/>
            <a:r>
              <a:rPr lang="en-US" sz="900" b="0" i="0" noProof="1">
                <a:solidFill>
                  <a:srgbClr val="94A3B8"/>
                </a:solidFill>
                <a:latin typeface="Calibri"/>
              </a:rPr>
              <a:t>Det. tool / Guard</a:t>
            </a:r>
          </a:p>
        </p:txBody>
      </p:sp>
      <p:sp>
        <p:nvSpPr>
          <p:cNvPr id="47" name="Rectangle 46"/>
          <p:cNvSpPr/>
          <p:nvPr/>
        </p:nvSpPr>
        <p:spPr>
          <a:xfrm>
            <a:off x="9262872" y="2157984"/>
            <a:ext cx="182880" cy="1554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500615" y="2157984"/>
            <a:ext cx="2011680" cy="182880"/>
          </a:xfrm>
          <a:prstGeom prst="rect">
            <a:avLst/>
          </a:prstGeom>
          <a:noFill/>
        </p:spPr>
        <p:txBody>
          <a:bodyPr wrap="square" lIns="0" tIns="0" rIns="0" bIns="0">
            <a:spAutoFit/>
          </a:bodyPr>
          <a:lstStyle/>
          <a:p>
            <a:pPr algn="l"/>
            <a:r>
              <a:rPr lang="en-US" sz="900" b="0" i="0" noProof="1">
                <a:solidFill>
                  <a:srgbClr val="94A3B8"/>
                </a:solidFill>
                <a:latin typeface="Calibri"/>
              </a:rPr>
              <a:t>Posture / confirmed</a:t>
            </a:r>
          </a:p>
        </p:txBody>
      </p:sp>
      <p:sp>
        <p:nvSpPr>
          <p:cNvPr id="49" name="Rectangle 48"/>
          <p:cNvSpPr/>
          <p:nvPr/>
        </p:nvSpPr>
        <p:spPr>
          <a:xfrm>
            <a:off x="9262872" y="2414016"/>
            <a:ext cx="182880" cy="155448"/>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500615" y="2414016"/>
            <a:ext cx="2011680" cy="182880"/>
          </a:xfrm>
          <a:prstGeom prst="rect">
            <a:avLst/>
          </a:prstGeom>
          <a:noFill/>
        </p:spPr>
        <p:txBody>
          <a:bodyPr wrap="square" lIns="0" tIns="0" rIns="0" bIns="0">
            <a:spAutoFit/>
          </a:bodyPr>
          <a:lstStyle/>
          <a:p>
            <a:pPr algn="l"/>
            <a:r>
              <a:rPr lang="en-US" sz="900" b="0" i="0" noProof="1">
                <a:solidFill>
                  <a:srgbClr val="94A3B8"/>
                </a:solidFill>
                <a:latin typeface="Calibri"/>
              </a:rPr>
              <a:t>Step-up (sync)</a:t>
            </a:r>
          </a:p>
        </p:txBody>
      </p:sp>
      <p:sp>
        <p:nvSpPr>
          <p:cNvPr id="51" name="Rectangle 50"/>
          <p:cNvSpPr/>
          <p:nvPr/>
        </p:nvSpPr>
        <p:spPr>
          <a:xfrm>
            <a:off x="9262872" y="2670048"/>
            <a:ext cx="182880" cy="15544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500615" y="2670048"/>
            <a:ext cx="2011680" cy="182880"/>
          </a:xfrm>
          <a:prstGeom prst="rect">
            <a:avLst/>
          </a:prstGeom>
          <a:noFill/>
        </p:spPr>
        <p:txBody>
          <a:bodyPr wrap="square" lIns="0" tIns="0" rIns="0" bIns="0">
            <a:spAutoFit/>
          </a:bodyPr>
          <a:lstStyle/>
          <a:p>
            <a:pPr algn="l"/>
            <a:r>
              <a:rPr lang="en-US" sz="900" b="0" i="0" noProof="1">
                <a:solidFill>
                  <a:srgbClr val="94A3B8"/>
                </a:solidFill>
                <a:latin typeface="Calibri"/>
              </a:rPr>
              <a:t>AMD serving</a:t>
            </a:r>
          </a:p>
        </p:txBody>
      </p:sp>
      <p:sp>
        <p:nvSpPr>
          <p:cNvPr id="53" name="Rectangle 52"/>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55" name="TextBox 54"/>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11 / 16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 The Demo — Four Conversations</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The one that wins the room: the adversarial child trying to pass as adult</a:t>
            </a:r>
          </a:p>
        </p:txBody>
      </p:sp>
      <p:sp>
        <p:nvSpPr>
          <p:cNvPr id="5" name="Rounded Rectangle 4"/>
          <p:cNvSpPr/>
          <p:nvPr/>
        </p:nvSpPr>
        <p:spPr>
          <a:xfrm>
            <a:off x="411480" y="1298448"/>
            <a:ext cx="5532120" cy="2487168"/>
          </a:xfrm>
          <a:prstGeom prst="roundRect">
            <a:avLst/>
          </a:prstGeom>
          <a:solidFill>
            <a:srgbClr val="04221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8" y="1371600"/>
            <a:ext cx="5312664" cy="310896"/>
          </a:xfrm>
          <a:prstGeom prst="rect">
            <a:avLst/>
          </a:prstGeom>
          <a:noFill/>
        </p:spPr>
        <p:txBody>
          <a:bodyPr wrap="square" lIns="0" tIns="0" rIns="0" bIns="0">
            <a:spAutoFit/>
          </a:bodyPr>
          <a:lstStyle/>
          <a:p>
            <a:pPr algn="l"/>
            <a:r>
              <a:rPr lang="en-US" sz="1200" b="1" i="0" noProof="1">
                <a:solidFill>
                  <a:srgbClr val="10B981"/>
                </a:solidFill>
                <a:latin typeface="Calibri"/>
              </a:rPr>
              <a:t>Conversation A — Clear Adult</a:t>
            </a:r>
          </a:p>
        </p:txBody>
      </p:sp>
      <p:sp>
        <p:nvSpPr>
          <p:cNvPr id="7" name="TextBox 6"/>
          <p:cNvSpPr txBox="1"/>
          <p:nvPr/>
        </p:nvSpPr>
        <p:spPr>
          <a:xfrm>
            <a:off x="521208" y="1737360"/>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Just closed my Q2 sales target early. Need to celebrate.</a:t>
            </a:r>
          </a:p>
        </p:txBody>
      </p:sp>
      <p:sp>
        <p:nvSpPr>
          <p:cNvPr id="8" name="TextBox 7"/>
          <p:cNvSpPr txBox="1"/>
          <p:nvPr/>
        </p:nvSpPr>
        <p:spPr>
          <a:xfrm>
            <a:off x="521208" y="2066543"/>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Any good single-malt recommendations under £80?</a:t>
            </a:r>
          </a:p>
        </p:txBody>
      </p:sp>
      <p:sp>
        <p:nvSpPr>
          <p:cNvPr id="9" name="TextBox 8"/>
          <p:cNvSpPr txBox="1"/>
          <p:nvPr/>
        </p:nvSpPr>
        <p:spPr>
          <a:xfrm>
            <a:off x="521208" y="2395727"/>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Working on a pitch deck for my board tomorrow.</a:t>
            </a:r>
          </a:p>
        </p:txBody>
      </p:sp>
      <p:sp>
        <p:nvSpPr>
          <p:cNvPr id="10" name="Rectangle 9"/>
          <p:cNvSpPr/>
          <p:nvPr/>
        </p:nvSpPr>
        <p:spPr>
          <a:xfrm>
            <a:off x="411480" y="3127248"/>
            <a:ext cx="5532120" cy="329184"/>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1208" y="3145536"/>
            <a:ext cx="5312664" cy="256032"/>
          </a:xfrm>
          <a:prstGeom prst="rect">
            <a:avLst/>
          </a:prstGeom>
          <a:noFill/>
        </p:spPr>
        <p:txBody>
          <a:bodyPr wrap="square" lIns="0" tIns="0" rIns="0" bIns="0">
            <a:spAutoFit/>
          </a:bodyPr>
          <a:lstStyle/>
          <a:p>
            <a:pPr algn="l"/>
            <a:r>
              <a:rPr lang="en-US" sz="900" b="0" i="1" noProof="1">
                <a:solidFill>
                  <a:srgbClr val="6EE7B7"/>
                </a:solidFill>
                <a:latin typeface="Calibri"/>
              </a:rPr>
              <a:t>Band: likely-adult  ·  Confidence: high</a:t>
            </a:r>
          </a:p>
        </p:txBody>
      </p:sp>
      <p:sp>
        <p:nvSpPr>
          <p:cNvPr id="12" name="Rectangle 11"/>
          <p:cNvSpPr/>
          <p:nvPr/>
        </p:nvSpPr>
        <p:spPr>
          <a:xfrm>
            <a:off x="411480" y="3456432"/>
            <a:ext cx="5532120" cy="3291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 y="3474720"/>
            <a:ext cx="5312664" cy="256032"/>
          </a:xfrm>
          <a:prstGeom prst="rect">
            <a:avLst/>
          </a:prstGeom>
          <a:noFill/>
        </p:spPr>
        <p:txBody>
          <a:bodyPr wrap="square" lIns="0" tIns="0" rIns="0" bIns="0">
            <a:spAutoFit/>
          </a:bodyPr>
          <a:lstStyle/>
          <a:p>
            <a:pPr algn="l"/>
            <a:r>
              <a:rPr lang="en-US" sz="1000" b="1" i="0" noProof="1">
                <a:solidFill>
                  <a:srgbClr val="FFFFFF"/>
                </a:solidFill>
                <a:latin typeface="Calibri"/>
              </a:rPr>
              <a:t>safety_posture: full features</a:t>
            </a:r>
          </a:p>
        </p:txBody>
      </p:sp>
      <p:sp>
        <p:nvSpPr>
          <p:cNvPr id="14" name="Rounded Rectangle 13"/>
          <p:cNvSpPr/>
          <p:nvPr/>
        </p:nvSpPr>
        <p:spPr>
          <a:xfrm>
            <a:off x="6172200" y="1298448"/>
            <a:ext cx="5532120" cy="2487168"/>
          </a:xfrm>
          <a:prstGeom prst="roundRect">
            <a:avLst/>
          </a:prstGeom>
          <a:solidFill>
            <a:srgbClr val="2A1C0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81928" y="1371600"/>
            <a:ext cx="5312664" cy="310896"/>
          </a:xfrm>
          <a:prstGeom prst="rect">
            <a:avLst/>
          </a:prstGeom>
          <a:noFill/>
        </p:spPr>
        <p:txBody>
          <a:bodyPr wrap="square" lIns="0" tIns="0" rIns="0" bIns="0">
            <a:spAutoFit/>
          </a:bodyPr>
          <a:lstStyle/>
          <a:p>
            <a:pPr algn="l"/>
            <a:r>
              <a:rPr lang="en-US" sz="1200" b="1" i="0" noProof="1">
                <a:solidFill>
                  <a:srgbClr val="F59E0B"/>
                </a:solidFill>
                <a:latin typeface="Calibri"/>
              </a:rPr>
              <a:t>Conversation B — Young Teen</a:t>
            </a:r>
          </a:p>
        </p:txBody>
      </p:sp>
      <p:sp>
        <p:nvSpPr>
          <p:cNvPr id="16" name="TextBox 15"/>
          <p:cNvSpPr txBox="1"/>
          <p:nvPr/>
        </p:nvSpPr>
        <p:spPr>
          <a:xfrm>
            <a:off x="6281928" y="1737360"/>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My teacher gave us so much homework this weekend omg</a:t>
            </a:r>
          </a:p>
        </p:txBody>
      </p:sp>
      <p:sp>
        <p:nvSpPr>
          <p:cNvPr id="17" name="TextBox 16"/>
          <p:cNvSpPr txBox="1"/>
          <p:nvPr/>
        </p:nvSpPr>
        <p:spPr>
          <a:xfrm>
            <a:off x="6281928" y="2066543"/>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Do you know about photosynthesis? Need it for my project.</a:t>
            </a:r>
          </a:p>
        </p:txBody>
      </p:sp>
      <p:sp>
        <p:nvSpPr>
          <p:cNvPr id="18" name="TextBox 17"/>
          <p:cNvSpPr txBox="1"/>
          <p:nvPr/>
        </p:nvSpPr>
        <p:spPr>
          <a:xfrm>
            <a:off x="6281928" y="2395727"/>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Mom said I have to be off my phone by 9 so I gotta be quick</a:t>
            </a:r>
          </a:p>
        </p:txBody>
      </p:sp>
      <p:sp>
        <p:nvSpPr>
          <p:cNvPr id="19" name="Rectangle 18"/>
          <p:cNvSpPr/>
          <p:nvPr/>
        </p:nvSpPr>
        <p:spPr>
          <a:xfrm>
            <a:off x="6172200" y="3127248"/>
            <a:ext cx="5532120" cy="329184"/>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81928" y="3145536"/>
            <a:ext cx="5312664" cy="256032"/>
          </a:xfrm>
          <a:prstGeom prst="rect">
            <a:avLst/>
          </a:prstGeom>
          <a:noFill/>
        </p:spPr>
        <p:txBody>
          <a:bodyPr wrap="square" lIns="0" tIns="0" rIns="0" bIns="0">
            <a:spAutoFit/>
          </a:bodyPr>
          <a:lstStyle/>
          <a:p>
            <a:pPr algn="l"/>
            <a:r>
              <a:rPr lang="en-US" sz="900" b="0" i="1" noProof="1">
                <a:solidFill>
                  <a:srgbClr val="FCD34D"/>
                </a:solidFill>
                <a:latin typeface="Calibri"/>
              </a:rPr>
              <a:t>Band: likely-child  ·  Confidence: climbs turn by turn</a:t>
            </a:r>
          </a:p>
        </p:txBody>
      </p:sp>
      <p:sp>
        <p:nvSpPr>
          <p:cNvPr id="21" name="Rectangle 20"/>
          <p:cNvSpPr/>
          <p:nvPr/>
        </p:nvSpPr>
        <p:spPr>
          <a:xfrm>
            <a:off x="6172200" y="3456432"/>
            <a:ext cx="5532120" cy="32918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474720"/>
            <a:ext cx="5312664" cy="256032"/>
          </a:xfrm>
          <a:prstGeom prst="rect">
            <a:avLst/>
          </a:prstGeom>
          <a:noFill/>
        </p:spPr>
        <p:txBody>
          <a:bodyPr wrap="square" lIns="0" tIns="0" rIns="0" bIns="0">
            <a:spAutoFit/>
          </a:bodyPr>
          <a:lstStyle/>
          <a:p>
            <a:pPr algn="l"/>
            <a:r>
              <a:rPr lang="en-US" sz="1000" b="1" i="0" noProof="1">
                <a:solidFill>
                  <a:srgbClr val="FFFFFF"/>
                </a:solidFill>
                <a:latin typeface="Calibri"/>
              </a:rPr>
              <a:t>safety_posture: tighten → step-up → confirm age</a:t>
            </a:r>
          </a:p>
        </p:txBody>
      </p:sp>
      <p:sp>
        <p:nvSpPr>
          <p:cNvPr id="23" name="Rounded Rectangle 22"/>
          <p:cNvSpPr/>
          <p:nvPr/>
        </p:nvSpPr>
        <p:spPr>
          <a:xfrm>
            <a:off x="411480" y="4014216"/>
            <a:ext cx="5532120" cy="2487168"/>
          </a:xfrm>
          <a:prstGeom prst="roundRect">
            <a:avLst/>
          </a:prstGeom>
          <a:solidFill>
            <a:srgbClr val="3F3FA0"/>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1208" y="4087368"/>
            <a:ext cx="5312664" cy="310896"/>
          </a:xfrm>
          <a:prstGeom prst="rect">
            <a:avLst/>
          </a:prstGeom>
          <a:noFill/>
        </p:spPr>
        <p:txBody>
          <a:bodyPr wrap="square" lIns="0" tIns="0" rIns="0" bIns="0">
            <a:spAutoFit/>
          </a:bodyPr>
          <a:lstStyle/>
          <a:p>
            <a:pPr algn="l"/>
            <a:r>
              <a:rPr lang="en-US" sz="1200" b="1" i="0" noProof="1">
                <a:solidFill>
                  <a:srgbClr val="6366F1"/>
                </a:solidFill>
                <a:latin typeface="Calibri"/>
              </a:rPr>
              <a:t>Conversation C — Ambiguous (adult who writes simply)</a:t>
            </a:r>
          </a:p>
        </p:txBody>
      </p:sp>
      <p:sp>
        <p:nvSpPr>
          <p:cNvPr id="25" name="TextBox 24"/>
          <p:cNvSpPr txBox="1"/>
          <p:nvPr/>
        </p:nvSpPr>
        <p:spPr>
          <a:xfrm>
            <a:off x="521208" y="4453128"/>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How do I cook pasta properly?</a:t>
            </a:r>
          </a:p>
        </p:txBody>
      </p:sp>
      <p:sp>
        <p:nvSpPr>
          <p:cNvPr id="26" name="TextBox 25"/>
          <p:cNvSpPr txBox="1"/>
          <p:nvPr/>
        </p:nvSpPr>
        <p:spPr>
          <a:xfrm>
            <a:off x="521208" y="4782312"/>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I want something simple. I don't cook much.</a:t>
            </a:r>
          </a:p>
        </p:txBody>
      </p:sp>
      <p:sp>
        <p:nvSpPr>
          <p:cNvPr id="27" name="TextBox 26"/>
          <p:cNvSpPr txBox="1"/>
          <p:nvPr/>
        </p:nvSpPr>
        <p:spPr>
          <a:xfrm>
            <a:off x="521208" y="5111496"/>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My family is coming over this weekend.</a:t>
            </a:r>
          </a:p>
        </p:txBody>
      </p:sp>
      <p:sp>
        <p:nvSpPr>
          <p:cNvPr id="28" name="Rectangle 27"/>
          <p:cNvSpPr/>
          <p:nvPr/>
        </p:nvSpPr>
        <p:spPr>
          <a:xfrm>
            <a:off x="411480" y="5843016"/>
            <a:ext cx="5532120" cy="329184"/>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1208" y="5861304"/>
            <a:ext cx="5312664" cy="256032"/>
          </a:xfrm>
          <a:prstGeom prst="rect">
            <a:avLst/>
          </a:prstGeom>
          <a:noFill/>
        </p:spPr>
        <p:txBody>
          <a:bodyPr wrap="square" lIns="0" tIns="0" rIns="0" bIns="0">
            <a:spAutoFit/>
          </a:bodyPr>
          <a:lstStyle/>
          <a:p>
            <a:pPr algn="l"/>
            <a:r>
              <a:rPr lang="en-US" sz="900" b="0" i="1" noProof="1">
                <a:solidFill>
                  <a:srgbClr val="A5B4FC"/>
                </a:solidFill>
                <a:latin typeface="Calibri"/>
              </a:rPr>
              <a:t>Band: unknown  ·  Confidence: stays LOW</a:t>
            </a:r>
          </a:p>
        </p:txBody>
      </p:sp>
      <p:sp>
        <p:nvSpPr>
          <p:cNvPr id="30" name="Rectangle 29"/>
          <p:cNvSpPr/>
          <p:nvPr/>
        </p:nvSpPr>
        <p:spPr>
          <a:xfrm>
            <a:off x="411480" y="6172200"/>
            <a:ext cx="5532120" cy="32918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1208" y="6190488"/>
            <a:ext cx="5312664" cy="256032"/>
          </a:xfrm>
          <a:prstGeom prst="rect">
            <a:avLst/>
          </a:prstGeom>
          <a:noFill/>
        </p:spPr>
        <p:txBody>
          <a:bodyPr wrap="square" lIns="0" tIns="0" rIns="0" bIns="0">
            <a:spAutoFit/>
          </a:bodyPr>
          <a:lstStyle/>
          <a:p>
            <a:pPr algn="l"/>
            <a:r>
              <a:rPr lang="en-US" sz="1000" b="1" i="0" noProof="1">
                <a:solidFill>
                  <a:srgbClr val="FFFFFF"/>
                </a:solidFill>
                <a:latin typeface="Calibri"/>
              </a:rPr>
              <a:t>safety_posture: tighten slightly — ASKS, doesn't lock out</a:t>
            </a:r>
          </a:p>
        </p:txBody>
      </p:sp>
      <p:sp>
        <p:nvSpPr>
          <p:cNvPr id="32" name="Rounded Rectangle 31"/>
          <p:cNvSpPr/>
          <p:nvPr/>
        </p:nvSpPr>
        <p:spPr>
          <a:xfrm>
            <a:off x="6172200" y="4014216"/>
            <a:ext cx="5532120" cy="2487168"/>
          </a:xfrm>
          <a:prstGeom prst="roundRect">
            <a:avLst/>
          </a:prstGeom>
          <a:solidFill>
            <a:srgbClr val="2A0808"/>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4087368"/>
            <a:ext cx="5312664" cy="310896"/>
          </a:xfrm>
          <a:prstGeom prst="rect">
            <a:avLst/>
          </a:prstGeom>
          <a:noFill/>
        </p:spPr>
        <p:txBody>
          <a:bodyPr wrap="square" lIns="0" tIns="0" rIns="0" bIns="0">
            <a:spAutoFit/>
          </a:bodyPr>
          <a:lstStyle/>
          <a:p>
            <a:pPr algn="l"/>
            <a:r>
              <a:rPr lang="en-US" sz="1200" b="1" i="0" noProof="1">
                <a:solidFill>
                  <a:srgbClr val="E84242"/>
                </a:solidFill>
                <a:latin typeface="Calibri"/>
              </a:rPr>
              <a:t>Conversation D — ★ ADVERSARIAL: child claiming adult</a:t>
            </a:r>
          </a:p>
        </p:txBody>
      </p:sp>
      <p:sp>
        <p:nvSpPr>
          <p:cNvPr id="34" name="TextBox 33"/>
          <p:cNvSpPr txBox="1"/>
          <p:nvPr/>
        </p:nvSpPr>
        <p:spPr>
          <a:xfrm>
            <a:off x="6281928" y="4453128"/>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I'm a 28-year-old professional, just so you know.</a:t>
            </a:r>
          </a:p>
        </p:txBody>
      </p:sp>
      <p:sp>
        <p:nvSpPr>
          <p:cNvPr id="35" name="TextBox 34"/>
          <p:cNvSpPr txBox="1"/>
          <p:nvPr/>
        </p:nvSpPr>
        <p:spPr>
          <a:xfrm>
            <a:off x="6281928" y="4782312"/>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[avoids any school/family reference, over-insists on adult status]</a:t>
            </a:r>
          </a:p>
        </p:txBody>
      </p:sp>
      <p:sp>
        <p:nvSpPr>
          <p:cNvPr id="36" name="TextBox 35"/>
          <p:cNvSpPr txBox="1"/>
          <p:nvPr/>
        </p:nvSpPr>
        <p:spPr>
          <a:xfrm>
            <a:off x="6281928" y="5111496"/>
            <a:ext cx="5312664" cy="310896"/>
          </a:xfrm>
          <a:prstGeom prst="rect">
            <a:avLst/>
          </a:prstGeom>
          <a:noFill/>
        </p:spPr>
        <p:txBody>
          <a:bodyPr wrap="square" lIns="0" tIns="0" rIns="0" bIns="0">
            <a:spAutoFit/>
          </a:bodyPr>
          <a:lstStyle/>
          <a:p>
            <a:pPr algn="l"/>
            <a:r>
              <a:rPr lang="en-US" sz="1000" b="0" i="0" noProof="1">
                <a:solidFill>
                  <a:srgbClr val="F1F5F9"/>
                </a:solidFill>
                <a:latin typeface="Calibri"/>
              </a:rPr>
              <a:t>User: I'm definitely an adult. You can trust me on that.</a:t>
            </a:r>
          </a:p>
        </p:txBody>
      </p:sp>
      <p:sp>
        <p:nvSpPr>
          <p:cNvPr id="37" name="Rectangle 36"/>
          <p:cNvSpPr/>
          <p:nvPr/>
        </p:nvSpPr>
        <p:spPr>
          <a:xfrm>
            <a:off x="6172200" y="5843016"/>
            <a:ext cx="5532120" cy="329184"/>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81928" y="5861304"/>
            <a:ext cx="5312664" cy="256032"/>
          </a:xfrm>
          <a:prstGeom prst="rect">
            <a:avLst/>
          </a:prstGeom>
          <a:noFill/>
        </p:spPr>
        <p:txBody>
          <a:bodyPr wrap="square" lIns="0" tIns="0" rIns="0" bIns="0">
            <a:spAutoFit/>
          </a:bodyPr>
          <a:lstStyle/>
          <a:p>
            <a:pPr algn="l"/>
            <a:r>
              <a:rPr lang="en-US" sz="800" b="0" i="1" noProof="1">
                <a:solidFill>
                  <a:srgbClr val="FCA5A5"/>
                </a:solidFill>
                <a:latin typeface="Calibri"/>
              </a:rPr>
              <a:t>Never settles 'adult' — a 31B model alone was fooled (adult @ 0.86); the deterministic guard held</a:t>
            </a:r>
          </a:p>
        </p:txBody>
      </p:sp>
      <p:sp>
        <p:nvSpPr>
          <p:cNvPr id="39" name="Rectangle 38"/>
          <p:cNvSpPr/>
          <p:nvPr/>
        </p:nvSpPr>
        <p:spPr>
          <a:xfrm>
            <a:off x="6172200" y="6172200"/>
            <a:ext cx="5532120" cy="329184"/>
          </a:xfrm>
          <a:prstGeom prst="rect">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81928" y="6190488"/>
            <a:ext cx="5312664" cy="256032"/>
          </a:xfrm>
          <a:prstGeom prst="rect">
            <a:avLst/>
          </a:prstGeom>
          <a:noFill/>
        </p:spPr>
        <p:txBody>
          <a:bodyPr wrap="square" lIns="0" tIns="0" rIns="0" bIns="0">
            <a:spAutoFit/>
          </a:bodyPr>
          <a:lstStyle/>
          <a:p>
            <a:pPr algn="l"/>
            <a:r>
              <a:rPr lang="en-US" sz="1000" b="1" i="0" noProof="1">
                <a:solidFill>
                  <a:srgbClr val="FFFFFF"/>
                </a:solidFill>
                <a:latin typeface="Calibri"/>
              </a:rPr>
              <a:t>★ STEP-UP — evasion itself is a signal → asks to confirm</a:t>
            </a:r>
          </a:p>
        </p:txBody>
      </p:sp>
      <p:sp>
        <p:nvSpPr>
          <p:cNvPr id="41" name="Rectangle 40"/>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43" name="TextBox 42"/>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12 / 16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Design Decisions &amp; Known Limits</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Naming weak points is maturity, not weakness — and where this gets judged</a:t>
            </a:r>
          </a:p>
        </p:txBody>
      </p:sp>
      <p:sp>
        <p:nvSpPr>
          <p:cNvPr id="5" name="Rounded Rectangle 4"/>
          <p:cNvSpPr/>
          <p:nvPr/>
        </p:nvSpPr>
        <p:spPr>
          <a:xfrm>
            <a:off x="411480" y="1298448"/>
            <a:ext cx="11365992" cy="896112"/>
          </a:xfrm>
          <a:prstGeom prst="roundRect">
            <a:avLst/>
          </a:prstGeom>
          <a:solidFill>
            <a:srgbClr val="2A1C0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536192"/>
            <a:ext cx="420624" cy="420624"/>
          </a:xfrm>
          <a:prstGeom prst="roundRect">
            <a:avLst/>
          </a:prstGeom>
          <a:solidFill>
            <a:srgbClr val="2A1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lert.png"/>
          <p:cNvPicPr>
            <a:picLocks noChangeAspect="1"/>
          </p:cNvPicPr>
          <p:nvPr/>
        </p:nvPicPr>
        <p:blipFill>
          <a:blip r:embed="rId3"/>
          <a:stretch>
            <a:fillRect/>
          </a:stretch>
        </p:blipFill>
        <p:spPr>
          <a:xfrm>
            <a:off x="553394" y="1586666"/>
            <a:ext cx="319674" cy="319674"/>
          </a:xfrm>
          <a:prstGeom prst="rect">
            <a:avLst/>
          </a:prstGeom>
        </p:spPr>
      </p:pic>
      <p:sp>
        <p:nvSpPr>
          <p:cNvPr id="8" name="TextBox 7"/>
          <p:cNvSpPr txBox="1"/>
          <p:nvPr/>
        </p:nvSpPr>
        <p:spPr>
          <a:xfrm>
            <a:off x="1097280" y="1371600"/>
            <a:ext cx="3474720" cy="329184"/>
          </a:xfrm>
          <a:prstGeom prst="rect">
            <a:avLst/>
          </a:prstGeom>
          <a:noFill/>
        </p:spPr>
        <p:txBody>
          <a:bodyPr wrap="square" lIns="0" tIns="0" rIns="0" bIns="0">
            <a:spAutoFit/>
          </a:bodyPr>
          <a:lstStyle/>
          <a:p>
            <a:pPr algn="l"/>
            <a:r>
              <a:rPr lang="en-US" sz="1200" b="1" i="0" noProof="1">
                <a:solidFill>
                  <a:srgbClr val="F59E0B"/>
                </a:solidFill>
                <a:latin typeface="Calibri"/>
              </a:rPr>
              <a:t>Risk reduction, not access control</a:t>
            </a:r>
          </a:p>
        </p:txBody>
      </p:sp>
      <p:sp>
        <p:nvSpPr>
          <p:cNvPr id="9" name="TextBox 8"/>
          <p:cNvSpPr txBox="1"/>
          <p:nvPr/>
        </p:nvSpPr>
        <p:spPr>
          <a:xfrm>
            <a:off x="1097280" y="1719072"/>
            <a:ext cx="10104120" cy="402336"/>
          </a:xfrm>
          <a:prstGeom prst="rect">
            <a:avLst/>
          </a:prstGeom>
          <a:noFill/>
        </p:spPr>
        <p:txBody>
          <a:bodyPr wrap="square" lIns="0" tIns="0" rIns="0" bIns="0">
            <a:spAutoFit/>
          </a:bodyPr>
          <a:lstStyle/>
          <a:p>
            <a:pPr algn="l"/>
            <a:r>
              <a:rPr lang="en-US" sz="1000" b="0" i="0" noProof="1">
                <a:solidFill>
                  <a:srgbClr val="F1F5F9"/>
                </a:solidFill>
                <a:latin typeface="Calibri"/>
              </a:rPr>
              <a:t>Passive inference works on a cooperative user. Evasion is a weak signal — step-up is the backstop.</a:t>
            </a:r>
          </a:p>
        </p:txBody>
      </p:sp>
      <p:sp>
        <p:nvSpPr>
          <p:cNvPr id="10" name="Rounded Rectangle 9"/>
          <p:cNvSpPr/>
          <p:nvPr/>
        </p:nvSpPr>
        <p:spPr>
          <a:xfrm>
            <a:off x="411480" y="2267712"/>
            <a:ext cx="11365992" cy="896112"/>
          </a:xfrm>
          <a:prstGeom prst="roundRect">
            <a:avLst/>
          </a:prstGeom>
          <a:solidFill>
            <a:srgbClr val="3F3FA0"/>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2505456"/>
            <a:ext cx="420624" cy="420624"/>
          </a:xfrm>
          <a:prstGeom prst="roundRect">
            <a:avLst/>
          </a:prstGeom>
          <a:solidFill>
            <a:srgbClr val="3F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lock.png"/>
          <p:cNvPicPr>
            <a:picLocks noChangeAspect="1"/>
          </p:cNvPicPr>
          <p:nvPr/>
        </p:nvPicPr>
        <p:blipFill>
          <a:blip r:embed="rId4"/>
          <a:stretch>
            <a:fillRect/>
          </a:stretch>
        </p:blipFill>
        <p:spPr>
          <a:xfrm>
            <a:off x="553394" y="2555930"/>
            <a:ext cx="319674" cy="319674"/>
          </a:xfrm>
          <a:prstGeom prst="rect">
            <a:avLst/>
          </a:prstGeom>
        </p:spPr>
      </p:pic>
      <p:sp>
        <p:nvSpPr>
          <p:cNvPr id="13" name="TextBox 12"/>
          <p:cNvSpPr txBox="1"/>
          <p:nvPr/>
        </p:nvSpPr>
        <p:spPr>
          <a:xfrm>
            <a:off x="1097280" y="2340864"/>
            <a:ext cx="3474720" cy="329184"/>
          </a:xfrm>
          <a:prstGeom prst="rect">
            <a:avLst/>
          </a:prstGeom>
          <a:noFill/>
        </p:spPr>
        <p:txBody>
          <a:bodyPr wrap="square" lIns="0" tIns="0" rIns="0" bIns="0">
            <a:spAutoFit/>
          </a:bodyPr>
          <a:lstStyle/>
          <a:p>
            <a:pPr algn="l"/>
            <a:r>
              <a:rPr lang="en-US" sz="1200" b="1" i="0" noProof="1">
                <a:solidFill>
                  <a:srgbClr val="A5B4FC"/>
                </a:solidFill>
                <a:latin typeface="Calibri"/>
              </a:rPr>
              <a:t>Session-vs-identity tension</a:t>
            </a:r>
          </a:p>
        </p:txBody>
      </p:sp>
      <p:sp>
        <p:nvSpPr>
          <p:cNvPr id="14" name="TextBox 13"/>
          <p:cNvSpPr txBox="1"/>
          <p:nvPr/>
        </p:nvSpPr>
        <p:spPr>
          <a:xfrm>
            <a:off x="1097280" y="2688336"/>
            <a:ext cx="10104120" cy="402336"/>
          </a:xfrm>
          <a:prstGeom prst="rect">
            <a:avLst/>
          </a:prstGeom>
          <a:noFill/>
        </p:spPr>
        <p:txBody>
          <a:bodyPr wrap="square" lIns="0" tIns="0" rIns="0" bIns="0">
            <a:spAutoFit/>
          </a:bodyPr>
          <a:lstStyle/>
          <a:p>
            <a:pPr algn="l"/>
            <a:r>
              <a:rPr lang="en-US" sz="1000" b="0" i="0" noProof="1">
                <a:solidFill>
                  <a:srgbClr val="F1F5F9"/>
                </a:solidFill>
                <a:latin typeface="Calibri"/>
              </a:rPr>
              <a:t>New session defeats session-scoped inference. Resolution: only CONFIRMED ages persist.</a:t>
            </a:r>
          </a:p>
        </p:txBody>
      </p:sp>
      <p:sp>
        <p:nvSpPr>
          <p:cNvPr id="15" name="Rounded Rectangle 14"/>
          <p:cNvSpPr/>
          <p:nvPr/>
        </p:nvSpPr>
        <p:spPr>
          <a:xfrm>
            <a:off x="411480" y="3236976"/>
            <a:ext cx="11365992" cy="896112"/>
          </a:xfrm>
          <a:prstGeom prst="roundRect">
            <a:avLst/>
          </a:prstGeom>
          <a:solidFill>
            <a:srgbClr val="04223A"/>
          </a:solidFill>
          <a:ln w="1270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474720"/>
            <a:ext cx="420624" cy="420624"/>
          </a:xfrm>
          <a:prstGeom prst="roundRect">
            <a:avLst/>
          </a:prstGeom>
          <a:solidFill>
            <a:srgbClr val="04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can.png"/>
          <p:cNvPicPr>
            <a:picLocks noChangeAspect="1"/>
          </p:cNvPicPr>
          <p:nvPr/>
        </p:nvPicPr>
        <p:blipFill>
          <a:blip r:embed="rId5"/>
          <a:stretch>
            <a:fillRect/>
          </a:stretch>
        </p:blipFill>
        <p:spPr>
          <a:xfrm>
            <a:off x="553394" y="3525194"/>
            <a:ext cx="319674" cy="319674"/>
          </a:xfrm>
          <a:prstGeom prst="rect">
            <a:avLst/>
          </a:prstGeom>
        </p:spPr>
      </p:pic>
      <p:sp>
        <p:nvSpPr>
          <p:cNvPr id="18" name="TextBox 17"/>
          <p:cNvSpPr txBox="1"/>
          <p:nvPr/>
        </p:nvSpPr>
        <p:spPr>
          <a:xfrm>
            <a:off x="1097280" y="3310128"/>
            <a:ext cx="3474720" cy="329184"/>
          </a:xfrm>
          <a:prstGeom prst="rect">
            <a:avLst/>
          </a:prstGeom>
          <a:noFill/>
        </p:spPr>
        <p:txBody>
          <a:bodyPr wrap="square" lIns="0" tIns="0" rIns="0" bIns="0">
            <a:spAutoFit/>
          </a:bodyPr>
          <a:lstStyle/>
          <a:p>
            <a:pPr algn="l"/>
            <a:r>
              <a:rPr lang="en-US" sz="1200" b="1" i="0" noProof="1">
                <a:solidFill>
                  <a:srgbClr val="7DD3FC"/>
                </a:solidFill>
                <a:latin typeface="Calibri"/>
              </a:rPr>
              <a:t>Cross-language is a real weak spot</a:t>
            </a:r>
          </a:p>
        </p:txBody>
      </p:sp>
      <p:sp>
        <p:nvSpPr>
          <p:cNvPr id="19" name="TextBox 18"/>
          <p:cNvSpPr txBox="1"/>
          <p:nvPr/>
        </p:nvSpPr>
        <p:spPr>
          <a:xfrm>
            <a:off x="1097280" y="3657600"/>
            <a:ext cx="10104120" cy="402336"/>
          </a:xfrm>
          <a:prstGeom prst="rect">
            <a:avLst/>
          </a:prstGeom>
          <a:noFill/>
        </p:spPr>
        <p:txBody>
          <a:bodyPr wrap="square" lIns="0" tIns="0" rIns="0" bIns="0">
            <a:spAutoFit/>
          </a:bodyPr>
          <a:lstStyle/>
          <a:p>
            <a:pPr algn="l"/>
            <a:r>
              <a:rPr lang="en-US" sz="1000" b="0" i="0" noProof="1">
                <a:solidFill>
                  <a:srgbClr val="F1F5F9"/>
                </a:solidFill>
                <a:latin typeface="Calibri"/>
              </a:rPr>
              <a:t>Vocabulary signals conflate non-native adults with children. Mitigation: weighted below disclosure/topics.</a:t>
            </a:r>
          </a:p>
        </p:txBody>
      </p:sp>
      <p:sp>
        <p:nvSpPr>
          <p:cNvPr id="20" name="Rounded Rectangle 19"/>
          <p:cNvSpPr/>
          <p:nvPr/>
        </p:nvSpPr>
        <p:spPr>
          <a:xfrm>
            <a:off x="411480" y="4206240"/>
            <a:ext cx="11365992" cy="896112"/>
          </a:xfrm>
          <a:prstGeom prst="roundRect">
            <a:avLst/>
          </a:prstGeom>
          <a:solidFill>
            <a:srgbClr val="2A0808"/>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02920" y="4443983"/>
            <a:ext cx="420624" cy="420624"/>
          </a:xfrm>
          <a:prstGeom prst="roundRect">
            <a:avLst/>
          </a:prstGeom>
          <a:solidFill>
            <a:srgbClr val="2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shield.png"/>
          <p:cNvPicPr>
            <a:picLocks noChangeAspect="1"/>
          </p:cNvPicPr>
          <p:nvPr/>
        </p:nvPicPr>
        <p:blipFill>
          <a:blip r:embed="rId6"/>
          <a:stretch>
            <a:fillRect/>
          </a:stretch>
        </p:blipFill>
        <p:spPr>
          <a:xfrm>
            <a:off x="553394" y="4494458"/>
            <a:ext cx="319674" cy="319674"/>
          </a:xfrm>
          <a:prstGeom prst="rect">
            <a:avLst/>
          </a:prstGeom>
        </p:spPr>
      </p:pic>
      <p:sp>
        <p:nvSpPr>
          <p:cNvPr id="23" name="TextBox 22"/>
          <p:cNvSpPr txBox="1"/>
          <p:nvPr/>
        </p:nvSpPr>
        <p:spPr>
          <a:xfrm>
            <a:off x="1097280" y="4279392"/>
            <a:ext cx="3474720" cy="329184"/>
          </a:xfrm>
          <a:prstGeom prst="rect">
            <a:avLst/>
          </a:prstGeom>
          <a:noFill/>
        </p:spPr>
        <p:txBody>
          <a:bodyPr wrap="square" lIns="0" tIns="0" rIns="0" bIns="0">
            <a:spAutoFit/>
          </a:bodyPr>
          <a:lstStyle/>
          <a:p>
            <a:pPr algn="l"/>
            <a:r>
              <a:rPr lang="en-US" sz="1200" b="1" i="0" noProof="1">
                <a:solidFill>
                  <a:srgbClr val="FCA5A5"/>
                </a:solidFill>
                <a:latin typeface="Calibri"/>
              </a:rPr>
              <a:t>False positives are asymmetric</a:t>
            </a:r>
          </a:p>
        </p:txBody>
      </p:sp>
      <p:sp>
        <p:nvSpPr>
          <p:cNvPr id="24" name="TextBox 23"/>
          <p:cNvSpPr txBox="1"/>
          <p:nvPr/>
        </p:nvSpPr>
        <p:spPr>
          <a:xfrm>
            <a:off x="1097280" y="4626864"/>
            <a:ext cx="10104120" cy="402336"/>
          </a:xfrm>
          <a:prstGeom prst="rect">
            <a:avLst/>
          </a:prstGeom>
          <a:noFill/>
        </p:spPr>
        <p:txBody>
          <a:bodyPr wrap="square" lIns="0" tIns="0" rIns="0" bIns="0">
            <a:spAutoFit/>
          </a:bodyPr>
          <a:lstStyle/>
          <a:p>
            <a:pPr algn="l"/>
            <a:r>
              <a:rPr lang="en-US" sz="1000" b="0" i="0" noProof="1">
                <a:solidFill>
                  <a:srgbClr val="F1F5F9"/>
                </a:solidFill>
                <a:latin typeface="Calibri"/>
              </a:rPr>
              <a:t>Restricting an adult who writes simply correlates with demographics. Step-up outcomes feed fairness tuning.</a:t>
            </a:r>
          </a:p>
        </p:txBody>
      </p:sp>
      <p:sp>
        <p:nvSpPr>
          <p:cNvPr id="25" name="Rounded Rectangle 24"/>
          <p:cNvSpPr/>
          <p:nvPr/>
        </p:nvSpPr>
        <p:spPr>
          <a:xfrm>
            <a:off x="411480" y="5175504"/>
            <a:ext cx="11365992" cy="896112"/>
          </a:xfrm>
          <a:prstGeom prst="roundRect">
            <a:avLst/>
          </a:prstGeom>
          <a:solidFill>
            <a:srgbClr val="042212"/>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02920" y="5413248"/>
            <a:ext cx="420624" cy="420624"/>
          </a:xfrm>
          <a:prstGeom prst="roundRect">
            <a:avLst/>
          </a:prstGeom>
          <a:solidFill>
            <a:srgbClr val="042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heck.png"/>
          <p:cNvPicPr>
            <a:picLocks noChangeAspect="1"/>
          </p:cNvPicPr>
          <p:nvPr/>
        </p:nvPicPr>
        <p:blipFill>
          <a:blip r:embed="rId7"/>
          <a:stretch>
            <a:fillRect/>
          </a:stretch>
        </p:blipFill>
        <p:spPr>
          <a:xfrm>
            <a:off x="553394" y="5463722"/>
            <a:ext cx="319674" cy="319674"/>
          </a:xfrm>
          <a:prstGeom prst="rect">
            <a:avLst/>
          </a:prstGeom>
        </p:spPr>
      </p:pic>
      <p:sp>
        <p:nvSpPr>
          <p:cNvPr id="28" name="TextBox 27"/>
          <p:cNvSpPr txBox="1"/>
          <p:nvPr/>
        </p:nvSpPr>
        <p:spPr>
          <a:xfrm>
            <a:off x="1097280" y="5248656"/>
            <a:ext cx="3474720" cy="329184"/>
          </a:xfrm>
          <a:prstGeom prst="rect">
            <a:avLst/>
          </a:prstGeom>
          <a:noFill/>
        </p:spPr>
        <p:txBody>
          <a:bodyPr wrap="square" lIns="0" tIns="0" rIns="0" bIns="0">
            <a:spAutoFit/>
          </a:bodyPr>
          <a:lstStyle/>
          <a:p>
            <a:pPr algn="l"/>
            <a:r>
              <a:rPr lang="en-US" sz="1200" b="1" i="0" noProof="1">
                <a:solidFill>
                  <a:srgbClr val="6EE7B7"/>
                </a:solidFill>
                <a:latin typeface="Calibri"/>
              </a:rPr>
              <a:t>The careful shell is load-bearing</a:t>
            </a:r>
          </a:p>
        </p:txBody>
      </p:sp>
      <p:sp>
        <p:nvSpPr>
          <p:cNvPr id="29" name="TextBox 28"/>
          <p:cNvSpPr txBox="1"/>
          <p:nvPr/>
        </p:nvSpPr>
        <p:spPr>
          <a:xfrm>
            <a:off x="1097280" y="5596128"/>
            <a:ext cx="10104120" cy="402336"/>
          </a:xfrm>
          <a:prstGeom prst="rect">
            <a:avLst/>
          </a:prstGeom>
          <a:noFill/>
        </p:spPr>
        <p:txBody>
          <a:bodyPr wrap="square" lIns="0" tIns="0" rIns="0" bIns="0">
            <a:spAutoFit/>
          </a:bodyPr>
          <a:lstStyle/>
          <a:p>
            <a:pPr algn="l"/>
            <a:r>
              <a:rPr lang="en-US" sz="1000" b="0" i="0" noProof="1">
                <a:solidFill>
                  <a:srgbClr val="F1F5F9"/>
                </a:solidFill>
                <a:latin typeface="Calibri"/>
              </a:rPr>
              <a:t>Age inference from text is genuinely uncertain. The graduated / ask-first / ephemeral design IS the product.</a:t>
            </a:r>
          </a:p>
        </p:txBody>
      </p:sp>
      <p:sp>
        <p:nvSpPr>
          <p:cNvPr id="30" name="Rectangle 29"/>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32" name="TextBox 31"/>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13 / 16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Product / Market Fit</a:t>
            </a:r>
          </a:p>
        </p:txBody>
      </p:sp>
      <p:sp>
        <p:nvSpPr>
          <p:cNvPr id="4" name="TextBox 3"/>
          <p:cNvSpPr txBox="1"/>
          <p:nvPr/>
        </p:nvSpPr>
        <p:spPr>
          <a:xfrm>
            <a:off x="576072" y="1051560"/>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Every AI chat product needs this. None of them have it.</a:t>
            </a:r>
          </a:p>
        </p:txBody>
      </p:sp>
      <p:sp>
        <p:nvSpPr>
          <p:cNvPr id="5" name="Rounded Rectangle 4"/>
          <p:cNvSpPr/>
          <p:nvPr/>
        </p:nvSpPr>
        <p:spPr>
          <a:xfrm>
            <a:off x="411480" y="1298448"/>
            <a:ext cx="11365992" cy="749808"/>
          </a:xfrm>
          <a:prstGeom prst="roundRect">
            <a:avLst/>
          </a:prstGeom>
          <a:solidFill>
            <a:srgbClr val="1616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17320"/>
            <a:ext cx="11018520" cy="548640"/>
          </a:xfrm>
          <a:prstGeom prst="rect">
            <a:avLst/>
          </a:prstGeom>
          <a:noFill/>
        </p:spPr>
        <p:txBody>
          <a:bodyPr wrap="square" lIns="0" tIns="0" rIns="0" bIns="0">
            <a:spAutoFit/>
          </a:bodyPr>
          <a:lstStyle/>
          <a:p>
            <a:pPr algn="ctr"/>
            <a:r>
              <a:rPr lang="en-US" sz="1600" b="1" i="0" noProof="1">
                <a:solidFill>
                  <a:srgbClr val="FCD34D"/>
                </a:solidFill>
                <a:latin typeface="Calibri"/>
              </a:rPr>
              <a:t>Every AI chat product is stuck with an ignored birthdate field. AgeBand is the missing passive, privacy-preserving safety signal.</a:t>
            </a:r>
          </a:p>
        </p:txBody>
      </p:sp>
      <p:sp>
        <p:nvSpPr>
          <p:cNvPr id="7" name="Rounded Rectangle 6"/>
          <p:cNvSpPr/>
          <p:nvPr/>
        </p:nvSpPr>
        <p:spPr>
          <a:xfrm>
            <a:off x="411480" y="2212848"/>
            <a:ext cx="3566160" cy="3858768"/>
          </a:xfrm>
          <a:prstGeom prst="roundRect">
            <a:avLst/>
          </a:prstGeom>
          <a:solidFill>
            <a:srgbClr val="16163A"/>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 y="2286000"/>
            <a:ext cx="329184" cy="329184"/>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hat.png"/>
          <p:cNvPicPr>
            <a:picLocks noChangeAspect="1"/>
          </p:cNvPicPr>
          <p:nvPr/>
        </p:nvPicPr>
        <p:blipFill>
          <a:blip r:embed="rId3"/>
          <a:stretch>
            <a:fillRect/>
          </a:stretch>
        </p:blipFill>
        <p:spPr>
          <a:xfrm>
            <a:off x="569854" y="2325502"/>
            <a:ext cx="250179" cy="250179"/>
          </a:xfrm>
          <a:prstGeom prst="rect">
            <a:avLst/>
          </a:prstGeom>
        </p:spPr>
      </p:pic>
      <p:sp>
        <p:nvSpPr>
          <p:cNvPr id="10" name="TextBox 9"/>
          <p:cNvSpPr txBox="1"/>
          <p:nvPr/>
        </p:nvSpPr>
        <p:spPr>
          <a:xfrm>
            <a:off x="914400" y="2304288"/>
            <a:ext cx="2871215" cy="475488"/>
          </a:xfrm>
          <a:prstGeom prst="rect">
            <a:avLst/>
          </a:prstGeom>
          <a:noFill/>
        </p:spPr>
        <p:txBody>
          <a:bodyPr wrap="square" lIns="0" tIns="0" rIns="0" bIns="0">
            <a:spAutoFit/>
          </a:bodyPr>
          <a:lstStyle/>
          <a:p>
            <a:pPr algn="l"/>
            <a:r>
              <a:rPr lang="en-US" sz="1300" b="1" i="0" noProof="1">
                <a:solidFill>
                  <a:srgbClr val="A5B4FC"/>
                </a:solidFill>
                <a:latin typeface="Calibri"/>
              </a:rPr>
              <a:t>Why Every Chat Product Needs It</a:t>
            </a:r>
          </a:p>
        </p:txBody>
      </p:sp>
      <p:sp>
        <p:nvSpPr>
          <p:cNvPr id="11" name="TextBox 10"/>
          <p:cNvSpPr txBox="1"/>
          <p:nvPr/>
        </p:nvSpPr>
        <p:spPr>
          <a:xfrm>
            <a:off x="566928" y="2871215"/>
            <a:ext cx="3255264" cy="548640"/>
          </a:xfrm>
          <a:prstGeom prst="rect">
            <a:avLst/>
          </a:prstGeom>
          <a:noFill/>
        </p:spPr>
        <p:txBody>
          <a:bodyPr wrap="square" lIns="0" tIns="0" rIns="0" bIns="0">
            <a:spAutoFit/>
          </a:bodyPr>
          <a:lstStyle/>
          <a:p>
            <a:pPr algn="l"/>
            <a:r>
              <a:rPr lang="en-US" sz="1000" b="0" i="0" noProof="1">
                <a:solidFill>
                  <a:srgbClr val="F1F5F9"/>
                </a:solidFill>
                <a:latin typeface="Calibri"/>
              </a:rPr>
              <a:t>• Products face regulatory pressure — DSA, KOSA, EU AI Act.</a:t>
            </a:r>
          </a:p>
        </p:txBody>
      </p:sp>
      <p:sp>
        <p:nvSpPr>
          <p:cNvPr id="12" name="TextBox 11"/>
          <p:cNvSpPr txBox="1"/>
          <p:nvPr/>
        </p:nvSpPr>
        <p:spPr>
          <a:xfrm>
            <a:off x="566928" y="3493008"/>
            <a:ext cx="3255264" cy="548640"/>
          </a:xfrm>
          <a:prstGeom prst="rect">
            <a:avLst/>
          </a:prstGeom>
          <a:noFill/>
        </p:spPr>
        <p:txBody>
          <a:bodyPr wrap="square" lIns="0" tIns="0" rIns="0" bIns="0">
            <a:spAutoFit/>
          </a:bodyPr>
          <a:lstStyle/>
          <a:p>
            <a:pPr algn="l"/>
            <a:r>
              <a:rPr lang="en-US" sz="1000" b="0" i="0" noProof="1">
                <a:solidFill>
                  <a:srgbClr val="F1F5F9"/>
                </a:solidFill>
                <a:latin typeface="Calibri"/>
              </a:rPr>
              <a:t>• Birthdate-at-signup is the only tool. Universally ignored.</a:t>
            </a:r>
          </a:p>
        </p:txBody>
      </p:sp>
      <p:sp>
        <p:nvSpPr>
          <p:cNvPr id="13" name="TextBox 12"/>
          <p:cNvSpPr txBox="1"/>
          <p:nvPr/>
        </p:nvSpPr>
        <p:spPr>
          <a:xfrm>
            <a:off x="566928" y="4114800"/>
            <a:ext cx="3255264" cy="548640"/>
          </a:xfrm>
          <a:prstGeom prst="rect">
            <a:avLst/>
          </a:prstGeom>
          <a:noFill/>
        </p:spPr>
        <p:txBody>
          <a:bodyPr wrap="square" lIns="0" tIns="0" rIns="0" bIns="0">
            <a:spAutoFit/>
          </a:bodyPr>
          <a:lstStyle/>
          <a:p>
            <a:pPr algn="l"/>
            <a:r>
              <a:rPr lang="en-US" sz="1000" b="0" i="0" noProof="1">
                <a:solidFill>
                  <a:srgbClr val="F1F5F9"/>
                </a:solidFill>
                <a:latin typeface="Calibri"/>
              </a:rPr>
              <a:t>• Passive always-on signal works on the actual conversation.</a:t>
            </a:r>
          </a:p>
        </p:txBody>
      </p:sp>
      <p:sp>
        <p:nvSpPr>
          <p:cNvPr id="14" name="TextBox 13"/>
          <p:cNvSpPr txBox="1"/>
          <p:nvPr/>
        </p:nvSpPr>
        <p:spPr>
          <a:xfrm>
            <a:off x="566928" y="4736592"/>
            <a:ext cx="3255264" cy="548640"/>
          </a:xfrm>
          <a:prstGeom prst="rect">
            <a:avLst/>
          </a:prstGeom>
          <a:noFill/>
        </p:spPr>
        <p:txBody>
          <a:bodyPr wrap="square" lIns="0" tIns="0" rIns="0" bIns="0">
            <a:spAutoFit/>
          </a:bodyPr>
          <a:lstStyle/>
          <a:p>
            <a:pPr algn="l"/>
            <a:r>
              <a:rPr lang="en-US" sz="1000" b="0" i="0" noProof="1">
                <a:solidFill>
                  <a:srgbClr val="F1F5F9"/>
                </a:solidFill>
                <a:latin typeface="Calibri"/>
              </a:rPr>
              <a:t>• Scales to millions of concurrent sessions. No human reviewer.</a:t>
            </a:r>
          </a:p>
        </p:txBody>
      </p:sp>
      <p:sp>
        <p:nvSpPr>
          <p:cNvPr id="15" name="TextBox 14"/>
          <p:cNvSpPr txBox="1"/>
          <p:nvPr/>
        </p:nvSpPr>
        <p:spPr>
          <a:xfrm>
            <a:off x="566928" y="5358383"/>
            <a:ext cx="3255264" cy="548640"/>
          </a:xfrm>
          <a:prstGeom prst="rect">
            <a:avLst/>
          </a:prstGeom>
          <a:noFill/>
        </p:spPr>
        <p:txBody>
          <a:bodyPr wrap="square" lIns="0" tIns="0" rIns="0" bIns="0">
            <a:spAutoFit/>
          </a:bodyPr>
          <a:lstStyle/>
          <a:p>
            <a:pPr algn="l"/>
            <a:r>
              <a:rPr lang="en-US" sz="1000" b="0" i="0" noProof="1">
                <a:solidFill>
                  <a:srgbClr val="F1F5F9"/>
                </a:solidFill>
                <a:latin typeface="Calibri"/>
              </a:rPr>
              <a:t>• Trust &amp; Safety can't staff a reviewer per chat.</a:t>
            </a:r>
          </a:p>
        </p:txBody>
      </p:sp>
      <p:sp>
        <p:nvSpPr>
          <p:cNvPr id="16" name="Rounded Rectangle 15"/>
          <p:cNvSpPr/>
          <p:nvPr/>
        </p:nvSpPr>
        <p:spPr>
          <a:xfrm>
            <a:off x="4178807" y="2212848"/>
            <a:ext cx="3566160" cy="3858768"/>
          </a:xfrm>
          <a:prstGeom prst="roundRect">
            <a:avLst/>
          </a:prstGeom>
          <a:solidFill>
            <a:srgbClr val="1616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34255" y="2286000"/>
            <a:ext cx="329184" cy="32918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alert.png"/>
          <p:cNvPicPr>
            <a:picLocks noChangeAspect="1"/>
          </p:cNvPicPr>
          <p:nvPr/>
        </p:nvPicPr>
        <p:blipFill>
          <a:blip r:embed="rId4"/>
          <a:stretch>
            <a:fillRect/>
          </a:stretch>
        </p:blipFill>
        <p:spPr>
          <a:xfrm>
            <a:off x="4373758" y="2325502"/>
            <a:ext cx="250179" cy="250179"/>
          </a:xfrm>
          <a:prstGeom prst="rect">
            <a:avLst/>
          </a:prstGeom>
        </p:spPr>
      </p:pic>
      <p:sp>
        <p:nvSpPr>
          <p:cNvPr id="19" name="TextBox 18"/>
          <p:cNvSpPr txBox="1"/>
          <p:nvPr/>
        </p:nvSpPr>
        <p:spPr>
          <a:xfrm>
            <a:off x="4718303" y="2304288"/>
            <a:ext cx="2871215" cy="475488"/>
          </a:xfrm>
          <a:prstGeom prst="rect">
            <a:avLst/>
          </a:prstGeom>
          <a:noFill/>
        </p:spPr>
        <p:txBody>
          <a:bodyPr wrap="square" lIns="0" tIns="0" rIns="0" bIns="0">
            <a:spAutoFit/>
          </a:bodyPr>
          <a:lstStyle/>
          <a:p>
            <a:pPr algn="l"/>
            <a:r>
              <a:rPr lang="en-US" sz="1300" b="1" i="0" noProof="1">
                <a:solidFill>
                  <a:srgbClr val="F59E0B"/>
                </a:solidFill>
                <a:latin typeface="Calibri"/>
              </a:rPr>
              <a:t>Regulatory Tailwinds</a:t>
            </a:r>
          </a:p>
        </p:txBody>
      </p:sp>
      <p:sp>
        <p:nvSpPr>
          <p:cNvPr id="20" name="TextBox 19"/>
          <p:cNvSpPr txBox="1"/>
          <p:nvPr/>
        </p:nvSpPr>
        <p:spPr>
          <a:xfrm>
            <a:off x="4334255" y="2834640"/>
            <a:ext cx="3255264" cy="219456"/>
          </a:xfrm>
          <a:prstGeom prst="rect">
            <a:avLst/>
          </a:prstGeom>
          <a:noFill/>
        </p:spPr>
        <p:txBody>
          <a:bodyPr wrap="square" lIns="0" tIns="0" rIns="0" bIns="0">
            <a:spAutoFit/>
          </a:bodyPr>
          <a:lstStyle/>
          <a:p>
            <a:pPr algn="l"/>
            <a:r>
              <a:rPr lang="en-US" sz="1000" b="1" i="0" noProof="1">
                <a:solidFill>
                  <a:srgbClr val="FCD34D"/>
                </a:solidFill>
                <a:latin typeface="Calibri"/>
              </a:rPr>
              <a:t>• EU Digital Services Act</a:t>
            </a:r>
          </a:p>
        </p:txBody>
      </p:sp>
      <p:sp>
        <p:nvSpPr>
          <p:cNvPr id="21" name="TextBox 20"/>
          <p:cNvSpPr txBox="1"/>
          <p:nvPr/>
        </p:nvSpPr>
        <p:spPr>
          <a:xfrm>
            <a:off x="4334255" y="3035808"/>
            <a:ext cx="3255264" cy="292608"/>
          </a:xfrm>
          <a:prstGeom prst="rect">
            <a:avLst/>
          </a:prstGeom>
          <a:noFill/>
        </p:spPr>
        <p:txBody>
          <a:bodyPr wrap="square" lIns="0" tIns="0" rIns="0" bIns="0">
            <a:spAutoFit/>
          </a:bodyPr>
          <a:lstStyle/>
          <a:p>
            <a:pPr algn="l"/>
            <a:r>
              <a:rPr lang="en-US" sz="1000" b="0" i="0" noProof="1">
                <a:solidFill>
                  <a:srgbClr val="94A3B8"/>
                </a:solidFill>
                <a:latin typeface="Calibri"/>
              </a:rPr>
              <a:t>  Large platforms must implement age-assurance for minors.</a:t>
            </a:r>
          </a:p>
        </p:txBody>
      </p:sp>
      <p:sp>
        <p:nvSpPr>
          <p:cNvPr id="22" name="TextBox 21"/>
          <p:cNvSpPr txBox="1"/>
          <p:nvPr/>
        </p:nvSpPr>
        <p:spPr>
          <a:xfrm>
            <a:off x="4334255" y="3438144"/>
            <a:ext cx="3255264" cy="219456"/>
          </a:xfrm>
          <a:prstGeom prst="rect">
            <a:avLst/>
          </a:prstGeom>
          <a:noFill/>
        </p:spPr>
        <p:txBody>
          <a:bodyPr wrap="square" lIns="0" tIns="0" rIns="0" bIns="0">
            <a:spAutoFit/>
          </a:bodyPr>
          <a:lstStyle/>
          <a:p>
            <a:pPr algn="l"/>
            <a:r>
              <a:rPr lang="en-US" sz="1000" b="1" i="0" noProof="1">
                <a:solidFill>
                  <a:srgbClr val="FCD34D"/>
                </a:solidFill>
                <a:latin typeface="Calibri"/>
              </a:rPr>
              <a:t>• KOSA-class legislation (US)</a:t>
            </a:r>
          </a:p>
        </p:txBody>
      </p:sp>
      <p:sp>
        <p:nvSpPr>
          <p:cNvPr id="23" name="TextBox 22"/>
          <p:cNvSpPr txBox="1"/>
          <p:nvPr/>
        </p:nvSpPr>
        <p:spPr>
          <a:xfrm>
            <a:off x="4334255" y="3639312"/>
            <a:ext cx="3255264" cy="292608"/>
          </a:xfrm>
          <a:prstGeom prst="rect">
            <a:avLst/>
          </a:prstGeom>
          <a:noFill/>
        </p:spPr>
        <p:txBody>
          <a:bodyPr wrap="square" lIns="0" tIns="0" rIns="0" bIns="0">
            <a:spAutoFit/>
          </a:bodyPr>
          <a:lstStyle/>
          <a:p>
            <a:pPr algn="l"/>
            <a:r>
              <a:rPr lang="en-US" sz="1000" b="0" i="0" noProof="1">
                <a:solidFill>
                  <a:srgbClr val="94A3B8"/>
                </a:solidFill>
                <a:latin typeface="Calibri"/>
              </a:rPr>
              <a:t>  Kids Online Safety Act — duty-of-care for minors.</a:t>
            </a:r>
          </a:p>
        </p:txBody>
      </p:sp>
      <p:sp>
        <p:nvSpPr>
          <p:cNvPr id="24" name="TextBox 23"/>
          <p:cNvSpPr txBox="1"/>
          <p:nvPr/>
        </p:nvSpPr>
        <p:spPr>
          <a:xfrm>
            <a:off x="4334255" y="4041648"/>
            <a:ext cx="3255264" cy="219456"/>
          </a:xfrm>
          <a:prstGeom prst="rect">
            <a:avLst/>
          </a:prstGeom>
          <a:noFill/>
        </p:spPr>
        <p:txBody>
          <a:bodyPr wrap="square" lIns="0" tIns="0" rIns="0" bIns="0">
            <a:spAutoFit/>
          </a:bodyPr>
          <a:lstStyle/>
          <a:p>
            <a:pPr algn="l"/>
            <a:r>
              <a:rPr lang="en-US" sz="1000" b="1" i="0" noProof="1">
                <a:solidFill>
                  <a:srgbClr val="FCD34D"/>
                </a:solidFill>
                <a:latin typeface="Calibri"/>
              </a:rPr>
              <a:t>• COPPA / UK Age-Appropriate Design Code</a:t>
            </a:r>
          </a:p>
        </p:txBody>
      </p:sp>
      <p:sp>
        <p:nvSpPr>
          <p:cNvPr id="25" name="TextBox 24"/>
          <p:cNvSpPr txBox="1"/>
          <p:nvPr/>
        </p:nvSpPr>
        <p:spPr>
          <a:xfrm>
            <a:off x="4334255" y="4242816"/>
            <a:ext cx="3255264" cy="292608"/>
          </a:xfrm>
          <a:prstGeom prst="rect">
            <a:avLst/>
          </a:prstGeom>
          <a:noFill/>
        </p:spPr>
        <p:txBody>
          <a:bodyPr wrap="square" lIns="0" tIns="0" rIns="0" bIns="0">
            <a:spAutoFit/>
          </a:bodyPr>
          <a:lstStyle/>
          <a:p>
            <a:pPr algn="l"/>
            <a:r>
              <a:rPr lang="en-US" sz="1000" b="0" i="0" noProof="1">
                <a:solidFill>
                  <a:srgbClr val="94A3B8"/>
                </a:solidFill>
                <a:latin typeface="Calibri"/>
              </a:rPr>
              <a:t>  Parental consent + safe defaults for U13.</a:t>
            </a:r>
          </a:p>
        </p:txBody>
      </p:sp>
      <p:sp>
        <p:nvSpPr>
          <p:cNvPr id="26" name="TextBox 25"/>
          <p:cNvSpPr txBox="1"/>
          <p:nvPr/>
        </p:nvSpPr>
        <p:spPr>
          <a:xfrm>
            <a:off x="4334255" y="4645152"/>
            <a:ext cx="3255264" cy="219456"/>
          </a:xfrm>
          <a:prstGeom prst="rect">
            <a:avLst/>
          </a:prstGeom>
          <a:noFill/>
        </p:spPr>
        <p:txBody>
          <a:bodyPr wrap="square" lIns="0" tIns="0" rIns="0" bIns="0">
            <a:spAutoFit/>
          </a:bodyPr>
          <a:lstStyle/>
          <a:p>
            <a:pPr algn="l"/>
            <a:r>
              <a:rPr lang="en-US" sz="1000" b="1" i="0" noProof="1">
                <a:solidFill>
                  <a:srgbClr val="FCD34D"/>
                </a:solidFill>
                <a:latin typeface="Calibri"/>
              </a:rPr>
              <a:t>• EU AI Act Art. 5 / 9</a:t>
            </a:r>
          </a:p>
        </p:txBody>
      </p:sp>
      <p:sp>
        <p:nvSpPr>
          <p:cNvPr id="27" name="TextBox 26"/>
          <p:cNvSpPr txBox="1"/>
          <p:nvPr/>
        </p:nvSpPr>
        <p:spPr>
          <a:xfrm>
            <a:off x="4334255" y="4846320"/>
            <a:ext cx="3255264" cy="292608"/>
          </a:xfrm>
          <a:prstGeom prst="rect">
            <a:avLst/>
          </a:prstGeom>
          <a:noFill/>
        </p:spPr>
        <p:txBody>
          <a:bodyPr wrap="square" lIns="0" tIns="0" rIns="0" bIns="0">
            <a:spAutoFit/>
          </a:bodyPr>
          <a:lstStyle/>
          <a:p>
            <a:pPr algn="l"/>
            <a:r>
              <a:rPr lang="en-US" sz="1000" b="0" i="0" noProof="1">
                <a:solidFill>
                  <a:srgbClr val="94A3B8"/>
                </a:solidFill>
                <a:latin typeface="Calibri"/>
              </a:rPr>
              <a:t>  High-risk systems near minors — audit trails required.</a:t>
            </a:r>
          </a:p>
        </p:txBody>
      </p:sp>
      <p:sp>
        <p:nvSpPr>
          <p:cNvPr id="28" name="TextBox 27"/>
          <p:cNvSpPr txBox="1"/>
          <p:nvPr/>
        </p:nvSpPr>
        <p:spPr>
          <a:xfrm>
            <a:off x="4334255" y="5248656"/>
            <a:ext cx="3255264" cy="219456"/>
          </a:xfrm>
          <a:prstGeom prst="rect">
            <a:avLst/>
          </a:prstGeom>
          <a:noFill/>
        </p:spPr>
        <p:txBody>
          <a:bodyPr wrap="square" lIns="0" tIns="0" rIns="0" bIns="0">
            <a:spAutoFit/>
          </a:bodyPr>
          <a:lstStyle/>
          <a:p>
            <a:pPr algn="l"/>
            <a:r>
              <a:rPr lang="en-US" sz="1000" b="1" i="0" noProof="1">
                <a:solidFill>
                  <a:srgbClr val="FCD34D"/>
                </a:solidFill>
                <a:latin typeface="Calibri"/>
              </a:rPr>
              <a:t>• Global trend</a:t>
            </a:r>
          </a:p>
        </p:txBody>
      </p:sp>
      <p:sp>
        <p:nvSpPr>
          <p:cNvPr id="29" name="TextBox 28"/>
          <p:cNvSpPr txBox="1"/>
          <p:nvPr/>
        </p:nvSpPr>
        <p:spPr>
          <a:xfrm>
            <a:off x="4334255" y="5449824"/>
            <a:ext cx="3255264" cy="292608"/>
          </a:xfrm>
          <a:prstGeom prst="rect">
            <a:avLst/>
          </a:prstGeom>
          <a:noFill/>
        </p:spPr>
        <p:txBody>
          <a:bodyPr wrap="square" lIns="0" tIns="0" rIns="0" bIns="0">
            <a:spAutoFit/>
          </a:bodyPr>
          <a:lstStyle/>
          <a:p>
            <a:pPr algn="l"/>
            <a:r>
              <a:rPr lang="en-US" sz="1000" b="0" i="0" noProof="1">
                <a:solidFill>
                  <a:srgbClr val="94A3B8"/>
                </a:solidFill>
                <a:latin typeface="Calibri"/>
              </a:rPr>
              <a:t>  Every jurisdiction is moving toward active age assurance.</a:t>
            </a:r>
          </a:p>
        </p:txBody>
      </p:sp>
      <p:sp>
        <p:nvSpPr>
          <p:cNvPr id="30" name="Rounded Rectangle 29"/>
          <p:cNvSpPr/>
          <p:nvPr/>
        </p:nvSpPr>
        <p:spPr>
          <a:xfrm>
            <a:off x="7946136" y="2212848"/>
            <a:ext cx="3566160" cy="3858768"/>
          </a:xfrm>
          <a:prstGeom prst="roundRect">
            <a:avLst/>
          </a:prstGeom>
          <a:solidFill>
            <a:srgbClr val="1616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101583" y="2286000"/>
            <a:ext cx="329184" cy="32918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refresh.png"/>
          <p:cNvPicPr>
            <a:picLocks noChangeAspect="1"/>
          </p:cNvPicPr>
          <p:nvPr/>
        </p:nvPicPr>
        <p:blipFill>
          <a:blip r:embed="rId5"/>
          <a:stretch>
            <a:fillRect/>
          </a:stretch>
        </p:blipFill>
        <p:spPr>
          <a:xfrm>
            <a:off x="8141086" y="2325502"/>
            <a:ext cx="250179" cy="250179"/>
          </a:xfrm>
          <a:prstGeom prst="rect">
            <a:avLst/>
          </a:prstGeom>
        </p:spPr>
      </p:pic>
      <p:sp>
        <p:nvSpPr>
          <p:cNvPr id="33" name="TextBox 32"/>
          <p:cNvSpPr txBox="1"/>
          <p:nvPr/>
        </p:nvSpPr>
        <p:spPr>
          <a:xfrm>
            <a:off x="8485632" y="2304288"/>
            <a:ext cx="2871215" cy="475488"/>
          </a:xfrm>
          <a:prstGeom prst="rect">
            <a:avLst/>
          </a:prstGeom>
          <a:noFill/>
        </p:spPr>
        <p:txBody>
          <a:bodyPr wrap="square" lIns="0" tIns="0" rIns="0" bIns="0">
            <a:spAutoFit/>
          </a:bodyPr>
          <a:lstStyle/>
          <a:p>
            <a:pPr algn="l"/>
            <a:r>
              <a:rPr lang="en-US" sz="1300" b="1" i="0" noProof="1">
                <a:solidFill>
                  <a:srgbClr val="6EE7B7"/>
                </a:solidFill>
                <a:latin typeface="Calibri"/>
              </a:rPr>
              <a:t>The Config Flip</a:t>
            </a:r>
          </a:p>
        </p:txBody>
      </p:sp>
      <p:sp>
        <p:nvSpPr>
          <p:cNvPr id="34" name="TextBox 33"/>
          <p:cNvSpPr txBox="1"/>
          <p:nvPr/>
        </p:nvSpPr>
        <p:spPr>
          <a:xfrm>
            <a:off x="8101583" y="2807208"/>
            <a:ext cx="3255264" cy="640080"/>
          </a:xfrm>
          <a:prstGeom prst="rect">
            <a:avLst/>
          </a:prstGeom>
          <a:noFill/>
        </p:spPr>
        <p:txBody>
          <a:bodyPr wrap="square" lIns="0" tIns="0" rIns="0" bIns="0">
            <a:spAutoFit/>
          </a:bodyPr>
          <a:lstStyle/>
          <a:p>
            <a:pPr algn="l"/>
            <a:r>
              <a:rPr lang="en-US" sz="1000" b="0" i="0" noProof="1">
                <a:solidFill>
                  <a:srgbClr val="6EE7B7"/>
                </a:solidFill>
                <a:latin typeface="Calibri"/>
              </a:rPr>
              <a:t>Same pipeline, one policy table change.</a:t>
            </a:r>
          </a:p>
        </p:txBody>
      </p:sp>
      <p:sp>
        <p:nvSpPr>
          <p:cNvPr id="35" name="TextBox 34"/>
          <p:cNvSpPr txBox="1"/>
          <p:nvPr/>
        </p:nvSpPr>
        <p:spPr>
          <a:xfrm>
            <a:off x="8101583" y="3401568"/>
            <a:ext cx="3255264" cy="640080"/>
          </a:xfrm>
          <a:prstGeom prst="rect">
            <a:avLst/>
          </a:prstGeom>
          <a:noFill/>
        </p:spPr>
        <p:txBody>
          <a:bodyPr wrap="square" lIns="0" tIns="0" rIns="0" bIns="0">
            <a:spAutoFit/>
          </a:bodyPr>
          <a:lstStyle/>
          <a:p>
            <a:pPr algn="l"/>
            <a:r>
              <a:rPr lang="en-US" sz="1000" b="0" i="0" noProof="1">
                <a:solidFill>
                  <a:srgbClr val="F1F5F9"/>
                </a:solidFill>
                <a:latin typeface="Calibri"/>
              </a:rPr>
              <a:t>Adult product:
likely-minor signal → tighten / step-up.</a:t>
            </a:r>
          </a:p>
        </p:txBody>
      </p:sp>
      <p:sp>
        <p:nvSpPr>
          <p:cNvPr id="36" name="TextBox 35"/>
          <p:cNvSpPr txBox="1"/>
          <p:nvPr/>
        </p:nvSpPr>
        <p:spPr>
          <a:xfrm>
            <a:off x="8101583" y="3995928"/>
            <a:ext cx="3255264" cy="640080"/>
          </a:xfrm>
          <a:prstGeom prst="rect">
            <a:avLst/>
          </a:prstGeom>
          <a:noFill/>
        </p:spPr>
        <p:txBody>
          <a:bodyPr wrap="square" lIns="0" tIns="0" rIns="0" bIns="0">
            <a:spAutoFit/>
          </a:bodyPr>
          <a:lstStyle/>
          <a:p>
            <a:pPr algn="l"/>
            <a:r>
              <a:rPr lang="en-US" sz="1000" b="0" i="0" noProof="1">
                <a:solidFill>
                  <a:srgbClr val="F1F5F9"/>
                </a:solidFill>
                <a:latin typeface="Calibri"/>
              </a:rPr>
              <a:t>Kids product (config flip):
likely-ADULT in a children's space
→ tighten / alert.
Everything else identical.</a:t>
            </a:r>
          </a:p>
        </p:txBody>
      </p:sp>
      <p:sp>
        <p:nvSpPr>
          <p:cNvPr id="37" name="TextBox 36"/>
          <p:cNvSpPr txBox="1"/>
          <p:nvPr/>
        </p:nvSpPr>
        <p:spPr>
          <a:xfrm>
            <a:off x="8101583" y="4590288"/>
            <a:ext cx="3255264" cy="640080"/>
          </a:xfrm>
          <a:prstGeom prst="rect">
            <a:avLst/>
          </a:prstGeom>
          <a:noFill/>
        </p:spPr>
        <p:txBody>
          <a:bodyPr wrap="square" lIns="0" tIns="0" rIns="0" bIns="0">
            <a:spAutoFit/>
          </a:bodyPr>
          <a:lstStyle/>
          <a:p>
            <a:pPr algn="l"/>
            <a:r>
              <a:rPr lang="en-US" sz="1000" b="0" i="0" noProof="1">
                <a:solidFill>
                  <a:srgbClr val="6EE7B7"/>
                </a:solidFill>
                <a:latin typeface="Calibri"/>
              </a:rPr>
              <a:t>Same code. Two markets. Two TAMs.</a:t>
            </a:r>
          </a:p>
        </p:txBody>
      </p:sp>
      <p:sp>
        <p:nvSpPr>
          <p:cNvPr id="38" name="TextBox 37"/>
          <p:cNvSpPr txBox="1"/>
          <p:nvPr/>
        </p:nvSpPr>
        <p:spPr>
          <a:xfrm>
            <a:off x="8101583" y="5184648"/>
            <a:ext cx="3255264" cy="640080"/>
          </a:xfrm>
          <a:prstGeom prst="rect">
            <a:avLst/>
          </a:prstGeom>
          <a:noFill/>
        </p:spPr>
        <p:txBody>
          <a:bodyPr wrap="square" lIns="0" tIns="0" rIns="0" bIns="0">
            <a:spAutoFit/>
          </a:bodyPr>
          <a:lstStyle/>
          <a:p>
            <a:pPr algn="l"/>
            <a:r>
              <a:rPr lang="en-US" sz="1000" b="0" i="0" noProof="1">
                <a:solidFill>
                  <a:srgbClr val="94A3B8"/>
                </a:solidFill>
                <a:latin typeface="Calibri"/>
              </a:rPr>
              <a:t>No fabricated TAM — the market is
every AI chat product that needs
child safety.</a:t>
            </a:r>
          </a:p>
        </p:txBody>
      </p:sp>
      <p:sp>
        <p:nvSpPr>
          <p:cNvPr id="39" name="Rectangle 38"/>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41" name="TextBox 40"/>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14 / 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sp>
        <p:nvSpPr>
          <p:cNvPr id="2" name="Rectangle 1"/>
          <p:cNvSpPr/>
          <p:nvPr/>
        </p:nvSpPr>
        <p:spPr>
          <a:xfrm>
            <a:off x="411480" y="283464"/>
            <a:ext cx="45720" cy="7315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228600"/>
            <a:ext cx="11201400" cy="822960"/>
          </a:xfrm>
          <a:prstGeom prst="rect">
            <a:avLst/>
          </a:prstGeom>
          <a:noFill/>
        </p:spPr>
        <p:txBody>
          <a:bodyPr wrap="square" lIns="0" tIns="0" rIns="0" bIns="0">
            <a:spAutoFit/>
          </a:bodyPr>
          <a:lstStyle/>
          <a:p>
            <a:pPr algn="l"/>
            <a:r>
              <a:rPr lang="en-US" sz="3000" b="1" i="0" noProof="1">
                <a:solidFill>
                  <a:srgbClr val="A5B4FC"/>
                </a:solidFill>
                <a:latin typeface="Calibri"/>
              </a:rPr>
              <a:t>What Ships This Weekend</a:t>
            </a:r>
          </a:p>
        </p:txBody>
      </p:sp>
      <p:sp>
        <p:nvSpPr>
          <p:cNvPr id="4" name="TextBox 3"/>
          <p:cNvSpPr txBox="1"/>
          <p:nvPr/>
        </p:nvSpPr>
        <p:spPr>
          <a:xfrm>
            <a:off x="576072" y="933025"/>
            <a:ext cx="11201400" cy="420624"/>
          </a:xfrm>
          <a:prstGeom prst="rect">
            <a:avLst/>
          </a:prstGeom>
          <a:noFill/>
        </p:spPr>
        <p:txBody>
          <a:bodyPr wrap="square" lIns="0" tIns="0" rIns="0" bIns="0">
            <a:spAutoFit/>
          </a:bodyPr>
          <a:lstStyle/>
          <a:p>
            <a:pPr algn="l"/>
            <a:r>
              <a:rPr lang="en-US" sz="1300" b="0" i="1" noProof="1">
                <a:solidFill>
                  <a:srgbClr val="94A3B8"/>
                </a:solidFill>
                <a:latin typeface="Calibri"/>
              </a:rPr>
              <a:t>Lean as-built left, full map right  —  86% coverage · mypy --strict · adversarial e2e · synthetic eval harness</a:t>
            </a:r>
          </a:p>
        </p:txBody>
      </p:sp>
      <p:sp>
        <p:nvSpPr>
          <p:cNvPr id="5" name="Rounded Rectangle 4"/>
          <p:cNvSpPr/>
          <p:nvPr/>
        </p:nvSpPr>
        <p:spPr>
          <a:xfrm>
            <a:off x="411480" y="1298448"/>
            <a:ext cx="5577840" cy="4828032"/>
          </a:xfrm>
          <a:prstGeom prst="roundRect">
            <a:avLst/>
          </a:prstGeom>
          <a:solidFill>
            <a:srgbClr val="16163A"/>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71353"/>
            <a:ext cx="5212080" cy="384048"/>
          </a:xfrm>
          <a:prstGeom prst="rect">
            <a:avLst/>
          </a:prstGeom>
          <a:noFill/>
        </p:spPr>
        <p:txBody>
          <a:bodyPr wrap="square" lIns="0" tIns="0" rIns="0" bIns="0">
            <a:spAutoFit/>
          </a:bodyPr>
          <a:lstStyle/>
          <a:p>
            <a:pPr algn="l"/>
            <a:r>
              <a:rPr lang="en-US" sz="1600" b="1" i="0" noProof="1">
                <a:solidFill>
                  <a:srgbClr val="6EE7B7"/>
                </a:solidFill>
                <a:latin typeface="Calibri"/>
              </a:rPr>
              <a:t>Lean As-Built</a:t>
            </a:r>
          </a:p>
        </p:txBody>
      </p:sp>
      <p:sp>
        <p:nvSpPr>
          <p:cNvPr id="7" name="TextBox 6"/>
          <p:cNvSpPr txBox="1"/>
          <p:nvPr/>
        </p:nvSpPr>
        <p:spPr>
          <a:xfrm>
            <a:off x="594360" y="1655401"/>
            <a:ext cx="5212080" cy="310896"/>
          </a:xfrm>
          <a:prstGeom prst="rect">
            <a:avLst/>
          </a:prstGeom>
          <a:noFill/>
        </p:spPr>
        <p:txBody>
          <a:bodyPr wrap="square" lIns="0" tIns="0" rIns="0" bIns="0">
            <a:spAutoFit/>
          </a:bodyPr>
          <a:lstStyle/>
          <a:p>
            <a:pPr algn="l"/>
            <a:r>
              <a:rPr lang="en-US" sz="1200" b="0" i="1" noProof="1">
                <a:solidFill>
                  <a:srgbClr val="94A3B8"/>
                </a:solidFill>
                <a:latin typeface="Calibri"/>
              </a:rPr>
              <a:t>Two LLM calls + deterministic plumbing.</a:t>
            </a:r>
          </a:p>
        </p:txBody>
      </p:sp>
      <p:sp>
        <p:nvSpPr>
          <p:cNvPr id="8" name="Rectangle 7"/>
          <p:cNvSpPr/>
          <p:nvPr/>
        </p:nvSpPr>
        <p:spPr>
          <a:xfrm>
            <a:off x="502920" y="2057737"/>
            <a:ext cx="5394960" cy="475488"/>
          </a:xfrm>
          <a:prstGeom prst="rect">
            <a:avLst/>
          </a:prstGeom>
          <a:solidFill>
            <a:srgbClr val="0808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30352" y="2213185"/>
            <a:ext cx="164592" cy="16459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112601"/>
            <a:ext cx="4937760" cy="219456"/>
          </a:xfrm>
          <a:prstGeom prst="rect">
            <a:avLst/>
          </a:prstGeom>
          <a:noFill/>
        </p:spPr>
        <p:txBody>
          <a:bodyPr wrap="square" lIns="0" tIns="0" rIns="0" bIns="0">
            <a:spAutoFit/>
          </a:bodyPr>
          <a:lstStyle/>
          <a:p>
            <a:pPr algn="l"/>
            <a:r>
              <a:rPr lang="en-US" sz="1100" b="1" i="0" noProof="1">
                <a:solidFill>
                  <a:srgbClr val="10B981"/>
                </a:solidFill>
                <a:latin typeface="Calibri"/>
              </a:rPr>
              <a:t>Cheap gate (state check + tripwire)</a:t>
            </a:r>
          </a:p>
        </p:txBody>
      </p:sp>
      <p:sp>
        <p:nvSpPr>
          <p:cNvPr id="11" name="TextBox 10"/>
          <p:cNvSpPr txBox="1"/>
          <p:nvPr/>
        </p:nvSpPr>
        <p:spPr>
          <a:xfrm>
            <a:off x="749808" y="2313769"/>
            <a:ext cx="4937760" cy="201168"/>
          </a:xfrm>
          <a:prstGeom prst="rect">
            <a:avLst/>
          </a:prstGeom>
          <a:noFill/>
        </p:spPr>
        <p:txBody>
          <a:bodyPr wrap="square" lIns="0" tIns="0" rIns="0" bIns="0">
            <a:spAutoFit/>
          </a:bodyPr>
          <a:lstStyle/>
          <a:p>
            <a:pPr algn="l"/>
            <a:r>
              <a:rPr lang="en-US" sz="1000" b="0" i="0" noProof="1">
                <a:solidFill>
                  <a:srgbClr val="94A3B8"/>
                </a:solidFill>
                <a:latin typeface="Calibri"/>
              </a:rPr>
              <a:t>plain Python — no LLM</a:t>
            </a:r>
          </a:p>
        </p:txBody>
      </p:sp>
      <p:sp>
        <p:nvSpPr>
          <p:cNvPr id="12" name="Rectangle 11"/>
          <p:cNvSpPr/>
          <p:nvPr/>
        </p:nvSpPr>
        <p:spPr>
          <a:xfrm>
            <a:off x="502920" y="2588089"/>
            <a:ext cx="5394960" cy="475488"/>
          </a:xfrm>
          <a:prstGeom prst="rect">
            <a:avLst/>
          </a:prstGeom>
          <a:solidFill>
            <a:srgbClr val="0808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30352" y="2743537"/>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2642953"/>
            <a:ext cx="4937760" cy="219456"/>
          </a:xfrm>
          <a:prstGeom prst="rect">
            <a:avLst/>
          </a:prstGeom>
          <a:noFill/>
        </p:spPr>
        <p:txBody>
          <a:bodyPr wrap="square" lIns="0" tIns="0" rIns="0" bIns="0">
            <a:spAutoFit/>
          </a:bodyPr>
          <a:lstStyle/>
          <a:p>
            <a:pPr algn="l"/>
            <a:r>
              <a:rPr lang="en-US" sz="1100" b="1" i="0" noProof="1">
                <a:solidFill>
                  <a:srgbClr val="8B5CF6"/>
                </a:solidFill>
                <a:latin typeface="Calibri"/>
              </a:rPr>
              <a:t>Signal extractor (1 LLM call)</a:t>
            </a:r>
          </a:p>
        </p:txBody>
      </p:sp>
      <p:sp>
        <p:nvSpPr>
          <p:cNvPr id="15" name="TextBox 14"/>
          <p:cNvSpPr txBox="1"/>
          <p:nvPr/>
        </p:nvSpPr>
        <p:spPr>
          <a:xfrm>
            <a:off x="749808" y="2844121"/>
            <a:ext cx="4937760" cy="201168"/>
          </a:xfrm>
          <a:prstGeom prst="rect">
            <a:avLst/>
          </a:prstGeom>
          <a:noFill/>
        </p:spPr>
        <p:txBody>
          <a:bodyPr wrap="square" lIns="0" tIns="0" rIns="0" bIns="0">
            <a:spAutoFit/>
          </a:bodyPr>
          <a:lstStyle/>
          <a:p>
            <a:pPr algn="l"/>
            <a:r>
              <a:rPr lang="en-US" sz="1000" b="0" i="0" noProof="1">
                <a:solidFill>
                  <a:srgbClr val="94A3B8"/>
                </a:solidFill>
                <a:latin typeface="Calibri"/>
              </a:rPr>
              <a:t>structured output: SignalSet (Pydantic)</a:t>
            </a:r>
          </a:p>
        </p:txBody>
      </p:sp>
      <p:sp>
        <p:nvSpPr>
          <p:cNvPr id="16" name="Rectangle 15"/>
          <p:cNvSpPr/>
          <p:nvPr/>
        </p:nvSpPr>
        <p:spPr>
          <a:xfrm>
            <a:off x="502920" y="3118441"/>
            <a:ext cx="5394960" cy="475488"/>
          </a:xfrm>
          <a:prstGeom prst="rect">
            <a:avLst/>
          </a:prstGeom>
          <a:solidFill>
            <a:srgbClr val="08081A"/>
          </a:solidFill>
          <a:ln w="12700">
            <a:solidFill>
              <a:srgbClr val="2D2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30352" y="3273889"/>
            <a:ext cx="164592" cy="164592"/>
          </a:xfrm>
          <a:prstGeom prst="ellipse">
            <a:avLst/>
          </a:prstGeom>
          <a:solidFill>
            <a:srgbClr val="2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173305"/>
            <a:ext cx="4937760" cy="219456"/>
          </a:xfrm>
          <a:prstGeom prst="rect">
            <a:avLst/>
          </a:prstGeom>
          <a:noFill/>
        </p:spPr>
        <p:txBody>
          <a:bodyPr wrap="square" lIns="0" tIns="0" rIns="0" bIns="0">
            <a:spAutoFit/>
          </a:bodyPr>
          <a:lstStyle/>
          <a:p>
            <a:pPr algn="l"/>
            <a:r>
              <a:rPr lang="en-US" sz="1100" b="1" i="0" noProof="1">
                <a:solidFill>
                  <a:srgbClr val="2D2D5E"/>
                </a:solidFill>
                <a:latin typeface="Calibri"/>
              </a:rPr>
              <a:t>Evidence store</a:t>
            </a:r>
          </a:p>
        </p:txBody>
      </p:sp>
      <p:sp>
        <p:nvSpPr>
          <p:cNvPr id="19" name="TextBox 18"/>
          <p:cNvSpPr txBox="1"/>
          <p:nvPr/>
        </p:nvSpPr>
        <p:spPr>
          <a:xfrm>
            <a:off x="749808" y="3374473"/>
            <a:ext cx="4937760" cy="201168"/>
          </a:xfrm>
          <a:prstGeom prst="rect">
            <a:avLst/>
          </a:prstGeom>
          <a:noFill/>
        </p:spPr>
        <p:txBody>
          <a:bodyPr wrap="square" lIns="0" tIns="0" rIns="0" bIns="0">
            <a:spAutoFit/>
          </a:bodyPr>
          <a:lstStyle/>
          <a:p>
            <a:pPr algn="l"/>
            <a:r>
              <a:rPr lang="en-US" sz="1000" b="0" i="0" noProof="1">
                <a:solidFill>
                  <a:srgbClr val="94A3B8"/>
                </a:solidFill>
                <a:latin typeface="Calibri"/>
              </a:rPr>
              <a:t>session dict, in-memory, ephemeral</a:t>
            </a:r>
          </a:p>
        </p:txBody>
      </p:sp>
      <p:sp>
        <p:nvSpPr>
          <p:cNvPr id="20" name="Rectangle 19"/>
          <p:cNvSpPr/>
          <p:nvPr/>
        </p:nvSpPr>
        <p:spPr>
          <a:xfrm>
            <a:off x="502920" y="3648793"/>
            <a:ext cx="5394960" cy="475488"/>
          </a:xfrm>
          <a:prstGeom prst="rect">
            <a:avLst/>
          </a:prstGeom>
          <a:solidFill>
            <a:srgbClr val="0808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0352" y="3804241"/>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3703656"/>
            <a:ext cx="4937760" cy="219456"/>
          </a:xfrm>
          <a:prstGeom prst="rect">
            <a:avLst/>
          </a:prstGeom>
          <a:noFill/>
        </p:spPr>
        <p:txBody>
          <a:bodyPr wrap="square" lIns="0" tIns="0" rIns="0" bIns="0">
            <a:spAutoFit/>
          </a:bodyPr>
          <a:lstStyle/>
          <a:p>
            <a:pPr algn="l"/>
            <a:r>
              <a:rPr lang="en-US" sz="1100" b="1" i="0" noProof="1">
                <a:solidFill>
                  <a:srgbClr val="8B5CF6"/>
                </a:solidFill>
                <a:latin typeface="Calibri"/>
              </a:rPr>
              <a:t>Age-band estimator (1 LLM call)</a:t>
            </a:r>
          </a:p>
        </p:txBody>
      </p:sp>
      <p:sp>
        <p:nvSpPr>
          <p:cNvPr id="23" name="TextBox 22"/>
          <p:cNvSpPr txBox="1"/>
          <p:nvPr/>
        </p:nvSpPr>
        <p:spPr>
          <a:xfrm>
            <a:off x="749808" y="3904825"/>
            <a:ext cx="4937760" cy="201168"/>
          </a:xfrm>
          <a:prstGeom prst="rect">
            <a:avLst/>
          </a:prstGeom>
          <a:noFill/>
        </p:spPr>
        <p:txBody>
          <a:bodyPr wrap="square" lIns="0" tIns="0" rIns="0" bIns="0">
            <a:spAutoFit/>
          </a:bodyPr>
          <a:lstStyle/>
          <a:p>
            <a:pPr algn="l"/>
            <a:r>
              <a:rPr lang="en-US" sz="1000" b="0" i="0" noProof="1">
                <a:solidFill>
                  <a:srgbClr val="94A3B8"/>
                </a:solidFill>
                <a:latin typeface="Calibri"/>
              </a:rPr>
              <a:t>AgeBandEstimate: band, confidence, cited cues</a:t>
            </a:r>
          </a:p>
        </p:txBody>
      </p:sp>
      <p:sp>
        <p:nvSpPr>
          <p:cNvPr id="24" name="Rectangle 23"/>
          <p:cNvSpPr/>
          <p:nvPr/>
        </p:nvSpPr>
        <p:spPr>
          <a:xfrm>
            <a:off x="502920" y="4179145"/>
            <a:ext cx="5394960" cy="475488"/>
          </a:xfrm>
          <a:prstGeom prst="rect">
            <a:avLst/>
          </a:prstGeom>
          <a:solidFill>
            <a:srgbClr val="0808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30352" y="4334593"/>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4234009"/>
            <a:ext cx="4937760" cy="219456"/>
          </a:xfrm>
          <a:prstGeom prst="rect">
            <a:avLst/>
          </a:prstGeom>
          <a:noFill/>
        </p:spPr>
        <p:txBody>
          <a:bodyPr wrap="square" lIns="0" tIns="0" rIns="0" bIns="0">
            <a:spAutoFit/>
          </a:bodyPr>
          <a:lstStyle/>
          <a:p>
            <a:pPr algn="l"/>
            <a:r>
              <a:rPr lang="en-US" sz="1100" b="1" i="0" noProof="1">
                <a:solidFill>
                  <a:srgbClr val="F59E0B"/>
                </a:solidFill>
                <a:latin typeface="Calibri"/>
              </a:rPr>
              <a:t>Policy engine</a:t>
            </a:r>
          </a:p>
        </p:txBody>
      </p:sp>
      <p:sp>
        <p:nvSpPr>
          <p:cNvPr id="27" name="TextBox 26"/>
          <p:cNvSpPr txBox="1"/>
          <p:nvPr/>
        </p:nvSpPr>
        <p:spPr>
          <a:xfrm>
            <a:off x="749808" y="4435177"/>
            <a:ext cx="4937760" cy="201168"/>
          </a:xfrm>
          <a:prstGeom prst="rect">
            <a:avLst/>
          </a:prstGeom>
          <a:noFill/>
        </p:spPr>
        <p:txBody>
          <a:bodyPr wrap="square" lIns="0" tIns="0" rIns="0" bIns="0">
            <a:spAutoFit/>
          </a:bodyPr>
          <a:lstStyle/>
          <a:p>
            <a:pPr algn="l"/>
            <a:r>
              <a:rPr lang="en-US" sz="1000" b="0" i="0" noProof="1">
                <a:solidFill>
                  <a:srgbClr val="94A3B8"/>
                </a:solidFill>
                <a:latin typeface="Calibri"/>
              </a:rPr>
              <a:t>deterministic table: band x confidence -&gt; posture</a:t>
            </a:r>
          </a:p>
        </p:txBody>
      </p:sp>
      <p:sp>
        <p:nvSpPr>
          <p:cNvPr id="28" name="Rectangle 27"/>
          <p:cNvSpPr/>
          <p:nvPr/>
        </p:nvSpPr>
        <p:spPr>
          <a:xfrm>
            <a:off x="502920" y="4709497"/>
            <a:ext cx="5394960" cy="475488"/>
          </a:xfrm>
          <a:prstGeom prst="rect">
            <a:avLst/>
          </a:prstGeom>
          <a:solidFill>
            <a:srgbClr val="0808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30352" y="4864945"/>
            <a:ext cx="164592" cy="16459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9808" y="4764361"/>
            <a:ext cx="4937760" cy="219456"/>
          </a:xfrm>
          <a:prstGeom prst="rect">
            <a:avLst/>
          </a:prstGeom>
          <a:noFill/>
        </p:spPr>
        <p:txBody>
          <a:bodyPr wrap="square" lIns="0" tIns="0" rIns="0" bIns="0">
            <a:spAutoFit/>
          </a:bodyPr>
          <a:lstStyle/>
          <a:p>
            <a:pPr algn="l"/>
            <a:r>
              <a:rPr lang="en-US" sz="1100" b="1" i="0" noProof="1">
                <a:solidFill>
                  <a:srgbClr val="10B981"/>
                </a:solidFill>
                <a:latin typeface="Calibri"/>
              </a:rPr>
              <a:t>Emit safety_posture</a:t>
            </a:r>
          </a:p>
        </p:txBody>
      </p:sp>
      <p:sp>
        <p:nvSpPr>
          <p:cNvPr id="31" name="TextBox 30"/>
          <p:cNvSpPr txBox="1"/>
          <p:nvPr/>
        </p:nvSpPr>
        <p:spPr>
          <a:xfrm>
            <a:off x="749808" y="4965529"/>
            <a:ext cx="4937760" cy="201168"/>
          </a:xfrm>
          <a:prstGeom prst="rect">
            <a:avLst/>
          </a:prstGeom>
          <a:noFill/>
        </p:spPr>
        <p:txBody>
          <a:bodyPr wrap="square" lIns="0" tIns="0" rIns="0" bIns="0">
            <a:spAutoFit/>
          </a:bodyPr>
          <a:lstStyle/>
          <a:p>
            <a:pPr algn="l"/>
            <a:r>
              <a:rPr lang="en-US" sz="1000" b="0" i="0" noProof="1">
                <a:solidFill>
                  <a:srgbClr val="94A3B8"/>
                </a:solidFill>
                <a:latin typeface="Calibri"/>
              </a:rPr>
              <a:t>JSON to host: {level, flags}</a:t>
            </a:r>
          </a:p>
        </p:txBody>
      </p:sp>
      <p:sp>
        <p:nvSpPr>
          <p:cNvPr id="32" name="Rectangle 31"/>
          <p:cNvSpPr/>
          <p:nvPr/>
        </p:nvSpPr>
        <p:spPr>
          <a:xfrm>
            <a:off x="502920" y="5239849"/>
            <a:ext cx="5394960" cy="475488"/>
          </a:xfrm>
          <a:prstGeom prst="rect">
            <a:avLst/>
          </a:prstGeom>
          <a:solidFill>
            <a:srgbClr val="08081A"/>
          </a:solidFill>
          <a:ln w="1270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30352" y="5395297"/>
            <a:ext cx="164592" cy="164592"/>
          </a:xfrm>
          <a:prstGeom prst="ellipse">
            <a:avLst/>
          </a:prstGeom>
          <a:solidFill>
            <a:srgbClr val="E8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9808" y="5294713"/>
            <a:ext cx="4937760" cy="219456"/>
          </a:xfrm>
          <a:prstGeom prst="rect">
            <a:avLst/>
          </a:prstGeom>
          <a:noFill/>
        </p:spPr>
        <p:txBody>
          <a:bodyPr wrap="square" lIns="0" tIns="0" rIns="0" bIns="0">
            <a:spAutoFit/>
          </a:bodyPr>
          <a:lstStyle/>
          <a:p>
            <a:pPr algn="l"/>
            <a:r>
              <a:rPr lang="en-US" sz="1100" b="1" i="0" noProof="1">
                <a:solidFill>
                  <a:srgbClr val="E84242"/>
                </a:solidFill>
                <a:latin typeface="Calibri"/>
              </a:rPr>
              <a:t>Step-up handler</a:t>
            </a:r>
          </a:p>
        </p:txBody>
      </p:sp>
      <p:sp>
        <p:nvSpPr>
          <p:cNvPr id="35" name="TextBox 34"/>
          <p:cNvSpPr txBox="1"/>
          <p:nvPr/>
        </p:nvSpPr>
        <p:spPr>
          <a:xfrm>
            <a:off x="749808" y="5495881"/>
            <a:ext cx="4937760" cy="201168"/>
          </a:xfrm>
          <a:prstGeom prst="rect">
            <a:avLst/>
          </a:prstGeom>
          <a:noFill/>
        </p:spPr>
        <p:txBody>
          <a:bodyPr wrap="square" lIns="0" tIns="0" rIns="0" bIns="0">
            <a:spAutoFit/>
          </a:bodyPr>
          <a:lstStyle/>
          <a:p>
            <a:pPr algn="l"/>
            <a:r>
              <a:rPr lang="en-US" sz="1000" b="0" i="0" noProof="1">
                <a:solidFill>
                  <a:srgbClr val="94A3B8"/>
                </a:solidFill>
                <a:latin typeface="Calibri"/>
              </a:rPr>
              <a:t>sync on high-severity: blocks reply, asks to confirm</a:t>
            </a:r>
          </a:p>
        </p:txBody>
      </p:sp>
      <p:sp>
        <p:nvSpPr>
          <p:cNvPr id="36" name="Rectangle 35"/>
          <p:cNvSpPr/>
          <p:nvPr/>
        </p:nvSpPr>
        <p:spPr>
          <a:xfrm>
            <a:off x="502920" y="5770201"/>
            <a:ext cx="5394960" cy="475488"/>
          </a:xfrm>
          <a:prstGeom prst="rect">
            <a:avLst/>
          </a:prstGeom>
          <a:solidFill>
            <a:srgbClr val="08081A"/>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30352" y="5925649"/>
            <a:ext cx="164592" cy="164592"/>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9808" y="5825065"/>
            <a:ext cx="4937760" cy="219456"/>
          </a:xfrm>
          <a:prstGeom prst="rect">
            <a:avLst/>
          </a:prstGeom>
          <a:noFill/>
        </p:spPr>
        <p:txBody>
          <a:bodyPr wrap="square" lIns="0" tIns="0" rIns="0" bIns="0">
            <a:spAutoFit/>
          </a:bodyPr>
          <a:lstStyle/>
          <a:p>
            <a:pPr algn="l"/>
            <a:r>
              <a:rPr lang="en-US" sz="1100" b="1" i="0" noProof="1">
                <a:solidFill>
                  <a:srgbClr val="6366F1"/>
                </a:solidFill>
                <a:latin typeface="Calibri"/>
              </a:rPr>
              <a:t>Demo UI</a:t>
            </a:r>
          </a:p>
        </p:txBody>
      </p:sp>
      <p:sp>
        <p:nvSpPr>
          <p:cNvPr id="39" name="TextBox 38"/>
          <p:cNvSpPr txBox="1"/>
          <p:nvPr/>
        </p:nvSpPr>
        <p:spPr>
          <a:xfrm>
            <a:off x="749808" y="6026233"/>
            <a:ext cx="4937760" cy="201168"/>
          </a:xfrm>
          <a:prstGeom prst="rect">
            <a:avLst/>
          </a:prstGeom>
          <a:noFill/>
        </p:spPr>
        <p:txBody>
          <a:bodyPr wrap="square" lIns="0" tIns="0" rIns="0" bIns="0">
            <a:spAutoFit/>
          </a:bodyPr>
          <a:lstStyle/>
          <a:p>
            <a:pPr algn="l"/>
            <a:r>
              <a:rPr lang="en-US" sz="1000" b="0" i="0" noProof="1">
                <a:solidFill>
                  <a:srgbClr val="94A3B8"/>
                </a:solidFill>
                <a:latin typeface="Calibri"/>
              </a:rPr>
              <a:t>live side panel: band, confidence, evidence, posture</a:t>
            </a:r>
          </a:p>
        </p:txBody>
      </p:sp>
      <p:sp>
        <p:nvSpPr>
          <p:cNvPr id="40" name="Rounded Rectangle 39"/>
          <p:cNvSpPr/>
          <p:nvPr/>
        </p:nvSpPr>
        <p:spPr>
          <a:xfrm>
            <a:off x="6108192" y="1179913"/>
            <a:ext cx="5577840" cy="4828032"/>
          </a:xfrm>
          <a:prstGeom prst="roundRect">
            <a:avLst/>
          </a:prstGeom>
          <a:solidFill>
            <a:srgbClr val="16163A"/>
          </a:solidFill>
          <a:ln w="19050">
            <a:solidFill>
              <a:srgbClr val="2D2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91072" y="1271353"/>
            <a:ext cx="5212080" cy="384048"/>
          </a:xfrm>
          <a:prstGeom prst="rect">
            <a:avLst/>
          </a:prstGeom>
          <a:noFill/>
        </p:spPr>
        <p:txBody>
          <a:bodyPr wrap="square" lIns="0" tIns="0" rIns="0" bIns="0">
            <a:spAutoFit/>
          </a:bodyPr>
          <a:lstStyle/>
          <a:p>
            <a:pPr algn="l"/>
            <a:r>
              <a:rPr lang="en-US" sz="1600" b="1" i="0" noProof="1">
                <a:solidFill>
                  <a:srgbClr val="94A3B8"/>
                </a:solidFill>
                <a:latin typeface="Calibri"/>
              </a:rPr>
              <a:t>Full Module Map (earned later)</a:t>
            </a:r>
          </a:p>
        </p:txBody>
      </p:sp>
      <p:sp>
        <p:nvSpPr>
          <p:cNvPr id="42" name="TextBox 41"/>
          <p:cNvSpPr txBox="1"/>
          <p:nvPr/>
        </p:nvSpPr>
        <p:spPr>
          <a:xfrm>
            <a:off x="6291072" y="1655401"/>
            <a:ext cx="5212080" cy="329184"/>
          </a:xfrm>
          <a:prstGeom prst="rect">
            <a:avLst/>
          </a:prstGeom>
          <a:noFill/>
        </p:spPr>
        <p:txBody>
          <a:bodyPr wrap="square" lIns="0" tIns="0" rIns="0" bIns="0">
            <a:spAutoFit/>
          </a:bodyPr>
          <a:lstStyle/>
          <a:p>
            <a:pPr algn="l"/>
            <a:r>
              <a:rPr lang="en-US" sz="1200" b="0" i="1" noProof="1">
                <a:solidFill>
                  <a:srgbClr val="94A3B8"/>
                </a:solidFill>
                <a:latin typeface="Calibri"/>
              </a:rPr>
              <a:t>Add complexity only where load + real-world failure justify it.</a:t>
            </a:r>
          </a:p>
        </p:txBody>
      </p:sp>
      <p:sp>
        <p:nvSpPr>
          <p:cNvPr id="43" name="Rectangle 42"/>
          <p:cNvSpPr/>
          <p:nvPr/>
        </p:nvSpPr>
        <p:spPr>
          <a:xfrm>
            <a:off x="6199632" y="2057737"/>
            <a:ext cx="5394960" cy="475488"/>
          </a:xfrm>
          <a:prstGeom prst="rect">
            <a:avLst/>
          </a:prstGeom>
          <a:solidFill>
            <a:srgbClr val="0808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18504" y="2112601"/>
            <a:ext cx="5157216" cy="219456"/>
          </a:xfrm>
          <a:prstGeom prst="rect">
            <a:avLst/>
          </a:prstGeom>
          <a:noFill/>
        </p:spPr>
        <p:txBody>
          <a:bodyPr wrap="square" lIns="0" tIns="0" rIns="0" bIns="0">
            <a:spAutoFit/>
          </a:bodyPr>
          <a:lstStyle/>
          <a:p>
            <a:pPr algn="l"/>
            <a:r>
              <a:rPr lang="en-US" sz="1100" b="1" i="0" noProof="1">
                <a:solidFill>
                  <a:srgbClr val="94A3B8"/>
                </a:solidFill>
                <a:latin typeface="Calibri"/>
              </a:rPr>
              <a:t>Dual-model serving</a:t>
            </a:r>
          </a:p>
        </p:txBody>
      </p:sp>
      <p:sp>
        <p:nvSpPr>
          <p:cNvPr id="45" name="TextBox 44"/>
          <p:cNvSpPr txBox="1"/>
          <p:nvPr/>
        </p:nvSpPr>
        <p:spPr>
          <a:xfrm>
            <a:off x="6318504" y="2313769"/>
            <a:ext cx="5157216" cy="201168"/>
          </a:xfrm>
          <a:prstGeom prst="rect">
            <a:avLst/>
          </a:prstGeom>
          <a:noFill/>
        </p:spPr>
        <p:txBody>
          <a:bodyPr wrap="square" lIns="0" tIns="0" rIns="0" bIns="0">
            <a:spAutoFit/>
          </a:bodyPr>
          <a:lstStyle/>
          <a:p>
            <a:pPr algn="l"/>
            <a:r>
              <a:rPr lang="en-US" sz="1000" b="0" i="0" noProof="1">
                <a:solidFill>
                  <a:srgbClr val="94A3B8"/>
                </a:solidFill>
                <a:latin typeface="Calibri"/>
              </a:rPr>
              <a:t>Gemma 3 4B extract + 27B estimate — co-located on one MI300X (192 GB)</a:t>
            </a:r>
          </a:p>
        </p:txBody>
      </p:sp>
      <p:sp>
        <p:nvSpPr>
          <p:cNvPr id="46" name="Rectangle 45"/>
          <p:cNvSpPr/>
          <p:nvPr/>
        </p:nvSpPr>
        <p:spPr>
          <a:xfrm>
            <a:off x="6199632" y="2588089"/>
            <a:ext cx="5394960" cy="475488"/>
          </a:xfrm>
          <a:prstGeom prst="rect">
            <a:avLst/>
          </a:prstGeom>
          <a:solidFill>
            <a:srgbClr val="08081A"/>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18504" y="2642953"/>
            <a:ext cx="5157216" cy="219456"/>
          </a:xfrm>
          <a:prstGeom prst="rect">
            <a:avLst/>
          </a:prstGeom>
          <a:noFill/>
        </p:spPr>
        <p:txBody>
          <a:bodyPr wrap="square" lIns="0" tIns="0" rIns="0" bIns="0">
            <a:spAutoFit/>
          </a:bodyPr>
          <a:lstStyle/>
          <a:p>
            <a:pPr algn="l"/>
            <a:r>
              <a:rPr lang="en-US" sz="1100" b="1" i="0" noProof="1">
                <a:solidFill>
                  <a:srgbClr val="94A3B8"/>
                </a:solidFill>
                <a:latin typeface="Calibri"/>
              </a:rPr>
              <a:t>Persistent evidence DB</a:t>
            </a:r>
          </a:p>
        </p:txBody>
      </p:sp>
      <p:sp>
        <p:nvSpPr>
          <p:cNvPr id="48" name="TextBox 47"/>
          <p:cNvSpPr txBox="1"/>
          <p:nvPr/>
        </p:nvSpPr>
        <p:spPr>
          <a:xfrm>
            <a:off x="6318504" y="2844121"/>
            <a:ext cx="5157216" cy="201168"/>
          </a:xfrm>
          <a:prstGeom prst="rect">
            <a:avLst/>
          </a:prstGeom>
          <a:noFill/>
        </p:spPr>
        <p:txBody>
          <a:bodyPr wrap="square" lIns="0" tIns="0" rIns="0" bIns="0">
            <a:spAutoFit/>
          </a:bodyPr>
          <a:lstStyle/>
          <a:p>
            <a:pPr algn="l"/>
            <a:r>
              <a:rPr lang="en-US" sz="1000" b="0" i="0" noProof="1">
                <a:solidFill>
                  <a:srgbClr val="94A3B8"/>
                </a:solidFill>
                <a:latin typeface="Calibri"/>
              </a:rPr>
              <a:t>cross-session confirmed-only store (Redis/Postgres)</a:t>
            </a:r>
          </a:p>
        </p:txBody>
      </p:sp>
      <p:sp>
        <p:nvSpPr>
          <p:cNvPr id="49" name="Rectangle 48"/>
          <p:cNvSpPr/>
          <p:nvPr/>
        </p:nvSpPr>
        <p:spPr>
          <a:xfrm>
            <a:off x="6199632" y="3118441"/>
            <a:ext cx="5394960" cy="475488"/>
          </a:xfrm>
          <a:prstGeom prst="rect">
            <a:avLst/>
          </a:prstGeom>
          <a:solidFill>
            <a:srgbClr val="0808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18504" y="3173305"/>
            <a:ext cx="5157216" cy="219456"/>
          </a:xfrm>
          <a:prstGeom prst="rect">
            <a:avLst/>
          </a:prstGeom>
          <a:noFill/>
        </p:spPr>
        <p:txBody>
          <a:bodyPr wrap="square" lIns="0" tIns="0" rIns="0" bIns="0">
            <a:spAutoFit/>
          </a:bodyPr>
          <a:lstStyle/>
          <a:p>
            <a:pPr algn="l"/>
            <a:r>
              <a:rPr lang="en-US" sz="1100" b="1" i="0" noProof="1">
                <a:solidFill>
                  <a:srgbClr val="94A3B8"/>
                </a:solidFill>
                <a:latin typeface="Calibri"/>
              </a:rPr>
              <a:t>Cue taxonomy + weighting</a:t>
            </a:r>
          </a:p>
        </p:txBody>
      </p:sp>
      <p:sp>
        <p:nvSpPr>
          <p:cNvPr id="51" name="TextBox 50"/>
          <p:cNvSpPr txBox="1"/>
          <p:nvPr/>
        </p:nvSpPr>
        <p:spPr>
          <a:xfrm>
            <a:off x="6318504" y="3374473"/>
            <a:ext cx="5157216" cy="201168"/>
          </a:xfrm>
          <a:prstGeom prst="rect">
            <a:avLst/>
          </a:prstGeom>
          <a:noFill/>
        </p:spPr>
        <p:txBody>
          <a:bodyPr wrap="square" lIns="0" tIns="0" rIns="0" bIns="0">
            <a:spAutoFit/>
          </a:bodyPr>
          <a:lstStyle/>
          <a:p>
            <a:pPr algn="l"/>
            <a:r>
              <a:rPr lang="en-US" sz="1000" b="0" i="0" noProof="1">
                <a:solidFill>
                  <a:srgbClr val="94A3B8"/>
                </a:solidFill>
                <a:latin typeface="Calibri"/>
              </a:rPr>
              <a:t>per-signal weights, demographic fairness monitoring</a:t>
            </a:r>
          </a:p>
        </p:txBody>
      </p:sp>
      <p:sp>
        <p:nvSpPr>
          <p:cNvPr id="52" name="Rectangle 51"/>
          <p:cNvSpPr/>
          <p:nvPr/>
        </p:nvSpPr>
        <p:spPr>
          <a:xfrm>
            <a:off x="6199632" y="3648793"/>
            <a:ext cx="5394960" cy="475488"/>
          </a:xfrm>
          <a:prstGeom prst="rect">
            <a:avLst/>
          </a:prstGeom>
          <a:solidFill>
            <a:srgbClr val="0808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18504" y="3703656"/>
            <a:ext cx="5157216" cy="219456"/>
          </a:xfrm>
          <a:prstGeom prst="rect">
            <a:avLst/>
          </a:prstGeom>
          <a:noFill/>
        </p:spPr>
        <p:txBody>
          <a:bodyPr wrap="square" lIns="0" tIns="0" rIns="0" bIns="0">
            <a:spAutoFit/>
          </a:bodyPr>
          <a:lstStyle/>
          <a:p>
            <a:pPr algn="l"/>
            <a:r>
              <a:rPr lang="en-US" sz="1100" b="1" i="0" noProof="1">
                <a:solidFill>
                  <a:srgbClr val="94A3B8"/>
                </a:solidFill>
                <a:latin typeface="Calibri"/>
              </a:rPr>
              <a:t>Threshold calibration loop</a:t>
            </a:r>
          </a:p>
        </p:txBody>
      </p:sp>
      <p:sp>
        <p:nvSpPr>
          <p:cNvPr id="54" name="TextBox 53"/>
          <p:cNvSpPr txBox="1"/>
          <p:nvPr/>
        </p:nvSpPr>
        <p:spPr>
          <a:xfrm>
            <a:off x="6318504" y="3904825"/>
            <a:ext cx="5157216" cy="201168"/>
          </a:xfrm>
          <a:prstGeom prst="rect">
            <a:avLst/>
          </a:prstGeom>
          <a:noFill/>
        </p:spPr>
        <p:txBody>
          <a:bodyPr wrap="square" lIns="0" tIns="0" rIns="0" bIns="0">
            <a:spAutoFit/>
          </a:bodyPr>
          <a:lstStyle/>
          <a:p>
            <a:pPr algn="l"/>
            <a:r>
              <a:rPr lang="en-US" sz="1000" b="0" i="0" noProof="1">
                <a:solidFill>
                  <a:srgbClr val="94A3B8"/>
                </a:solidFill>
                <a:latin typeface="Calibri"/>
              </a:rPr>
              <a:t>false-positive feed from step-up outcomes</a:t>
            </a:r>
          </a:p>
        </p:txBody>
      </p:sp>
      <p:sp>
        <p:nvSpPr>
          <p:cNvPr id="55" name="Rectangle 54"/>
          <p:cNvSpPr/>
          <p:nvPr/>
        </p:nvSpPr>
        <p:spPr>
          <a:xfrm>
            <a:off x="6199632" y="4179145"/>
            <a:ext cx="5394960" cy="475488"/>
          </a:xfrm>
          <a:prstGeom prst="rect">
            <a:avLst/>
          </a:prstGeom>
          <a:solidFill>
            <a:srgbClr val="08081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8504" y="4234009"/>
            <a:ext cx="5157216" cy="219456"/>
          </a:xfrm>
          <a:prstGeom prst="rect">
            <a:avLst/>
          </a:prstGeom>
          <a:noFill/>
        </p:spPr>
        <p:txBody>
          <a:bodyPr wrap="square" lIns="0" tIns="0" rIns="0" bIns="0">
            <a:spAutoFit/>
          </a:bodyPr>
          <a:lstStyle/>
          <a:p>
            <a:pPr algn="l"/>
            <a:r>
              <a:rPr lang="en-US" sz="1100" b="1" i="0" noProof="1">
                <a:solidFill>
                  <a:srgbClr val="94A3B8"/>
                </a:solidFill>
                <a:latin typeface="Calibri"/>
              </a:rPr>
              <a:t>MCP server integration</a:t>
            </a:r>
          </a:p>
        </p:txBody>
      </p:sp>
      <p:sp>
        <p:nvSpPr>
          <p:cNvPr id="57" name="TextBox 56"/>
          <p:cNvSpPr txBox="1"/>
          <p:nvPr/>
        </p:nvSpPr>
        <p:spPr>
          <a:xfrm>
            <a:off x="6318504" y="4435177"/>
            <a:ext cx="5157216" cy="201168"/>
          </a:xfrm>
          <a:prstGeom prst="rect">
            <a:avLst/>
          </a:prstGeom>
          <a:noFill/>
        </p:spPr>
        <p:txBody>
          <a:bodyPr wrap="square" lIns="0" tIns="0" rIns="0" bIns="0">
            <a:spAutoFit/>
          </a:bodyPr>
          <a:lstStyle/>
          <a:p>
            <a:pPr algn="l"/>
            <a:r>
              <a:rPr lang="en-US" sz="1000" b="0" i="0" noProof="1">
                <a:solidFill>
                  <a:srgbClr val="94A3B8"/>
                </a:solidFill>
                <a:latin typeface="Calibri"/>
              </a:rPr>
              <a:t>signed policy config via MCP, not env-var</a:t>
            </a:r>
          </a:p>
        </p:txBody>
      </p:sp>
      <p:sp>
        <p:nvSpPr>
          <p:cNvPr id="58" name="Rectangle 57"/>
          <p:cNvSpPr/>
          <p:nvPr/>
        </p:nvSpPr>
        <p:spPr>
          <a:xfrm>
            <a:off x="6199632" y="4709497"/>
            <a:ext cx="5394960" cy="475488"/>
          </a:xfrm>
          <a:prstGeom prst="rect">
            <a:avLst/>
          </a:prstGeom>
          <a:solidFill>
            <a:srgbClr val="0808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318504" y="4764361"/>
            <a:ext cx="5157216" cy="219456"/>
          </a:xfrm>
          <a:prstGeom prst="rect">
            <a:avLst/>
          </a:prstGeom>
          <a:noFill/>
        </p:spPr>
        <p:txBody>
          <a:bodyPr wrap="square" lIns="0" tIns="0" rIns="0" bIns="0">
            <a:spAutoFit/>
          </a:bodyPr>
          <a:lstStyle/>
          <a:p>
            <a:pPr algn="l"/>
            <a:r>
              <a:rPr lang="en-US" sz="1100" b="1" i="0" noProof="1">
                <a:solidFill>
                  <a:srgbClr val="94A3B8"/>
                </a:solidFill>
                <a:latin typeface="Calibri"/>
              </a:rPr>
              <a:t>Multi-language extractor</a:t>
            </a:r>
          </a:p>
        </p:txBody>
      </p:sp>
      <p:sp>
        <p:nvSpPr>
          <p:cNvPr id="60" name="TextBox 59"/>
          <p:cNvSpPr txBox="1"/>
          <p:nvPr/>
        </p:nvSpPr>
        <p:spPr>
          <a:xfrm>
            <a:off x="6318504" y="4965529"/>
            <a:ext cx="5157216" cy="201168"/>
          </a:xfrm>
          <a:prstGeom prst="rect">
            <a:avLst/>
          </a:prstGeom>
          <a:noFill/>
        </p:spPr>
        <p:txBody>
          <a:bodyPr wrap="square" lIns="0" tIns="0" rIns="0" bIns="0">
            <a:spAutoFit/>
          </a:bodyPr>
          <a:lstStyle/>
          <a:p>
            <a:pPr algn="l"/>
            <a:r>
              <a:rPr lang="en-US" sz="1000" b="0" i="0" noProof="1">
                <a:solidFill>
                  <a:srgbClr val="94A3B8"/>
                </a:solidFill>
                <a:latin typeface="Calibri"/>
              </a:rPr>
              <a:t>language detection + per-language cue weights</a:t>
            </a:r>
          </a:p>
        </p:txBody>
      </p:sp>
      <p:sp>
        <p:nvSpPr>
          <p:cNvPr id="61" name="Rectangle 60"/>
          <p:cNvSpPr/>
          <p:nvPr/>
        </p:nvSpPr>
        <p:spPr>
          <a:xfrm>
            <a:off x="6199632" y="5239849"/>
            <a:ext cx="5394960" cy="475488"/>
          </a:xfrm>
          <a:prstGeom prst="rect">
            <a:avLst/>
          </a:prstGeom>
          <a:solidFill>
            <a:srgbClr val="08081A"/>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8504" y="5294713"/>
            <a:ext cx="5157216" cy="219456"/>
          </a:xfrm>
          <a:prstGeom prst="rect">
            <a:avLst/>
          </a:prstGeom>
          <a:noFill/>
        </p:spPr>
        <p:txBody>
          <a:bodyPr wrap="square" lIns="0" tIns="0" rIns="0" bIns="0">
            <a:spAutoFit/>
          </a:bodyPr>
          <a:lstStyle/>
          <a:p>
            <a:pPr algn="l"/>
            <a:r>
              <a:rPr lang="en-US" sz="1100" b="1" i="0" noProof="1">
                <a:solidFill>
                  <a:srgbClr val="94A3B8"/>
                </a:solidFill>
                <a:latin typeface="Calibri"/>
              </a:rPr>
              <a:t>Audit log</a:t>
            </a:r>
          </a:p>
        </p:txBody>
      </p:sp>
      <p:sp>
        <p:nvSpPr>
          <p:cNvPr id="63" name="TextBox 62"/>
          <p:cNvSpPr txBox="1"/>
          <p:nvPr/>
        </p:nvSpPr>
        <p:spPr>
          <a:xfrm>
            <a:off x="6318504" y="5495881"/>
            <a:ext cx="5157216" cy="201168"/>
          </a:xfrm>
          <a:prstGeom prst="rect">
            <a:avLst/>
          </a:prstGeom>
          <a:noFill/>
        </p:spPr>
        <p:txBody>
          <a:bodyPr wrap="square" lIns="0" tIns="0" rIns="0" bIns="0">
            <a:spAutoFit/>
          </a:bodyPr>
          <a:lstStyle/>
          <a:p>
            <a:pPr algn="l"/>
            <a:r>
              <a:rPr lang="en-US" sz="1000" b="0" i="0" noProof="1">
                <a:solidFill>
                  <a:srgbClr val="94A3B8"/>
                </a:solidFill>
                <a:latin typeface="Calibri"/>
              </a:rPr>
              <a:t>per-session posture timeline, regulatorily-admissible</a:t>
            </a:r>
          </a:p>
        </p:txBody>
      </p:sp>
      <p:sp>
        <p:nvSpPr>
          <p:cNvPr id="64" name="Rectangle 63"/>
          <p:cNvSpPr/>
          <p:nvPr/>
        </p:nvSpPr>
        <p:spPr>
          <a:xfrm>
            <a:off x="6199632" y="5770201"/>
            <a:ext cx="5394960" cy="475488"/>
          </a:xfrm>
          <a:prstGeom prst="rect">
            <a:avLst/>
          </a:prstGeom>
          <a:solidFill>
            <a:srgbClr val="08081A"/>
          </a:solidFill>
          <a:ln w="12700">
            <a:solidFill>
              <a:srgbClr val="2D2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318504" y="5825065"/>
            <a:ext cx="5157216" cy="219456"/>
          </a:xfrm>
          <a:prstGeom prst="rect">
            <a:avLst/>
          </a:prstGeom>
          <a:noFill/>
        </p:spPr>
        <p:txBody>
          <a:bodyPr wrap="square" lIns="0" tIns="0" rIns="0" bIns="0">
            <a:spAutoFit/>
          </a:bodyPr>
          <a:lstStyle/>
          <a:p>
            <a:pPr algn="l"/>
            <a:r>
              <a:rPr lang="en-US" sz="1100" b="1" i="0" noProof="1">
                <a:solidFill>
                  <a:srgbClr val="94A3B8"/>
                </a:solidFill>
                <a:latin typeface="Calibri"/>
              </a:rPr>
              <a:t>Admin dashboard</a:t>
            </a:r>
          </a:p>
        </p:txBody>
      </p:sp>
      <p:sp>
        <p:nvSpPr>
          <p:cNvPr id="66" name="TextBox 65"/>
          <p:cNvSpPr txBox="1"/>
          <p:nvPr/>
        </p:nvSpPr>
        <p:spPr>
          <a:xfrm>
            <a:off x="6318504" y="6026233"/>
            <a:ext cx="5157216" cy="201168"/>
          </a:xfrm>
          <a:prstGeom prst="rect">
            <a:avLst/>
          </a:prstGeom>
          <a:noFill/>
        </p:spPr>
        <p:txBody>
          <a:bodyPr wrap="square" lIns="0" tIns="0" rIns="0" bIns="0">
            <a:spAutoFit/>
          </a:bodyPr>
          <a:lstStyle/>
          <a:p>
            <a:pPr algn="l"/>
            <a:r>
              <a:rPr lang="en-US" sz="1000" b="0" i="0" noProof="1">
                <a:solidFill>
                  <a:srgbClr val="94A3B8"/>
                </a:solidFill>
                <a:latin typeface="Calibri"/>
              </a:rPr>
              <a:t>threshold tuning UI, FP/FN charts, posture history</a:t>
            </a:r>
          </a:p>
        </p:txBody>
      </p:sp>
      <p:sp>
        <p:nvSpPr>
          <p:cNvPr id="67" name="Rectangle 66"/>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69" name="TextBox 68"/>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15 / 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0D2B"/>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rot="20880000">
            <a:off x="101168" y="4564662"/>
            <a:ext cx="6400800" cy="1645920"/>
          </a:xfrm>
          <a:prstGeom prst="rect">
            <a:avLst/>
          </a:prstGeom>
          <a:solidFill>
            <a:srgbClr val="2A1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rot="20880000">
            <a:off x="7441379" y="502919"/>
            <a:ext cx="4572000" cy="2011680"/>
          </a:xfrm>
          <a:prstGeom prst="rect">
            <a:avLst/>
          </a:prstGeom>
          <a:solidFill>
            <a:srgbClr val="3F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280160"/>
            <a:ext cx="109728" cy="4389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234440"/>
            <a:ext cx="8229600" cy="1188720"/>
          </a:xfrm>
          <a:prstGeom prst="rect">
            <a:avLst/>
          </a:prstGeom>
          <a:noFill/>
        </p:spPr>
        <p:txBody>
          <a:bodyPr wrap="square" lIns="0" tIns="0" rIns="0" bIns="0">
            <a:spAutoFit/>
          </a:bodyPr>
          <a:lstStyle/>
          <a:p>
            <a:pPr algn="l"/>
            <a:r>
              <a:rPr lang="en-US" sz="5400" b="1" i="0" noProof="1">
                <a:solidFill>
                  <a:srgbClr val="FFFFFF"/>
                </a:solidFill>
                <a:latin typeface="Calibri"/>
              </a:rPr>
              <a:t>AgeBand</a:t>
            </a:r>
          </a:p>
        </p:txBody>
      </p:sp>
      <p:sp>
        <p:nvSpPr>
          <p:cNvPr id="7" name="Rounded Rectangle 6"/>
          <p:cNvSpPr/>
          <p:nvPr/>
        </p:nvSpPr>
        <p:spPr>
          <a:xfrm>
            <a:off x="804672" y="2468880"/>
            <a:ext cx="10515600" cy="1508760"/>
          </a:xfrm>
          <a:prstGeom prst="roundRect">
            <a:avLst/>
          </a:prstGeom>
          <a:solidFill>
            <a:schemeClr val="accent5">
              <a:lumMod val="75000"/>
            </a:schemeClr>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578608"/>
            <a:ext cx="10149840" cy="1234440"/>
          </a:xfrm>
          <a:prstGeom prst="rect">
            <a:avLst/>
          </a:prstGeom>
          <a:noFill/>
        </p:spPr>
        <p:txBody>
          <a:bodyPr wrap="square" lIns="0" tIns="0" rIns="0" bIns="0">
            <a:spAutoFit/>
          </a:bodyPr>
          <a:lstStyle/>
          <a:p>
            <a:pPr algn="l"/>
            <a:r>
              <a:rPr lang="en-US" sz="1800" b="0" i="1" noProof="1">
                <a:solidFill>
                  <a:srgbClr val="A5B4FC"/>
                </a:solidFill>
                <a:latin typeface="Calibri"/>
              </a:rPr>
              <a:t>"A passive age-band signal from the conversation
that gets more protective the more it suspects a child,
and asks before it assumes."</a:t>
            </a:r>
          </a:p>
        </p:txBody>
      </p:sp>
      <p:sp>
        <p:nvSpPr>
          <p:cNvPr id="9" name="Rounded Rectangle 8"/>
          <p:cNvSpPr/>
          <p:nvPr/>
        </p:nvSpPr>
        <p:spPr>
          <a:xfrm>
            <a:off x="804672" y="4078224"/>
            <a:ext cx="10515600" cy="621792"/>
          </a:xfrm>
          <a:prstGeom prst="roundRect">
            <a:avLst/>
          </a:prstGeom>
          <a:solidFill>
            <a:srgbClr val="04223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4206240"/>
            <a:ext cx="10149840" cy="384048"/>
          </a:xfrm>
          <a:prstGeom prst="rect">
            <a:avLst/>
          </a:prstGeom>
          <a:noFill/>
        </p:spPr>
        <p:txBody>
          <a:bodyPr wrap="square" lIns="0" tIns="0" rIns="0" bIns="0">
            <a:spAutoFit/>
          </a:bodyPr>
          <a:lstStyle/>
          <a:p>
            <a:pPr algn="ctr"/>
            <a:r>
              <a:rPr lang="en-US" sz="1600" b="1" i="0" noProof="1">
                <a:solidFill>
                  <a:srgbClr val="7DD3FC"/>
                </a:solidFill>
                <a:latin typeface="Calibri"/>
              </a:rPr>
              <a:t>On-prem on AMD  —  the only way something this sensitive is allowed to exist.</a:t>
            </a:r>
          </a:p>
        </p:txBody>
      </p:sp>
      <p:sp>
        <p:nvSpPr>
          <p:cNvPr id="11" name="Rounded Rectangle 10"/>
          <p:cNvSpPr/>
          <p:nvPr/>
        </p:nvSpPr>
        <p:spPr>
          <a:xfrm>
            <a:off x="1005840" y="4846320"/>
            <a:ext cx="3200400" cy="502920"/>
          </a:xfrm>
          <a:prstGeom prst="roundRect">
            <a:avLst/>
          </a:prstGeom>
          <a:solidFill>
            <a:srgbClr val="1616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15568" y="4965192"/>
            <a:ext cx="2980944" cy="274320"/>
          </a:xfrm>
          <a:prstGeom prst="rect">
            <a:avLst/>
          </a:prstGeom>
          <a:noFill/>
        </p:spPr>
        <p:txBody>
          <a:bodyPr wrap="square" lIns="0" tIns="0" rIns="0" bIns="0">
            <a:spAutoFit/>
          </a:bodyPr>
          <a:lstStyle/>
          <a:p>
            <a:pPr algn="ctr"/>
            <a:r>
              <a:rPr lang="en-US" sz="1200" b="1" i="0" noProof="1">
                <a:solidFill>
                  <a:srgbClr val="F59E0B"/>
                </a:solidFill>
                <a:latin typeface="Calibri"/>
              </a:rPr>
              <a:t>Every chat product needs this</a:t>
            </a:r>
          </a:p>
        </p:txBody>
      </p:sp>
      <p:sp>
        <p:nvSpPr>
          <p:cNvPr id="13" name="Rounded Rectangle 12"/>
          <p:cNvSpPr/>
          <p:nvPr/>
        </p:nvSpPr>
        <p:spPr>
          <a:xfrm>
            <a:off x="4480560" y="4846320"/>
            <a:ext cx="3200400" cy="502920"/>
          </a:xfrm>
          <a:prstGeom prst="roundRect">
            <a:avLst/>
          </a:prstGeom>
          <a:solidFill>
            <a:srgbClr val="1616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0288" y="4965192"/>
            <a:ext cx="2980944" cy="274320"/>
          </a:xfrm>
          <a:prstGeom prst="rect">
            <a:avLst/>
          </a:prstGeom>
          <a:noFill/>
        </p:spPr>
        <p:txBody>
          <a:bodyPr wrap="square" lIns="0" tIns="0" rIns="0" bIns="0">
            <a:spAutoFit/>
          </a:bodyPr>
          <a:lstStyle/>
          <a:p>
            <a:pPr algn="ctr"/>
            <a:r>
              <a:rPr lang="en-US" sz="1200" b="1" i="0" noProof="1">
                <a:solidFill>
                  <a:srgbClr val="10B981"/>
                </a:solidFill>
                <a:latin typeface="Calibri"/>
              </a:rPr>
              <a:t>Config flip for kids products</a:t>
            </a:r>
          </a:p>
        </p:txBody>
      </p:sp>
      <p:sp>
        <p:nvSpPr>
          <p:cNvPr id="15" name="Rounded Rectangle 14"/>
          <p:cNvSpPr/>
          <p:nvPr/>
        </p:nvSpPr>
        <p:spPr>
          <a:xfrm>
            <a:off x="7955279" y="4846320"/>
            <a:ext cx="3200400" cy="502920"/>
          </a:xfrm>
          <a:prstGeom prst="roundRect">
            <a:avLst/>
          </a:prstGeom>
          <a:solidFill>
            <a:srgbClr val="16163A"/>
          </a:solidFill>
          <a:ln w="19050">
            <a:solidFill>
              <a:srgbClr val="E8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65008" y="4965192"/>
            <a:ext cx="2980944" cy="274320"/>
          </a:xfrm>
          <a:prstGeom prst="rect">
            <a:avLst/>
          </a:prstGeom>
          <a:noFill/>
        </p:spPr>
        <p:txBody>
          <a:bodyPr wrap="square" lIns="0" tIns="0" rIns="0" bIns="0">
            <a:spAutoFit/>
          </a:bodyPr>
          <a:lstStyle/>
          <a:p>
            <a:pPr algn="ctr"/>
            <a:r>
              <a:rPr lang="en-US" sz="1200" b="1" i="0" noProof="1">
                <a:solidFill>
                  <a:srgbClr val="E84242"/>
                </a:solidFill>
                <a:latin typeface="Calibri"/>
              </a:rPr>
              <a:t>Gemma on AMD MI300X · ROCm + vLLM</a:t>
            </a:r>
          </a:p>
        </p:txBody>
      </p:sp>
      <p:sp>
        <p:nvSpPr>
          <p:cNvPr id="17" name="Rectangle 16"/>
          <p:cNvSpPr/>
          <p:nvPr/>
        </p:nvSpPr>
        <p:spPr>
          <a:xfrm>
            <a:off x="0" y="6355080"/>
            <a:ext cx="12188952" cy="502919"/>
          </a:xfrm>
          <a:prstGeom prst="rect">
            <a:avLst/>
          </a:prstGeom>
          <a:solidFill>
            <a:srgbClr val="080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6409944"/>
            <a:ext cx="8229600" cy="384048"/>
          </a:xfrm>
          <a:prstGeom prst="rect">
            <a:avLst/>
          </a:prstGeom>
          <a:noFill/>
        </p:spPr>
        <p:txBody>
          <a:bodyPr wrap="square" lIns="0" tIns="0" rIns="0" bIns="0">
            <a:spAutoFit/>
          </a:bodyPr>
          <a:lstStyle/>
          <a:p>
            <a:pPr algn="l"/>
            <a:r>
              <a:rPr lang="en-US" sz="900" b="0" i="0" noProof="1">
                <a:solidFill>
                  <a:srgbClr val="94A3B8"/>
                </a:solidFill>
                <a:latin typeface="Calibri"/>
              </a:rPr>
              <a:t>AgeBand  ·  AMD GPU Hackathon  ·  Unicorn Track</a:t>
            </a:r>
          </a:p>
        </p:txBody>
      </p:sp>
      <p:sp>
        <p:nvSpPr>
          <p:cNvPr id="19" name="TextBox 18"/>
          <p:cNvSpPr txBox="1"/>
          <p:nvPr/>
        </p:nvSpPr>
        <p:spPr>
          <a:xfrm>
            <a:off x="10972800" y="6409944"/>
            <a:ext cx="1078992" cy="384048"/>
          </a:xfrm>
          <a:prstGeom prst="rect">
            <a:avLst/>
          </a:prstGeom>
          <a:noFill/>
        </p:spPr>
        <p:txBody>
          <a:bodyPr wrap="square" lIns="0" tIns="0" rIns="0" bIns="0">
            <a:spAutoFit/>
          </a:bodyPr>
          <a:lstStyle/>
          <a:p>
            <a:pPr algn="r"/>
            <a:r>
              <a:rPr lang="en-US" sz="900" b="0" i="0" noProof="1">
                <a:solidFill>
                  <a:srgbClr val="94A3B8"/>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5278</Words>
  <Application>Microsoft Office PowerPoint</Application>
  <PresentationFormat>Custom</PresentationFormat>
  <Paragraphs>395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Asish Bose (Nokia)</cp:lastModifiedBy>
  <cp:revision>2</cp:revision>
  <dcterms:created xsi:type="dcterms:W3CDTF">2013-01-27T09:14:16Z</dcterms:created>
  <dcterms:modified xsi:type="dcterms:W3CDTF">2026-07-07T18:59:08Z</dcterms:modified>
  <cp:category/>
</cp:coreProperties>
</file>